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77DA442-DFAE-4997-A480-0D533B6C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663BD42-8C06-496E-95B3-9068A3539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32A7F79-392D-456C-9BF0-E47CE838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EA5A5B-0A14-4C9E-BDE5-7443B0F1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2539BDF-CE19-4511-A64D-951EE3AA6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76ECEAA-E2D9-4B27-B12F-BBD2303D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3E3E3EC-ED07-4A3D-8548-BF7B96C70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E11D449-70EC-4D6C-B65A-27334CC3721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FD4162-C441-4B37-8C44-8485323A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76F627-75FF-4849-80CD-DA780C8F0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o-0">
            <a:extLst>
              <a:ext uri="{FF2B5EF4-FFF2-40B4-BE49-F238E27FC236}">
                <a16:creationId xmlns:a16="http://schemas.microsoft.com/office/drawing/2014/main" id="{D5E28506-8A63-4C65-BFFA-6542013DBC5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Dizeo</a:t>
            </a:r>
          </a:p>
        </p:txBody>
      </p:sp>
      <p:sp>
        <p:nvSpPr>
          <p:cNvPr id="2" name="texto-1">
            <a:extLst>
              <a:ext uri="{FF2B5EF4-FFF2-40B4-BE49-F238E27FC236}">
                <a16:creationId xmlns:a16="http://schemas.microsoft.com/office/drawing/2014/main" id="{8759F236-91FF-43B6-A71F-3601FF94A447}"/>
              </a:ext>
            </a:extLst>
          </p:cNvPr>
          <p:cNvSpPr>
            <a:spLocks noGrp="1"/>
          </p:cNvSpPr>
          <p:nvPr/>
        </p:nvSpPr>
        <p:spPr>
          <a:xfrm>
            <a:off x="666750" y="2276475"/>
            <a:ext cx="10572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Planificación y asignación</a:t>
            </a:r>
          </a:p>
          <a:p>
            <a:pPr>
              <a:buNone/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trabajadores en obras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50D05CEB-5601-47F8-AF4E-6350A4665D58}"/>
              </a:ext>
            </a:extLst>
          </p:cNvPr>
          <p:cNvCxnSpPr/>
          <p:nvPr/>
        </p:nvCxnSpPr>
        <p:spPr>
          <a:xfrm>
            <a:off x="685800" y="4162425"/>
            <a:ext cx="10477500" cy="0"/>
          </a:xfrm>
          <a:prstGeom prst="straightConnector1">
            <a:avLst/>
          </a:prstGeom>
          <a:ln w="9525">
            <a:solidFill>
              <a:srgbClr val="5A7884"/>
            </a:solidFill>
            <a:prstDash val="solid"/>
          </a:ln>
        </p:spPr>
      </p:cxnSp>
      <p:sp>
        <p:nvSpPr>
          <p:cNvPr id="4" name="texto-3">
            <a:extLst>
              <a:ext uri="{FF2B5EF4-FFF2-40B4-BE49-F238E27FC236}">
                <a16:creationId xmlns:a16="http://schemas.microsoft.com/office/drawing/2014/main" id="{D5FC52EB-6F18-48B9-B70A-F662AF8A6C3E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Progreso 1 · Análisis, diseño y selección de la solución</a:t>
            </a:r>
          </a:p>
        </p:txBody>
      </p:sp>
      <p:sp>
        <p:nvSpPr>
          <p:cNvPr id="5" name="texto-4">
            <a:extLst>
              <a:ext uri="{FF2B5EF4-FFF2-40B4-BE49-F238E27FC236}">
                <a16:creationId xmlns:a16="http://schemas.microsoft.com/office/drawing/2014/main" id="{A42CF4CA-5D29-4366-914E-0AFB9D770B3E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Daniel Valarezo   ·   Esteban Figueroa   ·   Julián Jiménez</a:t>
            </a:r>
          </a:p>
        </p:txBody>
      </p:sp>
      <p:sp>
        <p:nvSpPr>
          <p:cNvPr id="6" name="texto-5">
            <a:extLst>
              <a:ext uri="{FF2B5EF4-FFF2-40B4-BE49-F238E27FC236}">
                <a16:creationId xmlns:a16="http://schemas.microsoft.com/office/drawing/2014/main" id="{919A3BA0-4187-4472-996C-FD3F9446A25E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Programación III · UDLA</a:t>
            </a:r>
          </a:p>
          <a:p>
            <a:pPr>
              <a:buNone/>
              <a:def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Quito, Ecuador · 18 de octubre de 2026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80F0D17-D3C3-4264-B82A-8B882459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29" y="590550"/>
            <a:ext cx="4118535" cy="576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2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o-0">
            <a:extLst>
              <a:ext uri="{FF2B5EF4-FFF2-40B4-BE49-F238E27FC236}">
                <a16:creationId xmlns:a16="http://schemas.microsoft.com/office/drawing/2014/main" id="{53A6675A-8D9B-49CF-8686-9E29000B8B8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El problema de coordinación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8EADD92-1073-41F9-A7F5-35F233C42B38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0FD363A8-E84E-464D-84CA-830EDAB9D12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00964762-127A-46B8-9852-1DF0D7013646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02 / 10</a:t>
            </a:r>
          </a:p>
        </p:txBody>
      </p:sp>
      <p:sp>
        <p:nvSpPr>
          <p:cNvPr id="5" name="texto-4">
            <a:extLst>
              <a:ext uri="{FF2B5EF4-FFF2-40B4-BE49-F238E27FC236}">
                <a16:creationId xmlns:a16="http://schemas.microsoft.com/office/drawing/2014/main" id="{10E33A48-0417-4234-BC34-E6E10F5F5EA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Excel</a:t>
            </a:r>
          </a:p>
        </p:txBody>
      </p:sp>
      <p:sp>
        <p:nvSpPr>
          <p:cNvPr id="6" name="texto-5">
            <a:extLst>
              <a:ext uri="{FF2B5EF4-FFF2-40B4-BE49-F238E27FC236}">
                <a16:creationId xmlns:a16="http://schemas.microsoft.com/office/drawing/2014/main" id="{F1346EAD-AAA3-45AC-8F9A-29BD8AFADAC7}"/>
              </a:ext>
            </a:extLst>
          </p:cNvPr>
          <p:cNvSpPr>
            <a:spLocks noGrp="1"/>
          </p:cNvSpPr>
          <p:nvPr/>
        </p:nvSpPr>
        <p:spPr>
          <a:xfrm>
            <a:off x="638175" y="2524125"/>
            <a:ext cx="62865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Registro actual de las asignaciones,</a:t>
            </a:r>
          </a:p>
          <a:p>
            <a: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según la información del equipo.</a:t>
            </a:r>
          </a:p>
        </p:txBody>
      </p:sp>
      <p:sp>
        <p:nvSpPr>
          <p:cNvPr id="7" name="texto-6">
            <a:extLst>
              <a:ext uri="{FF2B5EF4-FFF2-40B4-BE49-F238E27FC236}">
                <a16:creationId xmlns:a16="http://schemas.microsoft.com/office/drawing/2014/main" id="{817D9802-D7F4-4056-9B27-2CA4F04FA8F0}"/>
              </a:ext>
            </a:extLst>
          </p:cNvPr>
          <p:cNvSpPr>
            <a:spLocks noGrp="1"/>
          </p:cNvSpPr>
          <p:nvPr/>
        </p:nvSpPr>
        <p:spPr>
          <a:xfrm>
            <a:off x="638175" y="3648075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Decisión que debe facilitarse</a:t>
            </a:r>
          </a:p>
        </p:txBody>
      </p:sp>
      <p:sp>
        <p:nvSpPr>
          <p:cNvPr id="8" name="texto-7">
            <a:extLst>
              <a:ext uri="{FF2B5EF4-FFF2-40B4-BE49-F238E27FC236}">
                <a16:creationId xmlns:a16="http://schemas.microsoft.com/office/drawing/2014/main" id="{0976E871-D513-4F8D-89CE-E1C7FEB6E907}"/>
              </a:ext>
            </a:extLst>
          </p:cNvPr>
          <p:cNvSpPr>
            <a:spLocks noGrp="1"/>
          </p:cNvSpPr>
          <p:nvPr/>
        </p:nvSpPr>
        <p:spPr>
          <a:xfrm>
            <a:off x="638175" y="4181475"/>
            <a:ext cx="647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Qué tarea atender primero y quién puede</a:t>
            </a:r>
          </a:p>
          <a:p>
            <a:pPr>
              <a:buNone/>
              <a:def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realizarla en un horario disponible.</a:t>
            </a:r>
          </a:p>
        </p:txBody>
      </p:sp>
      <p:sp>
        <p:nvSpPr>
          <p:cNvPr id="9" name="texto-8">
            <a:extLst>
              <a:ext uri="{FF2B5EF4-FFF2-40B4-BE49-F238E27FC236}">
                <a16:creationId xmlns:a16="http://schemas.microsoft.com/office/drawing/2014/main" id="{F361645A-DF16-45F5-986E-FD0DC943CBB7}"/>
              </a:ext>
            </a:extLst>
          </p:cNvPr>
          <p:cNvSpPr>
            <a:spLocks noGrp="1"/>
          </p:cNvSpPr>
          <p:nvPr/>
        </p:nvSpPr>
        <p:spPr>
          <a:xfrm>
            <a:off x="8229600" y="16097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Actores</a:t>
            </a:r>
          </a:p>
        </p:txBody>
      </p:sp>
      <p:sp>
        <p:nvSpPr>
          <p:cNvPr id="10" name="texto-9">
            <a:extLst>
              <a:ext uri="{FF2B5EF4-FFF2-40B4-BE49-F238E27FC236}">
                <a16:creationId xmlns:a16="http://schemas.microsoft.com/office/drawing/2014/main" id="{A3400ECA-82BF-4A00-A745-080D4CA5571D}"/>
              </a:ext>
            </a:extLst>
          </p:cNvPr>
          <p:cNvSpPr>
            <a:spLocks noGrp="1"/>
          </p:cNvSpPr>
          <p:nvPr/>
        </p:nvSpPr>
        <p:spPr>
          <a:xfrm>
            <a:off x="8229600" y="2276475"/>
            <a:ext cx="3333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Administrador</a:t>
            </a:r>
          </a:p>
        </p:txBody>
      </p:sp>
      <p:sp>
        <p:nvSpPr>
          <p:cNvPr id="11" name="texto-10">
            <a:extLst>
              <a:ext uri="{FF2B5EF4-FFF2-40B4-BE49-F238E27FC236}">
                <a16:creationId xmlns:a16="http://schemas.microsoft.com/office/drawing/2014/main" id="{9367260F-5FA8-4976-A374-886DDC48B1A4}"/>
              </a:ext>
            </a:extLst>
          </p:cNvPr>
          <p:cNvSpPr>
            <a:spLocks noGrp="1"/>
          </p:cNvSpPr>
          <p:nvPr/>
        </p:nvSpPr>
        <p:spPr>
          <a:xfrm>
            <a:off x="8229600" y="26479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Consulta obras y compromisos.</a:t>
            </a:r>
          </a:p>
        </p:txBody>
      </p:sp>
      <p:sp>
        <p:nvSpPr>
          <p:cNvPr id="12" name="texto-11">
            <a:extLst>
              <a:ext uri="{FF2B5EF4-FFF2-40B4-BE49-F238E27FC236}">
                <a16:creationId xmlns:a16="http://schemas.microsoft.com/office/drawing/2014/main" id="{0591EEE6-6764-495D-8DFB-3483775F6FEE}"/>
              </a:ext>
            </a:extLst>
          </p:cNvPr>
          <p:cNvSpPr>
            <a:spLocks noGrp="1"/>
          </p:cNvSpPr>
          <p:nvPr/>
        </p:nvSpPr>
        <p:spPr>
          <a:xfrm>
            <a:off x="8229600" y="3276600"/>
            <a:ext cx="3333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Supervisor</a:t>
            </a:r>
          </a:p>
        </p:txBody>
      </p:sp>
      <p:sp>
        <p:nvSpPr>
          <p:cNvPr id="13" name="texto-12">
            <a:extLst>
              <a:ext uri="{FF2B5EF4-FFF2-40B4-BE49-F238E27FC236}">
                <a16:creationId xmlns:a16="http://schemas.microsoft.com/office/drawing/2014/main" id="{0DFA9391-0D92-4191-ACC9-E9A5D78DAF49}"/>
              </a:ext>
            </a:extLst>
          </p:cNvPr>
          <p:cNvSpPr>
            <a:spLocks noGrp="1"/>
          </p:cNvSpPr>
          <p:nvPr/>
        </p:nvSpPr>
        <p:spPr>
          <a:xfrm>
            <a:off x="8229600" y="36480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Prioriza, valida y asigna.</a:t>
            </a:r>
          </a:p>
        </p:txBody>
      </p:sp>
      <p:sp>
        <p:nvSpPr>
          <p:cNvPr id="14" name="texto-13">
            <a:extLst>
              <a:ext uri="{FF2B5EF4-FFF2-40B4-BE49-F238E27FC236}">
                <a16:creationId xmlns:a16="http://schemas.microsoft.com/office/drawing/2014/main" id="{7A8AA90B-EB8A-454F-867F-E50C43D10D39}"/>
              </a:ext>
            </a:extLst>
          </p:cNvPr>
          <p:cNvSpPr>
            <a:spLocks noGrp="1"/>
          </p:cNvSpPr>
          <p:nvPr/>
        </p:nvSpPr>
        <p:spPr>
          <a:xfrm>
            <a:off x="8229600" y="4276725"/>
            <a:ext cx="3333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Trabajadores</a:t>
            </a:r>
          </a:p>
        </p:txBody>
      </p:sp>
      <p:sp>
        <p:nvSpPr>
          <p:cNvPr id="15" name="texto-14">
            <a:extLst>
              <a:ext uri="{FF2B5EF4-FFF2-40B4-BE49-F238E27FC236}">
                <a16:creationId xmlns:a16="http://schemas.microsoft.com/office/drawing/2014/main" id="{B21E81EA-239F-4EAC-BC5C-F7F7BF54A3CF}"/>
              </a:ext>
            </a:extLst>
          </p:cNvPr>
          <p:cNvSpPr>
            <a:spLocks noGrp="1"/>
          </p:cNvSpPr>
          <p:nvPr/>
        </p:nvSpPr>
        <p:spPr>
          <a:xfrm>
            <a:off x="8229600" y="46482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Ejecutan y comunican avances.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0EED5C9-2ACE-41AC-9B19-98550992CC7F}"/>
              </a:ext>
            </a:extLst>
          </p:cNvPr>
          <p:cNvCxnSpPr/>
          <p:nvPr/>
        </p:nvCxnSpPr>
        <p:spPr>
          <a:xfrm>
            <a:off x="609600" y="553402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17" name="texto-16">
            <a:extLst>
              <a:ext uri="{FF2B5EF4-FFF2-40B4-BE49-F238E27FC236}">
                <a16:creationId xmlns:a16="http://schemas.microsoft.com/office/drawing/2014/main" id="{23D7F351-77B6-448A-B613-F2E0DF830590}"/>
              </a:ext>
            </a:extLst>
          </p:cNvPr>
          <p:cNvSpPr>
            <a:spLocks noGrp="1"/>
          </p:cNvSpPr>
          <p:nvPr/>
        </p:nvSpPr>
        <p:spPr>
          <a:xfrm>
            <a:off x="638175" y="5838825"/>
            <a:ext cx="1085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73745"/>
                </a:solidFill>
                <a:latin typeface="DejaVu Sans"/>
                <a:ea typeface="DejaVu Sans"/>
                <a:cs typeface="DejaVu Sans"/>
              </a:rPr>
              <a:t>Riesgos del proceso: cruces de horario, esperas y actividades atrasadas.</a:t>
            </a:r>
          </a:p>
        </p:txBody>
      </p:sp>
    </p:spTree>
    <p:extLst>
      <p:ext uri="{BB962C8B-B14F-4D97-AF65-F5344CB8AC3E}">
        <p14:creationId xmlns:p14="http://schemas.microsoft.com/office/powerpoint/2010/main" val="8336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-0">
            <a:extLst>
              <a:ext uri="{FF2B5EF4-FFF2-40B4-BE49-F238E27FC236}">
                <a16:creationId xmlns:a16="http://schemas.microsoft.com/office/drawing/2014/main" id="{C4492C7B-12A0-49F7-972A-D84C38B8D3A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Alcance y reglas del proyecto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577CC8B-61EC-4D9C-A6EB-086D50D9FA33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3F3C0764-11B0-4623-ACFA-934F34CB33E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8DE61B50-AF82-4947-A1DB-FF3FF191D66C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03 / 10</a:t>
            </a:r>
          </a:p>
        </p:txBody>
      </p:sp>
      <p:sp>
        <p:nvSpPr>
          <p:cNvPr id="5" name="texto-4">
            <a:extLst>
              <a:ext uri="{FF2B5EF4-FFF2-40B4-BE49-F238E27FC236}">
                <a16:creationId xmlns:a16="http://schemas.microsoft.com/office/drawing/2014/main" id="{D13B1A5C-D1B7-487E-A5CF-26A8D50F8802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2571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texto-5">
            <a:extLst>
              <a:ext uri="{FF2B5EF4-FFF2-40B4-BE49-F238E27FC236}">
                <a16:creationId xmlns:a16="http://schemas.microsoft.com/office/drawing/2014/main" id="{0B9EF1FF-58BD-4C2E-B6F3-A56D8C3127EE}"/>
              </a:ext>
            </a:extLst>
          </p:cNvPr>
          <p:cNvSpPr>
            <a:spLocks noGrp="1"/>
          </p:cNvSpPr>
          <p:nvPr/>
        </p:nvSpPr>
        <p:spPr>
          <a:xfrm>
            <a:off x="647700" y="25241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obras</a:t>
            </a:r>
          </a:p>
        </p:txBody>
      </p:sp>
      <p:sp>
        <p:nvSpPr>
          <p:cNvPr id="7" name="texto-6">
            <a:extLst>
              <a:ext uri="{FF2B5EF4-FFF2-40B4-BE49-F238E27FC236}">
                <a16:creationId xmlns:a16="http://schemas.microsoft.com/office/drawing/2014/main" id="{3E0256FA-E513-4AED-A2A3-F89C92BE35D9}"/>
              </a:ext>
            </a:extLst>
          </p:cNvPr>
          <p:cNvSpPr>
            <a:spLocks noGrp="1"/>
          </p:cNvSpPr>
          <p:nvPr/>
        </p:nvSpPr>
        <p:spPr>
          <a:xfrm>
            <a:off x="3429000" y="1495425"/>
            <a:ext cx="2571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texto-7">
            <a:extLst>
              <a:ext uri="{FF2B5EF4-FFF2-40B4-BE49-F238E27FC236}">
                <a16:creationId xmlns:a16="http://schemas.microsoft.com/office/drawing/2014/main" id="{CF72E629-5B91-49FE-9CDC-FD639EC35DEA}"/>
              </a:ext>
            </a:extLst>
          </p:cNvPr>
          <p:cNvSpPr>
            <a:spLocks noGrp="1"/>
          </p:cNvSpPr>
          <p:nvPr/>
        </p:nvSpPr>
        <p:spPr>
          <a:xfrm>
            <a:off x="3467100" y="25241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trabajadores</a:t>
            </a:r>
          </a:p>
        </p:txBody>
      </p:sp>
      <p:sp>
        <p:nvSpPr>
          <p:cNvPr id="9" name="texto-8">
            <a:extLst>
              <a:ext uri="{FF2B5EF4-FFF2-40B4-BE49-F238E27FC236}">
                <a16:creationId xmlns:a16="http://schemas.microsoft.com/office/drawing/2014/main" id="{156DF501-9C7C-4E51-BE27-D1BE27F73EDD}"/>
              </a:ext>
            </a:extLst>
          </p:cNvPr>
          <p:cNvSpPr>
            <a:spLocks noGrp="1"/>
          </p:cNvSpPr>
          <p:nvPr/>
        </p:nvSpPr>
        <p:spPr>
          <a:xfrm>
            <a:off x="6248400" y="1495425"/>
            <a:ext cx="2571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10" name="texto-9">
            <a:extLst>
              <a:ext uri="{FF2B5EF4-FFF2-40B4-BE49-F238E27FC236}">
                <a16:creationId xmlns:a16="http://schemas.microsoft.com/office/drawing/2014/main" id="{BC747F87-CE96-45CA-8F91-857706674BFD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actividades</a:t>
            </a:r>
          </a:p>
        </p:txBody>
      </p:sp>
      <p:sp>
        <p:nvSpPr>
          <p:cNvPr id="11" name="texto-10">
            <a:extLst>
              <a:ext uri="{FF2B5EF4-FFF2-40B4-BE49-F238E27FC236}">
                <a16:creationId xmlns:a16="http://schemas.microsoft.com/office/drawing/2014/main" id="{82612E9A-66E2-4A27-9634-8FB77ADD0212}"/>
              </a:ext>
            </a:extLst>
          </p:cNvPr>
          <p:cNvSpPr>
            <a:spLocks noGrp="1"/>
          </p:cNvSpPr>
          <p:nvPr/>
        </p:nvSpPr>
        <p:spPr>
          <a:xfrm>
            <a:off x="9067800" y="1495425"/>
            <a:ext cx="2571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2" name="texto-11">
            <a:extLst>
              <a:ext uri="{FF2B5EF4-FFF2-40B4-BE49-F238E27FC236}">
                <a16:creationId xmlns:a16="http://schemas.microsoft.com/office/drawing/2014/main" id="{41FA7A1E-EDC8-481F-A8B4-D0C20BFF4279}"/>
              </a:ext>
            </a:extLst>
          </p:cNvPr>
          <p:cNvSpPr>
            <a:spLocks noGrp="1"/>
          </p:cNvSpPr>
          <p:nvPr/>
        </p:nvSpPr>
        <p:spPr>
          <a:xfrm>
            <a:off x="9105900" y="25241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usuarios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755BBAF-E8B9-482C-8A4A-D81FA5EA6558}"/>
              </a:ext>
            </a:extLst>
          </p:cNvPr>
          <p:cNvCxnSpPr/>
          <p:nvPr/>
        </p:nvCxnSpPr>
        <p:spPr>
          <a:xfrm>
            <a:off x="609600" y="313372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14" name="texto-13">
            <a:extLst>
              <a:ext uri="{FF2B5EF4-FFF2-40B4-BE49-F238E27FC236}">
                <a16:creationId xmlns:a16="http://schemas.microsoft.com/office/drawing/2014/main" id="{8410615C-91DC-46FF-84C3-236870E793F4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Variables cuantitativas</a:t>
            </a:r>
          </a:p>
        </p:txBody>
      </p:sp>
      <p:sp>
        <p:nvSpPr>
          <p:cNvPr id="15" name="texto-14">
            <a:extLst>
              <a:ext uri="{FF2B5EF4-FFF2-40B4-BE49-F238E27FC236}">
                <a16:creationId xmlns:a16="http://schemas.microsoft.com/office/drawing/2014/main" id="{E41F70D3-5ACE-4BC1-AED7-C2441DEE59DB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Pendientes y terminadas, horas asignadas,</a:t>
            </a:r>
          </a:p>
          <a:p>
            <a: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cruces y porcentaje de avance.</a:t>
            </a:r>
          </a:p>
        </p:txBody>
      </p:sp>
      <p:sp>
        <p:nvSpPr>
          <p:cNvPr id="16" name="texto-15">
            <a:extLst>
              <a:ext uri="{FF2B5EF4-FFF2-40B4-BE49-F238E27FC236}">
                <a16:creationId xmlns:a16="http://schemas.microsoft.com/office/drawing/2014/main" id="{83824653-9DEA-4CA8-A021-FE7F8FD111B3}"/>
              </a:ext>
            </a:extLst>
          </p:cNvPr>
          <p:cNvSpPr>
            <a:spLocks noGrp="1"/>
          </p:cNvSpPr>
          <p:nvPr/>
        </p:nvSpPr>
        <p:spPr>
          <a:xfrm>
            <a:off x="6553200" y="3495675"/>
            <a:ext cx="502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Variables cualitativas</a:t>
            </a:r>
          </a:p>
        </p:txBody>
      </p:sp>
      <p:sp>
        <p:nvSpPr>
          <p:cNvPr id="17" name="texto-16">
            <a:extLst>
              <a:ext uri="{FF2B5EF4-FFF2-40B4-BE49-F238E27FC236}">
                <a16:creationId xmlns:a16="http://schemas.microsoft.com/office/drawing/2014/main" id="{BB9C83CD-BFCC-4D1C-A884-F057911DAA58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5029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Especialidad, prioridad y estado</a:t>
            </a:r>
          </a:p>
          <a:p>
            <a:pPr>
              <a:buNone/>
              <a:def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de las actividades.</a:t>
            </a:r>
          </a:p>
        </p:txBody>
      </p:sp>
      <p:sp>
        <p:nvSpPr>
          <p:cNvPr id="18" name="texto-17">
            <a:extLst>
              <a:ext uri="{FF2B5EF4-FFF2-40B4-BE49-F238E27FC236}">
                <a16:creationId xmlns:a16="http://schemas.microsoft.com/office/drawing/2014/main" id="{3E201AA0-C946-4CA6-B4B6-225BACFECFB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Especialidad compatible · Jornada respetada · Sin cruces</a:t>
            </a:r>
          </a:p>
        </p:txBody>
      </p:sp>
      <p:sp>
        <p:nvSpPr>
          <p:cNvPr id="19" name="texto-18">
            <a:extLst>
              <a:ext uri="{FF2B5EF4-FFF2-40B4-BE49-F238E27FC236}">
                <a16:creationId xmlns:a16="http://schemas.microsoft.com/office/drawing/2014/main" id="{1476D6D2-F6BB-4E6A-B5B0-36310F5B2E3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Avance de obra: promedio simple; cada actividad tiene el mismo peso.</a:t>
            </a:r>
          </a:p>
        </p:txBody>
      </p:sp>
    </p:spTree>
    <p:extLst>
      <p:ext uri="{BB962C8B-B14F-4D97-AF65-F5344CB8AC3E}">
        <p14:creationId xmlns:p14="http://schemas.microsoft.com/office/powerpoint/2010/main" val="169478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o-0">
            <a:extLst>
              <a:ext uri="{FF2B5EF4-FFF2-40B4-BE49-F238E27FC236}">
                <a16:creationId xmlns:a16="http://schemas.microsoft.com/office/drawing/2014/main" id="{57643FB3-4BEF-4C08-815D-CF1DE6D50BF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Cinco módulos conectados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9E35C54F-9A89-4C67-8BEA-6BC14ED52D86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C726FB88-5B61-40A4-ABF2-8BA56CF04967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76D35E5E-562B-4FB8-B09A-E358326C53DA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04 / 10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9331E41-AB9D-4B08-AA93-7B19131BB4C3}"/>
              </a:ext>
            </a:extLst>
          </p:cNvPr>
          <p:cNvGraphicFramePr/>
          <p:nvPr/>
        </p:nvGraphicFramePr>
        <p:xfrm>
          <a:off x="609600" y="1524000"/>
          <a:ext cx="10972800" cy="4238628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438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Módulo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Operaciones principales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Responsable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 · Obras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· Filtrar por estado · Ordenar entregas · Consultar pendientes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Daniel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M2 · Trabajadores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· Filtrar especialidad · Consultar disponibilidad · Calcular carga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Esteban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M3 · Actividades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Clasificar · Ordenar · Consultar próxima · Actualizar prioridad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Julián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M4 · Asignación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candidatos · Detectar cruces · Asignar · Reprogramar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Esteban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M5 · Seguimiento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Actualizar avance · Detectar vencidas · Contar por estado · Calcular avance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Daniel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o-4">
            <a:extLst>
              <a:ext uri="{FF2B5EF4-FFF2-40B4-BE49-F238E27FC236}">
                <a16:creationId xmlns:a16="http://schemas.microsoft.com/office/drawing/2014/main" id="{50BBF545-8CFF-4B8A-9A6C-3E4D50778084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Búsqueda, filtrado, ordenamiento, priorización, asignación y cálculo.</a:t>
            </a:r>
          </a:p>
        </p:txBody>
      </p:sp>
    </p:spTree>
    <p:extLst>
      <p:ext uri="{BB962C8B-B14F-4D97-AF65-F5344CB8AC3E}">
        <p14:creationId xmlns:p14="http://schemas.microsoft.com/office/powerpoint/2010/main" val="43613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8406FFA9-4A91-4A2C-B139-2B192A64FDDB}"/>
              </a:ext>
            </a:extLst>
          </p:cNvPr>
          <p:cNvCxnSpPr>
            <a:stCxn id="25" idx="1"/>
            <a:endCxn id="9" idx="3"/>
          </p:cNvCxnSpPr>
          <p:nvPr/>
        </p:nvCxnSpPr>
        <p:spPr>
          <a:xfrm flipH="1" flipV="1">
            <a:off x="7905750" y="2224088"/>
            <a:ext cx="1047750" cy="1609725"/>
          </a:xfrm>
          <a:prstGeom prst="bentConnector3">
            <a:avLst>
              <a:gd name="adj1" fmla="val 50000"/>
            </a:avLst>
          </a:prstGeom>
          <a:ln w="14288">
            <a:solidFill>
              <a:srgbClr val="087E83"/>
            </a:solidFill>
            <a:prstDash val="dash"/>
            <a:tailEnd type="arrow" w="sm" len="sm"/>
          </a:ln>
        </p:spPr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8D246EB-4244-4205-A65D-960A6B20E2E5}"/>
              </a:ext>
            </a:extLst>
          </p:cNvPr>
          <p:cNvCxnSpPr>
            <a:stCxn id="21" idx="0"/>
            <a:endCxn id="17" idx="2"/>
          </p:cNvCxnSpPr>
          <p:nvPr/>
        </p:nvCxnSpPr>
        <p:spPr>
          <a:xfrm flipV="1">
            <a:off x="6381750" y="4676775"/>
            <a:ext cx="0" cy="381000"/>
          </a:xfrm>
          <a:prstGeom prst="straightConnector1">
            <a:avLst/>
          </a:prstGeom>
          <a:ln w="14288">
            <a:solidFill>
              <a:srgbClr val="52626B"/>
            </a:solidFill>
            <a:prstDash val="solid"/>
          </a:ln>
        </p:spPr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AC3B14E-AEF3-4C92-882D-B3CF9C0FCC4F}"/>
              </a:ext>
            </a:extLst>
          </p:cNvPr>
          <p:cNvCxnSpPr>
            <a:stCxn id="9" idx="2"/>
            <a:endCxn id="17" idx="0"/>
          </p:cNvCxnSpPr>
          <p:nvPr/>
        </p:nvCxnSpPr>
        <p:spPr>
          <a:xfrm>
            <a:off x="6381750" y="2914650"/>
            <a:ext cx="0" cy="381000"/>
          </a:xfrm>
          <a:prstGeom prst="straightConnector1">
            <a:avLst/>
          </a:prstGeom>
          <a:ln w="14288">
            <a:solidFill>
              <a:srgbClr val="52626B"/>
            </a:solidFill>
            <a:prstDash val="solid"/>
          </a:ln>
        </p:spPr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EB4BDFE-9023-42BD-8BB8-215750DBCE99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3657600" y="3986213"/>
            <a:ext cx="1200150" cy="0"/>
          </a:xfrm>
          <a:prstGeom prst="straightConnector1">
            <a:avLst/>
          </a:prstGeom>
          <a:ln w="14288">
            <a:solidFill>
              <a:srgbClr val="52626B"/>
            </a:solidFill>
            <a:prstDash val="solid"/>
          </a:ln>
        </p:spPr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F83828A-1D00-4236-BE72-6A937904CA74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657600" y="2224088"/>
            <a:ext cx="1200150" cy="0"/>
          </a:xfrm>
          <a:prstGeom prst="straightConnector1">
            <a:avLst/>
          </a:prstGeom>
          <a:ln w="14288">
            <a:solidFill>
              <a:srgbClr val="52626B"/>
            </a:solidFill>
            <a:prstDash val="solid"/>
          </a:ln>
        </p:spPr>
      </p:cxnSp>
      <p:sp>
        <p:nvSpPr>
          <p:cNvPr id="44" name="texto-0">
            <a:extLst>
              <a:ext uri="{FF2B5EF4-FFF2-40B4-BE49-F238E27FC236}">
                <a16:creationId xmlns:a16="http://schemas.microsoft.com/office/drawing/2014/main" id="{2966303C-E6D8-4FB8-B81D-7EC9712C0C4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Cinco clases de dominio y un servicio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2785B6D6-C933-4692-8BF5-4CA6D6141320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AC294587-8B18-4B9C-BA62-FC9C8308D4C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7BBCEA11-C87A-4B2B-BDC6-E150A1636637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05 / 10</a:t>
            </a:r>
          </a:p>
        </p:txBody>
      </p:sp>
      <p:sp>
        <p:nvSpPr>
          <p:cNvPr id="5" name="UML-Obra">
            <a:extLst>
              <a:ext uri="{FF2B5EF4-FFF2-40B4-BE49-F238E27FC236}">
                <a16:creationId xmlns:a16="http://schemas.microsoft.com/office/drawing/2014/main" id="{272E22A9-0411-49C1-8EA6-C1F5A16334C0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3048000" cy="1381125"/>
          </a:xfrm>
          <a:prstGeom prst="rect">
            <a:avLst/>
          </a:prstGeom>
          <a:solidFill>
            <a:srgbClr val="F1F5F4"/>
          </a:solidFill>
          <a:ln w="10478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o-5">
            <a:extLst>
              <a:ext uri="{FF2B5EF4-FFF2-40B4-BE49-F238E27FC236}">
                <a16:creationId xmlns:a16="http://schemas.microsoft.com/office/drawing/2014/main" id="{435ED9E6-4A6C-46A2-9EB4-20AA09B8ABF8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Obra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B46380C-F8F0-4DE3-AC1A-A6FAEB26D6C5}"/>
              </a:ext>
            </a:extLst>
          </p:cNvPr>
          <p:cNvCxnSpPr/>
          <p:nvPr/>
        </p:nvCxnSpPr>
        <p:spPr>
          <a:xfrm>
            <a:off x="609600" y="1981200"/>
            <a:ext cx="30480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8" name="texto-7">
            <a:extLst>
              <a:ext uri="{FF2B5EF4-FFF2-40B4-BE49-F238E27FC236}">
                <a16:creationId xmlns:a16="http://schemas.microsoft.com/office/drawing/2014/main" id="{7B5D108B-632B-48F0-8A71-2F59EDC03CEF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28194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codigo: String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calcularAvance(): double</a:t>
            </a:r>
          </a:p>
        </p:txBody>
      </p:sp>
      <p:sp>
        <p:nvSpPr>
          <p:cNvPr id="9" name="UML-Actividad">
            <a:extLst>
              <a:ext uri="{FF2B5EF4-FFF2-40B4-BE49-F238E27FC236}">
                <a16:creationId xmlns:a16="http://schemas.microsoft.com/office/drawing/2014/main" id="{E24B8211-7D20-4573-9A71-F8F27000A856}"/>
              </a:ext>
            </a:extLst>
          </p:cNvPr>
          <p:cNvSpPr>
            <a:spLocks noGrp="1"/>
          </p:cNvSpPr>
          <p:nvPr/>
        </p:nvSpPr>
        <p:spPr>
          <a:xfrm>
            <a:off x="4857750" y="1533525"/>
            <a:ext cx="3048000" cy="1381125"/>
          </a:xfrm>
          <a:prstGeom prst="rect">
            <a:avLst/>
          </a:prstGeom>
          <a:solidFill>
            <a:srgbClr val="F1F5F4"/>
          </a:solidFill>
          <a:ln w="10478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o-9">
            <a:extLst>
              <a:ext uri="{FF2B5EF4-FFF2-40B4-BE49-F238E27FC236}">
                <a16:creationId xmlns:a16="http://schemas.microsoft.com/office/drawing/2014/main" id="{7DCC0BEB-9213-49CE-9D8B-F8E0BADC78C8}"/>
              </a:ext>
            </a:extLst>
          </p:cNvPr>
          <p:cNvSpPr>
            <a:spLocks noGrp="1"/>
          </p:cNvSpPr>
          <p:nvPr/>
        </p:nvSpPr>
        <p:spPr>
          <a:xfrm>
            <a:off x="4972050" y="1619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Actividad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0638927-EB37-4D04-8E89-27812FFA0BF2}"/>
              </a:ext>
            </a:extLst>
          </p:cNvPr>
          <p:cNvCxnSpPr/>
          <p:nvPr/>
        </p:nvCxnSpPr>
        <p:spPr>
          <a:xfrm>
            <a:off x="4857750" y="1981200"/>
            <a:ext cx="30480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12" name="texto-11">
            <a:extLst>
              <a:ext uri="{FF2B5EF4-FFF2-40B4-BE49-F238E27FC236}">
                <a16:creationId xmlns:a16="http://schemas.microsoft.com/office/drawing/2014/main" id="{DD7E5C58-7C21-4BD2-BE12-46D07C56E8F5}"/>
              </a:ext>
            </a:extLst>
          </p:cNvPr>
          <p:cNvSpPr>
            <a:spLocks noGrp="1"/>
          </p:cNvSpPr>
          <p:nvPr/>
        </p:nvSpPr>
        <p:spPr>
          <a:xfrm>
            <a:off x="4972050" y="2085975"/>
            <a:ext cx="28194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prioridad: int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~ cambiarPrioridad(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valor: int): void</a:t>
            </a:r>
          </a:p>
        </p:txBody>
      </p:sp>
      <p:sp>
        <p:nvSpPr>
          <p:cNvPr id="13" name="UML-Trabajador">
            <a:extLst>
              <a:ext uri="{FF2B5EF4-FFF2-40B4-BE49-F238E27FC236}">
                <a16:creationId xmlns:a16="http://schemas.microsoft.com/office/drawing/2014/main" id="{C6EBC6DE-29BE-4C87-8BFA-6A82B1B43EE0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3048000" cy="1381125"/>
          </a:xfrm>
          <a:prstGeom prst="rect">
            <a:avLst/>
          </a:prstGeom>
          <a:solidFill>
            <a:srgbClr val="F1F5F4"/>
          </a:solidFill>
          <a:ln w="10478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o-13">
            <a:extLst>
              <a:ext uri="{FF2B5EF4-FFF2-40B4-BE49-F238E27FC236}">
                <a16:creationId xmlns:a16="http://schemas.microsoft.com/office/drawing/2014/main" id="{742D26E8-47FB-4116-BE52-82E95CC68DA5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Trabajador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739E7FD-243D-4C01-AF44-072271603A64}"/>
              </a:ext>
            </a:extLst>
          </p:cNvPr>
          <p:cNvCxnSpPr/>
          <p:nvPr/>
        </p:nvCxnSpPr>
        <p:spPr>
          <a:xfrm>
            <a:off x="609600" y="3743325"/>
            <a:ext cx="30480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16" name="texto-15">
            <a:extLst>
              <a:ext uri="{FF2B5EF4-FFF2-40B4-BE49-F238E27FC236}">
                <a16:creationId xmlns:a16="http://schemas.microsoft.com/office/drawing/2014/main" id="{66306326-96A7-4BCA-8E0D-2757FA0C7186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28194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especialidad: String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esCompatible(actividad: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Actividad): boolean</a:t>
            </a:r>
          </a:p>
        </p:txBody>
      </p:sp>
      <p:sp>
        <p:nvSpPr>
          <p:cNvPr id="17" name="UML-Asignacion">
            <a:extLst>
              <a:ext uri="{FF2B5EF4-FFF2-40B4-BE49-F238E27FC236}">
                <a16:creationId xmlns:a16="http://schemas.microsoft.com/office/drawing/2014/main" id="{84E78C81-9582-415E-B6DB-8EFF36C63815}"/>
              </a:ext>
            </a:extLst>
          </p:cNvPr>
          <p:cNvSpPr>
            <a:spLocks noGrp="1"/>
          </p:cNvSpPr>
          <p:nvPr/>
        </p:nvSpPr>
        <p:spPr>
          <a:xfrm>
            <a:off x="4857750" y="3295650"/>
            <a:ext cx="3048000" cy="1381125"/>
          </a:xfrm>
          <a:prstGeom prst="rect">
            <a:avLst/>
          </a:prstGeom>
          <a:solidFill>
            <a:srgbClr val="F1F5F4"/>
          </a:solidFill>
          <a:ln w="10478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o-17">
            <a:extLst>
              <a:ext uri="{FF2B5EF4-FFF2-40B4-BE49-F238E27FC236}">
                <a16:creationId xmlns:a16="http://schemas.microsoft.com/office/drawing/2014/main" id="{223D0212-24DE-4FD1-8817-542B1A3D7506}"/>
              </a:ext>
            </a:extLst>
          </p:cNvPr>
          <p:cNvSpPr>
            <a:spLocks noGrp="1"/>
          </p:cNvSpPr>
          <p:nvPr/>
        </p:nvSpPr>
        <p:spPr>
          <a:xfrm>
            <a:off x="4972050" y="338137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Asignacion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1A3534F-126F-4A98-940D-EAE1FA1C6900}"/>
              </a:ext>
            </a:extLst>
          </p:cNvPr>
          <p:cNvCxnSpPr/>
          <p:nvPr/>
        </p:nvCxnSpPr>
        <p:spPr>
          <a:xfrm>
            <a:off x="4857750" y="3743325"/>
            <a:ext cx="30480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20" name="texto-19">
            <a:extLst>
              <a:ext uri="{FF2B5EF4-FFF2-40B4-BE49-F238E27FC236}">
                <a16:creationId xmlns:a16="http://schemas.microsoft.com/office/drawing/2014/main" id="{18482DEF-AEC4-4B6C-AEC1-5C1211DE18F8}"/>
              </a:ext>
            </a:extLst>
          </p:cNvPr>
          <p:cNvSpPr>
            <a:spLocks noGrp="1"/>
          </p:cNvSpPr>
          <p:nvPr/>
        </p:nvSpPr>
        <p:spPr>
          <a:xfrm>
            <a:off x="4972050" y="3848100"/>
            <a:ext cx="28194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activa: boolean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validarHorario(): boolean</a:t>
            </a:r>
          </a:p>
        </p:txBody>
      </p:sp>
      <p:sp>
        <p:nvSpPr>
          <p:cNvPr id="21" name="UML-Usuario">
            <a:extLst>
              <a:ext uri="{FF2B5EF4-FFF2-40B4-BE49-F238E27FC236}">
                <a16:creationId xmlns:a16="http://schemas.microsoft.com/office/drawing/2014/main" id="{75CE902F-70FF-4052-9BD0-CD5C7E0293D3}"/>
              </a:ext>
            </a:extLst>
          </p:cNvPr>
          <p:cNvSpPr>
            <a:spLocks noGrp="1"/>
          </p:cNvSpPr>
          <p:nvPr/>
        </p:nvSpPr>
        <p:spPr>
          <a:xfrm>
            <a:off x="4857750" y="5057775"/>
            <a:ext cx="3048000" cy="1333500"/>
          </a:xfrm>
          <a:prstGeom prst="rect">
            <a:avLst/>
          </a:prstGeom>
          <a:solidFill>
            <a:srgbClr val="F1F5F4"/>
          </a:solidFill>
          <a:ln w="10478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o-21">
            <a:extLst>
              <a:ext uri="{FF2B5EF4-FFF2-40B4-BE49-F238E27FC236}">
                <a16:creationId xmlns:a16="http://schemas.microsoft.com/office/drawing/2014/main" id="{9BCFC132-CF77-43E7-B83E-7E69FBB8631C}"/>
              </a:ext>
            </a:extLst>
          </p:cNvPr>
          <p:cNvSpPr>
            <a:spLocks noGrp="1"/>
          </p:cNvSpPr>
          <p:nvPr/>
        </p:nvSpPr>
        <p:spPr>
          <a:xfrm>
            <a:off x="4972050" y="51435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Usuario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66B4AA9-C1F6-4800-AE09-28A5EF424E18}"/>
              </a:ext>
            </a:extLst>
          </p:cNvPr>
          <p:cNvCxnSpPr/>
          <p:nvPr/>
        </p:nvCxnSpPr>
        <p:spPr>
          <a:xfrm>
            <a:off x="4857750" y="5505450"/>
            <a:ext cx="30480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24" name="texto-23">
            <a:extLst>
              <a:ext uri="{FF2B5EF4-FFF2-40B4-BE49-F238E27FC236}">
                <a16:creationId xmlns:a16="http://schemas.microsoft.com/office/drawing/2014/main" id="{D16B1C83-1A7B-4C1C-AC8F-9B29FD8887DD}"/>
              </a:ext>
            </a:extLst>
          </p:cNvPr>
          <p:cNvSpPr>
            <a:spLocks noGrp="1"/>
          </p:cNvSpPr>
          <p:nvPr/>
        </p:nvSpPr>
        <p:spPr>
          <a:xfrm>
            <a:off x="4972050" y="5610225"/>
            <a:ext cx="2819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rol: String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consultarAvance(</a:t>
            </a:r>
          </a:p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obra: Obra): double</a:t>
            </a:r>
          </a:p>
        </p:txBody>
      </p:sp>
      <p:sp>
        <p:nvSpPr>
          <p:cNvPr id="25" name="UML-GestorPrioridades">
            <a:extLst>
              <a:ext uri="{FF2B5EF4-FFF2-40B4-BE49-F238E27FC236}">
                <a16:creationId xmlns:a16="http://schemas.microsoft.com/office/drawing/2014/main" id="{04BC12B5-CF12-4808-B3B7-6B1513774C29}"/>
              </a:ext>
            </a:extLst>
          </p:cNvPr>
          <p:cNvSpPr>
            <a:spLocks noGrp="1"/>
          </p:cNvSpPr>
          <p:nvPr/>
        </p:nvSpPr>
        <p:spPr>
          <a:xfrm>
            <a:off x="8953500" y="1809750"/>
            <a:ext cx="2628900" cy="4048125"/>
          </a:xfrm>
          <a:prstGeom prst="rect">
            <a:avLst/>
          </a:prstGeom>
          <a:solidFill>
            <a:srgbClr val="E3F1EE"/>
          </a:solidFill>
          <a:ln w="10478">
            <a:solidFill>
              <a:srgbClr val="08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o-25">
            <a:extLst>
              <a:ext uri="{FF2B5EF4-FFF2-40B4-BE49-F238E27FC236}">
                <a16:creationId xmlns:a16="http://schemas.microsoft.com/office/drawing/2014/main" id="{08DB8F6C-4F2D-4770-9120-9B5561B317F3}"/>
              </a:ext>
            </a:extLst>
          </p:cNvPr>
          <p:cNvSpPr>
            <a:spLocks noGrp="1"/>
          </p:cNvSpPr>
          <p:nvPr/>
        </p:nvSpPr>
        <p:spPr>
          <a:xfrm>
            <a:off x="9067800" y="1895475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GestorPrioridades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D6FE51F-C075-4C57-ACF6-87AF5EE88BBD}"/>
              </a:ext>
            </a:extLst>
          </p:cNvPr>
          <p:cNvCxnSpPr/>
          <p:nvPr/>
        </p:nvCxnSpPr>
        <p:spPr>
          <a:xfrm>
            <a:off x="8953500" y="2257425"/>
            <a:ext cx="2628900" cy="0"/>
          </a:xfrm>
          <a:prstGeom prst="straightConnector1">
            <a:avLst/>
          </a:prstGeom>
          <a:ln w="9525">
            <a:solidFill>
              <a:srgbClr val="087E83"/>
            </a:solidFill>
            <a:prstDash val="solid"/>
          </a:ln>
        </p:spPr>
      </p:cxnSp>
      <p:sp>
        <p:nvSpPr>
          <p:cNvPr id="28" name="texto-27">
            <a:extLst>
              <a:ext uri="{FF2B5EF4-FFF2-40B4-BE49-F238E27FC236}">
                <a16:creationId xmlns:a16="http://schemas.microsoft.com/office/drawing/2014/main" id="{676F86CD-6B84-49D5-8020-6D39FC4072CB}"/>
              </a:ext>
            </a:extLst>
          </p:cNvPr>
          <p:cNvSpPr>
            <a:spLocks noGrp="1"/>
          </p:cNvSpPr>
          <p:nvPr/>
        </p:nvSpPr>
        <p:spPr>
          <a:xfrm>
            <a:off x="9067800" y="2362200"/>
            <a:ext cx="2400300" cy="3438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- pendientes: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PriorityQueue&lt;Actividad&gt;</a:t>
            </a:r>
          </a:p>
          <a:p>
            <a:endParaRPr sz="1388" b="0">
              <a:solidFill>
                <a:srgbClr val="142F40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consultarProxima():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Actividad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listarEnOrden():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List&lt;Actividad&gt;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+ cambiarPrioridad(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codigo: String,</a:t>
            </a:r>
          </a:p>
          <a:p>
            <a:pPr>
              <a:buNone/>
              <a:def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388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  valor: int): boolean</a:t>
            </a:r>
          </a:p>
        </p:txBody>
      </p:sp>
      <p:sp>
        <p:nvSpPr>
          <p:cNvPr id="30" name="Composicion-Obra-Actividad">
            <a:extLst>
              <a:ext uri="{FF2B5EF4-FFF2-40B4-BE49-F238E27FC236}">
                <a16:creationId xmlns:a16="http://schemas.microsoft.com/office/drawing/2014/main" id="{DD17F1C1-39C1-4946-9DC6-3E3BECD9A5A0}"/>
              </a:ext>
            </a:extLst>
          </p:cNvPr>
          <p:cNvSpPr>
            <a:spLocks noGrp="1"/>
          </p:cNvSpPr>
          <p:nvPr/>
        </p:nvSpPr>
        <p:spPr>
          <a:xfrm>
            <a:off x="3657600" y="2152650"/>
            <a:ext cx="171450" cy="142875"/>
          </a:xfrm>
          <a:prstGeom prst="diamond">
            <a:avLst/>
          </a:prstGeom>
          <a:solidFill>
            <a:srgbClr val="52626B"/>
          </a:solidFill>
          <a:ln w="9525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o-30">
            <a:extLst>
              <a:ext uri="{FF2B5EF4-FFF2-40B4-BE49-F238E27FC236}">
                <a16:creationId xmlns:a16="http://schemas.microsoft.com/office/drawing/2014/main" id="{BFDF375A-7F0D-41A6-92EC-170F3872DAE0}"/>
              </a:ext>
            </a:extLst>
          </p:cNvPr>
          <p:cNvSpPr>
            <a:spLocks noGrp="1"/>
          </p:cNvSpPr>
          <p:nvPr/>
        </p:nvSpPr>
        <p:spPr>
          <a:xfrm>
            <a:off x="3838575" y="1924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2" name="texto-31">
            <a:extLst>
              <a:ext uri="{FF2B5EF4-FFF2-40B4-BE49-F238E27FC236}">
                <a16:creationId xmlns:a16="http://schemas.microsoft.com/office/drawing/2014/main" id="{D4704698-0F83-4935-A884-A14DBE5597CB}"/>
              </a:ext>
            </a:extLst>
          </p:cNvPr>
          <p:cNvSpPr>
            <a:spLocks noGrp="1"/>
          </p:cNvSpPr>
          <p:nvPr/>
        </p:nvSpPr>
        <p:spPr>
          <a:xfrm>
            <a:off x="4352925" y="192405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0..*</a:t>
            </a:r>
          </a:p>
        </p:txBody>
      </p:sp>
      <p:sp>
        <p:nvSpPr>
          <p:cNvPr id="34" name="texto-33">
            <a:extLst>
              <a:ext uri="{FF2B5EF4-FFF2-40B4-BE49-F238E27FC236}">
                <a16:creationId xmlns:a16="http://schemas.microsoft.com/office/drawing/2014/main" id="{3FDEB70F-60BC-4D5B-AE9A-B610370D05FD}"/>
              </a:ext>
            </a:extLst>
          </p:cNvPr>
          <p:cNvSpPr>
            <a:spLocks noGrp="1"/>
          </p:cNvSpPr>
          <p:nvPr/>
        </p:nvSpPr>
        <p:spPr>
          <a:xfrm>
            <a:off x="3790950" y="368617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5" name="texto-34">
            <a:extLst>
              <a:ext uri="{FF2B5EF4-FFF2-40B4-BE49-F238E27FC236}">
                <a16:creationId xmlns:a16="http://schemas.microsoft.com/office/drawing/2014/main" id="{4E534672-0951-43B2-8467-C33FE5747C9E}"/>
              </a:ext>
            </a:extLst>
          </p:cNvPr>
          <p:cNvSpPr>
            <a:spLocks noGrp="1"/>
          </p:cNvSpPr>
          <p:nvPr/>
        </p:nvSpPr>
        <p:spPr>
          <a:xfrm>
            <a:off x="4352925" y="3686175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0..*</a:t>
            </a:r>
          </a:p>
        </p:txBody>
      </p:sp>
      <p:sp>
        <p:nvSpPr>
          <p:cNvPr id="37" name="texto-36">
            <a:extLst>
              <a:ext uri="{FF2B5EF4-FFF2-40B4-BE49-F238E27FC236}">
                <a16:creationId xmlns:a16="http://schemas.microsoft.com/office/drawing/2014/main" id="{7EC4CEBA-533E-4CA2-9678-CD53CBE6A663}"/>
              </a:ext>
            </a:extLst>
          </p:cNvPr>
          <p:cNvSpPr>
            <a:spLocks noGrp="1"/>
          </p:cNvSpPr>
          <p:nvPr/>
        </p:nvSpPr>
        <p:spPr>
          <a:xfrm>
            <a:off x="6534150" y="2914650"/>
            <a:ext cx="381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8" name="texto-37">
            <a:extLst>
              <a:ext uri="{FF2B5EF4-FFF2-40B4-BE49-F238E27FC236}">
                <a16:creationId xmlns:a16="http://schemas.microsoft.com/office/drawing/2014/main" id="{26A80902-B777-43D9-928D-6F165C93F56F}"/>
              </a:ext>
            </a:extLst>
          </p:cNvPr>
          <p:cNvSpPr>
            <a:spLocks noGrp="1"/>
          </p:cNvSpPr>
          <p:nvPr/>
        </p:nvSpPr>
        <p:spPr>
          <a:xfrm>
            <a:off x="6534150" y="3124200"/>
            <a:ext cx="619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0..*</a:t>
            </a:r>
          </a:p>
        </p:txBody>
      </p:sp>
      <p:sp>
        <p:nvSpPr>
          <p:cNvPr id="40" name="texto-39">
            <a:extLst>
              <a:ext uri="{FF2B5EF4-FFF2-40B4-BE49-F238E27FC236}">
                <a16:creationId xmlns:a16="http://schemas.microsoft.com/office/drawing/2014/main" id="{D7F5A18F-2A08-4D83-952F-A0E654A05360}"/>
              </a:ext>
            </a:extLst>
          </p:cNvPr>
          <p:cNvSpPr>
            <a:spLocks noGrp="1"/>
          </p:cNvSpPr>
          <p:nvPr/>
        </p:nvSpPr>
        <p:spPr>
          <a:xfrm>
            <a:off x="6534150" y="4686300"/>
            <a:ext cx="619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0..*</a:t>
            </a:r>
          </a:p>
        </p:txBody>
      </p:sp>
      <p:sp>
        <p:nvSpPr>
          <p:cNvPr id="41" name="texto-40">
            <a:extLst>
              <a:ext uri="{FF2B5EF4-FFF2-40B4-BE49-F238E27FC236}">
                <a16:creationId xmlns:a16="http://schemas.microsoft.com/office/drawing/2014/main" id="{08812040-97F6-407A-87B8-23D5DCE5C952}"/>
              </a:ext>
            </a:extLst>
          </p:cNvPr>
          <p:cNvSpPr>
            <a:spLocks noGrp="1"/>
          </p:cNvSpPr>
          <p:nvPr/>
        </p:nvSpPr>
        <p:spPr>
          <a:xfrm>
            <a:off x="6534150" y="4895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3" name="texto-42">
            <a:extLst>
              <a:ext uri="{FF2B5EF4-FFF2-40B4-BE49-F238E27FC236}">
                <a16:creationId xmlns:a16="http://schemas.microsoft.com/office/drawing/2014/main" id="{FCE99FF1-170E-4ECC-81AF-B51FD428826C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La prioridad cambia a través</a:t>
            </a:r>
          </a:p>
          <a:p>
            <a: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del servicio: retirar, modificar</a:t>
            </a:r>
          </a:p>
          <a:p>
            <a:pPr>
              <a:buNone/>
              <a:def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y reinsertar.</a:t>
            </a:r>
          </a:p>
        </p:txBody>
      </p:sp>
    </p:spTree>
    <p:extLst>
      <p:ext uri="{BB962C8B-B14F-4D97-AF65-F5344CB8AC3E}">
        <p14:creationId xmlns:p14="http://schemas.microsoft.com/office/powerpoint/2010/main" val="127532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o-0">
            <a:extLst>
              <a:ext uri="{FF2B5EF4-FFF2-40B4-BE49-F238E27FC236}">
                <a16:creationId xmlns:a16="http://schemas.microsoft.com/office/drawing/2014/main" id="{6C77072F-F416-4774-8DAE-DF28912BD39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Dos alternativas para ordenar y consultar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6B72C075-3D7C-40AB-9E68-8C1D3FCB9450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A5E0B64C-5838-47D3-8085-1B3E2E4F44E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FFA28D35-1642-4940-AE12-1DA74060B9BF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06 / 10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345490B-FA4A-41C1-A9F5-1FF38EB3AB59}"/>
              </a:ext>
            </a:extLst>
          </p:cNvPr>
          <p:cNvGraphicFramePr/>
          <p:nvPr/>
        </p:nvGraphicFramePr>
        <p:xfrm>
          <a:off x="609600" y="1581150"/>
          <a:ext cx="10972800" cy="37147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· Listas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 · Mapas y cola de prioridad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Entidades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ArrayList y búsqueda lineal.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HashMap por código.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Próxima pendiente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Recorrido para elegir y retirar.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PriorityQueue con peek y poll.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Listado en orden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Copia y ordenamiento por comparador.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Copia de la cola y extracción ordenada.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Horarios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Recorrido de asignaciones activas.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Recorrido de asignaciones activas.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o-4">
            <a:extLst>
              <a:ext uri="{FF2B5EF4-FFF2-40B4-BE49-F238E27FC236}">
                <a16:creationId xmlns:a16="http://schemas.microsoft.com/office/drawing/2014/main" id="{500A0BBD-F44D-43CF-A5DF-5CF1F822F02C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Alta → Media → Baja</a:t>
            </a:r>
          </a:p>
        </p:txBody>
      </p:sp>
      <p:sp>
        <p:nvSpPr>
          <p:cNvPr id="7" name="texto-5">
            <a:extLst>
              <a:ext uri="{FF2B5EF4-FFF2-40B4-BE49-F238E27FC236}">
                <a16:creationId xmlns:a16="http://schemas.microsoft.com/office/drawing/2014/main" id="{126FB69E-6BE5-4758-B8AC-38181F66B74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Empates por fecha límite más próxima y código menor.</a:t>
            </a:r>
          </a:p>
        </p:txBody>
      </p:sp>
    </p:spTree>
    <p:extLst>
      <p:ext uri="{BB962C8B-B14F-4D97-AF65-F5344CB8AC3E}">
        <p14:creationId xmlns:p14="http://schemas.microsoft.com/office/powerpoint/2010/main" val="194234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o-0">
            <a:extLst>
              <a:ext uri="{FF2B5EF4-FFF2-40B4-BE49-F238E27FC236}">
                <a16:creationId xmlns:a16="http://schemas.microsoft.com/office/drawing/2014/main" id="{C5A9C0F1-E01C-4863-9BEE-C4F755006F7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Comparación de las dos alternativas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65506D2-E45B-446A-BC25-67AAF91896A4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8EEA71DB-6947-494C-B83D-550E4E61BC77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48E2C8B6-4F79-4199-A669-2BAC9EE55DF7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07 / 10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2271AD2-44EB-4169-8521-EC211134429D}"/>
              </a:ext>
            </a:extLst>
          </p:cNvPr>
          <p:cNvGraphicFramePr/>
          <p:nvPr/>
        </p:nvGraphicFramePr>
        <p:xfrm>
          <a:off x="609600" y="1504950"/>
          <a:ext cx="10972800" cy="381952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· Listas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 · Mapa y cola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trabajador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 código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Recorrer trabajadores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O(w)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en el mapa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O(1) esperado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próxima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(sin retirarla)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pendientes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con peek()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O(1)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Tomar y retirar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próxima actividad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 y retirar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Extraer con poll()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O(log 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Listar pendientes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orden de prioridad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Copiar y ordenar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 log 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Copiar y extraer en orden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 log 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Retirar una actividad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 no es la próxima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y retirar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y retirar</a:t>
                      </a:r>
                    </a:p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O(q)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o-4">
            <a:extLst>
              <a:ext uri="{FF2B5EF4-FFF2-40B4-BE49-F238E27FC236}">
                <a16:creationId xmlns:a16="http://schemas.microsoft.com/office/drawing/2014/main" id="{AF8BD1BC-8153-48C4-920C-DABA9190A7D6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2657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C7374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0">
                <a:solidFill>
                  <a:srgbClr val="5265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572"/>
                </a:solidFill>
                <a:latin typeface="DejaVu Sans"/>
                <a:ea typeface="DejaVu Sans"/>
                <a:cs typeface="DejaVu Sans"/>
              </a:rPr>
              <a:t>q = actividades pendientes · w = trabajadores</a:t>
            </a:r>
          </a:p>
          <a:p>
            <a:pPr>
              <a:buNone/>
              <a:defRPr sz="1575" b="0">
                <a:solidFill>
                  <a:srgbClr val="5265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572"/>
                </a:solidFill>
                <a:latin typeface="DejaVu Sans"/>
                <a:ea typeface="DejaVu Sans"/>
                <a:cs typeface="DejaVu Sans"/>
              </a:rPr>
              <a:t>O(1): constante · O(q): lineal · O(log q): logarítmico</a:t>
            </a:r>
          </a:p>
        </p:txBody>
      </p:sp>
      <p:sp>
        <p:nvSpPr>
          <p:cNvPr id="7" name="texto-5">
            <a:extLst>
              <a:ext uri="{FF2B5EF4-FFF2-40B4-BE49-F238E27FC236}">
                <a16:creationId xmlns:a16="http://schemas.microsoft.com/office/drawing/2014/main" id="{94AEA79D-9C70-40C4-AA69-7C717AB54A6B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F86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007F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6"/>
                </a:solidFill>
                <a:latin typeface="DejaVu Sans"/>
                <a:ea typeface="DejaVu Sans"/>
                <a:cs typeface="DejaVu Sans"/>
              </a:rPr>
              <a:t>B agiliza las búsquedas y la próxima tarea. Listar todas cuesta lo mismo.</a:t>
            </a:r>
          </a:p>
        </p:txBody>
      </p:sp>
    </p:spTree>
    <p:extLst>
      <p:ext uri="{BB962C8B-B14F-4D97-AF65-F5344CB8AC3E}">
        <p14:creationId xmlns:p14="http://schemas.microsoft.com/office/powerpoint/2010/main" val="812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o-0">
            <a:extLst>
              <a:ext uri="{FF2B5EF4-FFF2-40B4-BE49-F238E27FC236}">
                <a16:creationId xmlns:a16="http://schemas.microsoft.com/office/drawing/2014/main" id="{8FC0EDF7-55B7-41E5-A245-B5B8C71680E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Alternativa seleccionada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19D065C-F30F-4F78-ACF3-879C34C4B2B1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52727E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8533F0DA-ACEF-4F9A-B9DB-0E7CE55B56C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5FCC5D52-7A38-4698-BA3B-5CF1100D7DB8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08 / 10</a:t>
            </a:r>
          </a:p>
        </p:txBody>
      </p:sp>
      <p:sp>
        <p:nvSpPr>
          <p:cNvPr id="5" name="texto-4">
            <a:extLst>
              <a:ext uri="{FF2B5EF4-FFF2-40B4-BE49-F238E27FC236}">
                <a16:creationId xmlns:a16="http://schemas.microsoft.com/office/drawing/2014/main" id="{0AE8E963-98CD-44FB-B23A-B0B4076F74DD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3429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6" name="texto-5">
            <a:extLst>
              <a:ext uri="{FF2B5EF4-FFF2-40B4-BE49-F238E27FC236}">
                <a16:creationId xmlns:a16="http://schemas.microsoft.com/office/drawing/2014/main" id="{88CDC2E2-CB81-43F4-9D5E-7085BDA3F531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3714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HashMap</a:t>
            </a:r>
          </a:p>
          <a:p>
            <a: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PriorityQueue</a:t>
            </a:r>
          </a:p>
          <a:p>
            <a:pPr>
              <a:buNone/>
              <a:def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ArrayList</a:t>
            </a:r>
          </a:p>
        </p:txBody>
      </p:sp>
      <p:sp>
        <p:nvSpPr>
          <p:cNvPr id="7" name="texto-6">
            <a:extLst>
              <a:ext uri="{FF2B5EF4-FFF2-40B4-BE49-F238E27FC236}">
                <a16:creationId xmlns:a16="http://schemas.microsoft.com/office/drawing/2014/main" id="{B417B8F3-20E6-46A7-A812-509F56EA396C}"/>
              </a:ext>
            </a:extLst>
          </p:cNvPr>
          <p:cNvSpPr>
            <a:spLocks noGrp="1"/>
          </p:cNvSpPr>
          <p:nvPr/>
        </p:nvSpPr>
        <p:spPr>
          <a:xfrm>
            <a:off x="4943475" y="1600200"/>
            <a:ext cx="66389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Búsquedas y próxima actividad</a:t>
            </a:r>
          </a:p>
        </p:txBody>
      </p:sp>
      <p:sp>
        <p:nvSpPr>
          <p:cNvPr id="8" name="texto-7">
            <a:extLst>
              <a:ext uri="{FF2B5EF4-FFF2-40B4-BE49-F238E27FC236}">
                <a16:creationId xmlns:a16="http://schemas.microsoft.com/office/drawing/2014/main" id="{64E1BB4F-6F92-4EB5-BAB7-FEE0D286ADBF}"/>
              </a:ext>
            </a:extLst>
          </p:cNvPr>
          <p:cNvSpPr>
            <a:spLocks noGrp="1"/>
          </p:cNvSpPr>
          <p:nvPr/>
        </p:nvSpPr>
        <p:spPr>
          <a:xfrm>
            <a:off x="4943475" y="2171700"/>
            <a:ext cx="66389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O(1) esperado por código.</a:t>
            </a:r>
          </a:p>
          <a:p>
            <a:pPr>
              <a:buNone/>
              <a:def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O(log q) al extraer la próxima pendiente.</a:t>
            </a:r>
          </a:p>
        </p:txBody>
      </p:sp>
      <p:sp>
        <p:nvSpPr>
          <p:cNvPr id="9" name="texto-8">
            <a:extLst>
              <a:ext uri="{FF2B5EF4-FFF2-40B4-BE49-F238E27FC236}">
                <a16:creationId xmlns:a16="http://schemas.microsoft.com/office/drawing/2014/main" id="{D32889DC-4012-40DA-82BB-E170BA40866E}"/>
              </a:ext>
            </a:extLst>
          </p:cNvPr>
          <p:cNvSpPr>
            <a:spLocks noGrp="1"/>
          </p:cNvSpPr>
          <p:nvPr/>
        </p:nvSpPr>
        <p:spPr>
          <a:xfrm>
            <a:off x="4943475" y="3352800"/>
            <a:ext cx="66389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Diseño que puede mantener el equipo</a:t>
            </a:r>
          </a:p>
        </p:txBody>
      </p:sp>
      <p:sp>
        <p:nvSpPr>
          <p:cNvPr id="10" name="texto-9">
            <a:extLst>
              <a:ext uri="{FF2B5EF4-FFF2-40B4-BE49-F238E27FC236}">
                <a16:creationId xmlns:a16="http://schemas.microsoft.com/office/drawing/2014/main" id="{7A4C0FF6-C5C0-4098-B9E7-41569EB190AB}"/>
              </a:ext>
            </a:extLst>
          </p:cNvPr>
          <p:cNvSpPr>
            <a:spLocks noGrp="1"/>
          </p:cNvSpPr>
          <p:nvPr/>
        </p:nvSpPr>
        <p:spPr>
          <a:xfrm>
            <a:off x="4943475" y="3933825"/>
            <a:ext cx="66389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GestorPrioridades centraliza los cambios.</a:t>
            </a:r>
          </a:p>
          <a:p>
            <a:pPr>
              <a:buNone/>
              <a:def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DE7E8"/>
                </a:solidFill>
                <a:latin typeface="DejaVu Sans"/>
                <a:ea typeface="DejaVu Sans"/>
                <a:cs typeface="DejaVu Sans"/>
              </a:rPr>
              <a:t>Colecciones estándar de Java y memoria lineal.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60D472B-FFEE-4B62-9BD2-3E8E9F6D20B0}"/>
              </a:ext>
            </a:extLst>
          </p:cNvPr>
          <p:cNvCxnSpPr/>
          <p:nvPr/>
        </p:nvCxnSpPr>
        <p:spPr>
          <a:xfrm>
            <a:off x="4943475" y="5238750"/>
            <a:ext cx="6638925" cy="0"/>
          </a:xfrm>
          <a:prstGeom prst="straightConnector1">
            <a:avLst/>
          </a:prstGeom>
          <a:ln w="9525">
            <a:solidFill>
              <a:srgbClr val="52727E"/>
            </a:solidFill>
            <a:prstDash val="solid"/>
          </a:ln>
        </p:spPr>
      </p:cxnSp>
      <p:sp>
        <p:nvSpPr>
          <p:cNvPr id="12" name="texto-11">
            <a:extLst>
              <a:ext uri="{FF2B5EF4-FFF2-40B4-BE49-F238E27FC236}">
                <a16:creationId xmlns:a16="http://schemas.microsoft.com/office/drawing/2014/main" id="{E89C7F3A-A775-4562-8959-7D447073A393}"/>
              </a:ext>
            </a:extLst>
          </p:cNvPr>
          <p:cNvSpPr>
            <a:spLocks noGrp="1"/>
          </p:cNvSpPr>
          <p:nvPr/>
        </p:nvSpPr>
        <p:spPr>
          <a:xfrm>
            <a:off x="4943475" y="5524500"/>
            <a:ext cx="66389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Con 100 actividades, ambas opciones son viables.</a:t>
            </a:r>
          </a:p>
          <a:p>
            <a:pPr>
              <a:buNone/>
              <a:def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E1DF"/>
                </a:solidFill>
                <a:latin typeface="DejaVu Sans"/>
                <a:ea typeface="DejaVu Sans"/>
                <a:cs typeface="DejaVu Sans"/>
              </a:rPr>
              <a:t>Las extracciones arbitrarias siguen siendo O(q).</a:t>
            </a:r>
          </a:p>
        </p:txBody>
      </p:sp>
    </p:spTree>
    <p:extLst>
      <p:ext uri="{BB962C8B-B14F-4D97-AF65-F5344CB8AC3E}">
        <p14:creationId xmlns:p14="http://schemas.microsoft.com/office/powerpoint/2010/main" val="185671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38C8594-0B14-4F4A-9EA3-2256DF6DEC4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8305800" y="4452938"/>
            <a:ext cx="457200" cy="0"/>
          </a:xfrm>
          <a:prstGeom prst="straightConnector1">
            <a:avLst/>
          </a:prstGeom>
          <a:ln w="16193">
            <a:solidFill>
              <a:srgbClr val="52626B"/>
            </a:solidFill>
            <a:prstDash val="solid"/>
            <a:tailEnd type="arrow" w="med" len="med"/>
          </a:ln>
        </p:spPr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798504A7-2AC7-4536-A961-49F840486FC2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5915025" y="3152775"/>
            <a:ext cx="161925" cy="7620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52626B"/>
            </a:solidFill>
            <a:prstDash val="solid"/>
            <a:tailEnd type="arrow" w="med" len="med"/>
          </a:ln>
        </p:spPr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A3FF6FD-A619-4A3D-AEB7-A9BBC918C98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6819900" y="2524125"/>
            <a:ext cx="1771650" cy="9525"/>
          </a:xfrm>
          <a:prstGeom prst="straightConnector1">
            <a:avLst/>
          </a:prstGeom>
          <a:ln w="16193">
            <a:solidFill>
              <a:srgbClr val="52626B"/>
            </a:solidFill>
            <a:prstDash val="solid"/>
            <a:tailEnd type="arrow" w="med" len="med"/>
          </a:ln>
        </p:spPr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B2C3278-C8D6-4661-B590-740316DC716D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133850" y="2524125"/>
            <a:ext cx="876300" cy="9525"/>
          </a:xfrm>
          <a:prstGeom prst="straightConnector1">
            <a:avLst/>
          </a:prstGeom>
          <a:ln w="16193">
            <a:solidFill>
              <a:srgbClr val="52626B"/>
            </a:solidFill>
            <a:prstDash val="solid"/>
            <a:tailEnd type="arrow" w="med" len="med"/>
          </a:ln>
        </p:spPr>
      </p:cxnSp>
      <p:sp>
        <p:nvSpPr>
          <p:cNvPr id="24" name="texto-0">
            <a:extLst>
              <a:ext uri="{FF2B5EF4-FFF2-40B4-BE49-F238E27FC236}">
                <a16:creationId xmlns:a16="http://schemas.microsoft.com/office/drawing/2014/main" id="{3DA275E4-C97B-4847-964C-0DDC5226F4C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Si la primera tarea no tiene personal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1817652-4751-43D7-AA06-D3AD300802C8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B9319969-30D4-45EA-9BA3-DAC1C94EA6E7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D7EB4B73-5A2D-4D79-8E46-C6734D0F6845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09 / 10</a:t>
            </a:r>
          </a:p>
        </p:txBody>
      </p:sp>
      <p:sp>
        <p:nvSpPr>
          <p:cNvPr id="5" name="texto-4">
            <a:extLst>
              <a:ext uri="{FF2B5EF4-FFF2-40B4-BE49-F238E27FC236}">
                <a16:creationId xmlns:a16="http://schemas.microsoft.com/office/drawing/2014/main" id="{6F8F9FB7-D606-4373-B53B-16425C3457AC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Ejemplo ilustrativo · A01 requiere gypsum; A02, pintura.</a:t>
            </a:r>
          </a:p>
        </p:txBody>
      </p:sp>
      <p:sp>
        <p:nvSpPr>
          <p:cNvPr id="6" name="A01">
            <a:extLst>
              <a:ext uri="{FF2B5EF4-FFF2-40B4-BE49-F238E27FC236}">
                <a16:creationId xmlns:a16="http://schemas.microsoft.com/office/drawing/2014/main" id="{D79BE539-2412-41EB-9D89-2E2B980A425C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524250" cy="1047750"/>
          </a:xfrm>
          <a:prstGeom prst="rect">
            <a:avLst/>
          </a:prstGeom>
          <a:solidFill>
            <a:srgbClr val="F1F5F4"/>
          </a:solidFill>
          <a:ln w="11430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o-6">
            <a:extLst>
              <a:ext uri="{FF2B5EF4-FFF2-40B4-BE49-F238E27FC236}">
                <a16:creationId xmlns:a16="http://schemas.microsoft.com/office/drawing/2014/main" id="{A94CC2AF-980D-43DE-9568-854668408033}"/>
              </a:ext>
            </a:extLst>
          </p:cNvPr>
          <p:cNvSpPr>
            <a:spLocks noGrp="1"/>
          </p:cNvSpPr>
          <p:nvPr/>
        </p:nvSpPr>
        <p:spPr>
          <a:xfrm>
            <a:off x="771525" y="2190750"/>
            <a:ext cx="320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A01 · Alta · Gypsum</a:t>
            </a:r>
          </a:p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Especialistas ocupados</a:t>
            </a:r>
          </a:p>
        </p:txBody>
      </p:sp>
      <p:sp>
        <p:nvSpPr>
          <p:cNvPr id="8" name="Decision">
            <a:extLst>
              <a:ext uri="{FF2B5EF4-FFF2-40B4-BE49-F238E27FC236}">
                <a16:creationId xmlns:a16="http://schemas.microsoft.com/office/drawing/2014/main" id="{80D1372B-DEBA-4262-B53A-AA9201406E7A}"/>
              </a:ext>
            </a:extLst>
          </p:cNvPr>
          <p:cNvSpPr>
            <a:spLocks noGrp="1"/>
          </p:cNvSpPr>
          <p:nvPr/>
        </p:nvSpPr>
        <p:spPr>
          <a:xfrm>
            <a:off x="5010150" y="1914525"/>
            <a:ext cx="1809750" cy="1238250"/>
          </a:xfrm>
          <a:prstGeom prst="diamond">
            <a:avLst/>
          </a:prstGeom>
          <a:solidFill>
            <a:srgbClr val="FFFFFF"/>
          </a:solidFill>
          <a:ln w="11430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o-8">
            <a:extLst>
              <a:ext uri="{FF2B5EF4-FFF2-40B4-BE49-F238E27FC236}">
                <a16:creationId xmlns:a16="http://schemas.microsoft.com/office/drawing/2014/main" id="{A5102085-189E-4B70-A1A8-F97A369CC2F5}"/>
              </a:ext>
            </a:extLst>
          </p:cNvPr>
          <p:cNvSpPr>
            <a:spLocks noGrp="1"/>
          </p:cNvSpPr>
          <p:nvPr/>
        </p:nvSpPr>
        <p:spPr>
          <a:xfrm>
            <a:off x="5133975" y="2286000"/>
            <a:ext cx="1562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¿Consultar</a:t>
            </a:r>
          </a:p>
          <a:p>
            <a:pPr algn="ctr"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otras?</a:t>
            </a:r>
          </a:p>
        </p:txBody>
      </p:sp>
      <p:sp>
        <p:nvSpPr>
          <p:cNvPr id="10" name="Esperar">
            <a:extLst>
              <a:ext uri="{FF2B5EF4-FFF2-40B4-BE49-F238E27FC236}">
                <a16:creationId xmlns:a16="http://schemas.microsoft.com/office/drawing/2014/main" id="{BAD5BBEB-6122-43DB-AF56-51E2BB208257}"/>
              </a:ext>
            </a:extLst>
          </p:cNvPr>
          <p:cNvSpPr>
            <a:spLocks noGrp="1"/>
          </p:cNvSpPr>
          <p:nvPr/>
        </p:nvSpPr>
        <p:spPr>
          <a:xfrm>
            <a:off x="8591550" y="2000250"/>
            <a:ext cx="2990850" cy="1047750"/>
          </a:xfrm>
          <a:prstGeom prst="rect">
            <a:avLst/>
          </a:prstGeom>
          <a:solidFill>
            <a:srgbClr val="F1F5F4"/>
          </a:solidFill>
          <a:ln w="11430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o-10">
            <a:extLst>
              <a:ext uri="{FF2B5EF4-FFF2-40B4-BE49-F238E27FC236}">
                <a16:creationId xmlns:a16="http://schemas.microsoft.com/office/drawing/2014/main" id="{31835E38-08C1-44FC-AE7F-5AE0261DF0C9}"/>
              </a:ext>
            </a:extLst>
          </p:cNvPr>
          <p:cNvSpPr>
            <a:spLocks noGrp="1"/>
          </p:cNvSpPr>
          <p:nvPr/>
        </p:nvSpPr>
        <p:spPr>
          <a:xfrm>
            <a:off x="8753475" y="21907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Esperar</a:t>
            </a:r>
          </a:p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A01 sigue pendiente</a:t>
            </a:r>
          </a:p>
        </p:txBody>
      </p:sp>
      <p:sp>
        <p:nvSpPr>
          <p:cNvPr id="12" name="Alternativas">
            <a:extLst>
              <a:ext uri="{FF2B5EF4-FFF2-40B4-BE49-F238E27FC236}">
                <a16:creationId xmlns:a16="http://schemas.microsoft.com/office/drawing/2014/main" id="{82AE342C-365A-4872-9B6F-E4E162E408D9}"/>
              </a:ext>
            </a:extLst>
          </p:cNvPr>
          <p:cNvSpPr>
            <a:spLocks noGrp="1"/>
          </p:cNvSpPr>
          <p:nvPr/>
        </p:nvSpPr>
        <p:spPr>
          <a:xfrm>
            <a:off x="3848100" y="3914775"/>
            <a:ext cx="4457700" cy="1076325"/>
          </a:xfrm>
          <a:prstGeom prst="rect">
            <a:avLst/>
          </a:prstGeom>
          <a:solidFill>
            <a:srgbClr val="F1F5F4"/>
          </a:solidFill>
          <a:ln w="11430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o-12">
            <a:extLst>
              <a:ext uri="{FF2B5EF4-FFF2-40B4-BE49-F238E27FC236}">
                <a16:creationId xmlns:a16="http://schemas.microsoft.com/office/drawing/2014/main" id="{66CBCB82-4824-41BF-99F8-73A0F8D99F49}"/>
              </a:ext>
            </a:extLst>
          </p:cNvPr>
          <p:cNvSpPr>
            <a:spLocks noGrp="1"/>
          </p:cNvSpPr>
          <p:nvPr/>
        </p:nvSpPr>
        <p:spPr>
          <a:xfrm>
            <a:off x="4010025" y="4105275"/>
            <a:ext cx="41338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Lista ordenada de una copia</a:t>
            </a:r>
          </a:p>
          <a:p>
            <a:pPr>
              <a:buNone/>
              <a:def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A02 · Media · Pintura libre</a:t>
            </a:r>
          </a:p>
        </p:txBody>
      </p:sp>
      <p:sp>
        <p:nvSpPr>
          <p:cNvPr id="14" name="Confirmar">
            <a:extLst>
              <a:ext uri="{FF2B5EF4-FFF2-40B4-BE49-F238E27FC236}">
                <a16:creationId xmlns:a16="http://schemas.microsoft.com/office/drawing/2014/main" id="{CF7236A3-2F44-405E-A88A-C3274052262F}"/>
              </a:ext>
            </a:extLst>
          </p:cNvPr>
          <p:cNvSpPr>
            <a:spLocks noGrp="1"/>
          </p:cNvSpPr>
          <p:nvPr/>
        </p:nvSpPr>
        <p:spPr>
          <a:xfrm>
            <a:off x="8763000" y="3914775"/>
            <a:ext cx="2819400" cy="1076325"/>
          </a:xfrm>
          <a:prstGeom prst="rect">
            <a:avLst/>
          </a:prstGeom>
          <a:solidFill>
            <a:srgbClr val="E3F1EE"/>
          </a:solidFill>
          <a:ln w="11430">
            <a:solidFill>
              <a:srgbClr val="5262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o-14">
            <a:extLst>
              <a:ext uri="{FF2B5EF4-FFF2-40B4-BE49-F238E27FC236}">
                <a16:creationId xmlns:a16="http://schemas.microsoft.com/office/drawing/2014/main" id="{B2093626-D177-4BAD-8B87-75DB44BDA922}"/>
              </a:ext>
            </a:extLst>
          </p:cNvPr>
          <p:cNvSpPr>
            <a:spLocks noGrp="1"/>
          </p:cNvSpPr>
          <p:nvPr/>
        </p:nvSpPr>
        <p:spPr>
          <a:xfrm>
            <a:off x="8924925" y="4105275"/>
            <a:ext cx="2495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Validar y confirmar A02</a:t>
            </a:r>
          </a:p>
          <a:p>
            <a:pPr>
              <a:buNone/>
              <a:def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Retirar A02 · O(q)</a:t>
            </a:r>
          </a:p>
        </p:txBody>
      </p:sp>
      <p:sp>
        <p:nvSpPr>
          <p:cNvPr id="18" name="texto-17">
            <a:extLst>
              <a:ext uri="{FF2B5EF4-FFF2-40B4-BE49-F238E27FC236}">
                <a16:creationId xmlns:a16="http://schemas.microsoft.com/office/drawing/2014/main" id="{0F7B1978-6708-4935-8013-5B27B425BC0B}"/>
              </a:ext>
            </a:extLst>
          </p:cNvPr>
          <p:cNvSpPr>
            <a:spLocks noGrp="1"/>
          </p:cNvSpPr>
          <p:nvPr/>
        </p:nvSpPr>
        <p:spPr>
          <a:xfrm>
            <a:off x="7515225" y="2200275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No</a:t>
            </a:r>
          </a:p>
        </p:txBody>
      </p:sp>
      <p:sp>
        <p:nvSpPr>
          <p:cNvPr id="20" name="texto-19">
            <a:extLst>
              <a:ext uri="{FF2B5EF4-FFF2-40B4-BE49-F238E27FC236}">
                <a16:creationId xmlns:a16="http://schemas.microsoft.com/office/drawing/2014/main" id="{2DF914CB-0985-4A21-9E6E-62137176E8D9}"/>
              </a:ext>
            </a:extLst>
          </p:cNvPr>
          <p:cNvSpPr>
            <a:spLocks noGrp="1"/>
          </p:cNvSpPr>
          <p:nvPr/>
        </p:nvSpPr>
        <p:spPr>
          <a:xfrm>
            <a:off x="6134100" y="3400425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Sí</a:t>
            </a:r>
          </a:p>
        </p:txBody>
      </p:sp>
      <p:sp>
        <p:nvSpPr>
          <p:cNvPr id="22" name="texto-21">
            <a:extLst>
              <a:ext uri="{FF2B5EF4-FFF2-40B4-BE49-F238E27FC236}">
                <a16:creationId xmlns:a16="http://schemas.microsoft.com/office/drawing/2014/main" id="{5E4AA0EE-B93B-478D-88F8-2D148465CB46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A01 conserva su prioridad y permanece en la cola.</a:t>
            </a:r>
          </a:p>
        </p:txBody>
      </p:sp>
      <p:sp>
        <p:nvSpPr>
          <p:cNvPr id="23" name="texto-22">
            <a:extLst>
              <a:ext uri="{FF2B5EF4-FFF2-40B4-BE49-F238E27FC236}">
                <a16:creationId xmlns:a16="http://schemas.microsoft.com/office/drawing/2014/main" id="{17C1F608-CD56-4C4F-AE49-A317C79123DA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Si la validación falla o ninguna alternativa es viable, la cola no cambia.</a:t>
            </a:r>
          </a:p>
        </p:txBody>
      </p:sp>
    </p:spTree>
    <p:extLst>
      <p:ext uri="{BB962C8B-B14F-4D97-AF65-F5344CB8AC3E}">
        <p14:creationId xmlns:p14="http://schemas.microsoft.com/office/powerpoint/2010/main" val="19314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o-0">
            <a:extLst>
              <a:ext uri="{FF2B5EF4-FFF2-40B4-BE49-F238E27FC236}">
                <a16:creationId xmlns:a16="http://schemas.microsoft.com/office/drawing/2014/main" id="{C727AF22-D2F4-402D-B9E7-135990905C1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Plan para Progreso 2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2815CB1D-935A-480D-B2DA-CF5CA0CA9C9A}"/>
              </a:ext>
            </a:extLst>
          </p:cNvPr>
          <p:cNvCxnSpPr/>
          <p:nvPr/>
        </p:nvCxnSpPr>
        <p:spPr>
          <a:xfrm>
            <a:off x="609600" y="1133475"/>
            <a:ext cx="10972800" cy="0"/>
          </a:xfrm>
          <a:prstGeom prst="straightConnector1">
            <a:avLst/>
          </a:prstGeom>
          <a:ln w="9525">
            <a:solidFill>
              <a:srgbClr val="CAD5D8"/>
            </a:solidFill>
            <a:prstDash val="solid"/>
          </a:ln>
        </p:spPr>
      </p:cxnSp>
      <p:sp>
        <p:nvSpPr>
          <p:cNvPr id="3" name="texto-2">
            <a:extLst>
              <a:ext uri="{FF2B5EF4-FFF2-40B4-BE49-F238E27FC236}">
                <a16:creationId xmlns:a16="http://schemas.microsoft.com/office/drawing/2014/main" id="{BC1069CF-4372-4D53-B880-7A0E54B10DD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Dizeo · Programación III</a:t>
            </a:r>
          </a:p>
        </p:txBody>
      </p:sp>
      <p:sp>
        <p:nvSpPr>
          <p:cNvPr id="4" name="texto-3">
            <a:extLst>
              <a:ext uri="{FF2B5EF4-FFF2-40B4-BE49-F238E27FC236}">
                <a16:creationId xmlns:a16="http://schemas.microsoft.com/office/drawing/2014/main" id="{451DFCF1-F0BC-4496-A106-5867F86BDD33}"/>
              </a:ext>
            </a:extLst>
          </p:cNvPr>
          <p:cNvSpPr>
            <a:spLocks noGrp="1"/>
          </p:cNvSpPr>
          <p:nvPr/>
        </p:nvSpPr>
        <p:spPr>
          <a:xfrm>
            <a:off x="10829925" y="650557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26B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173BFCB-DC4C-4093-B95C-7DEA5BE99486}"/>
              </a:ext>
            </a:extLst>
          </p:cNvPr>
          <p:cNvGraphicFramePr/>
          <p:nvPr/>
        </p:nvGraphicFramePr>
        <p:xfrm>
          <a:off x="609600" y="1581150"/>
          <a:ext cx="7029450" cy="3248024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Integrante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Módulos y componentes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1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Daniel Valarezo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Obras y Seguimiento.</a:t>
                      </a:r>
                    </a:p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Problema y documentación.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Esteban Figueroa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Trabajadores y Asignación.</a:t>
                      </a:r>
                    </a:p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Disponibilidad y horarios.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Julián Jiménez</a:t>
                      </a:r>
                    </a:p>
                  </a:txBody>
                  <a:tcPr anchor="ctr">
                    <a:lnL w="6668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Actividades y GestorPrioridades.</a:t>
                      </a:r>
                    </a:p>
                    <a:p>
                      <a:r>
                        <a:rPr sz="1875" b="0">
                          <a:solidFill>
                            <a:srgbClr val="142F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Comparador, cola y UML.</a:t>
                      </a:r>
                    </a:p>
                  </a:txBody>
                  <a:tcPr anchor="ctr">
                    <a:lnL w="6668" cmpd="sng">
                      <a:solidFill>
                        <a:srgbClr val="CAD5D8"/>
                      </a:solidFill>
                      <a:prstDash val="solid"/>
                    </a:lnL>
                    <a:lnR w="6668">
                      <a:solidFill>
                        <a:srgbClr val="CAD5D8"/>
                      </a:solidFill>
                      <a:prstDash val="solid"/>
                    </a:lnR>
                    <a:lnT w="6668" cmpd="sng">
                      <a:solidFill>
                        <a:srgbClr val="CAD5D8"/>
                      </a:solidFill>
                      <a:prstDash val="solid"/>
                    </a:lnT>
                    <a:lnB w="6668">
                      <a:solidFill>
                        <a:srgbClr val="CA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o-4">
            <a:extLst>
              <a:ext uri="{FF2B5EF4-FFF2-40B4-BE49-F238E27FC236}">
                <a16:creationId xmlns:a16="http://schemas.microsoft.com/office/drawing/2014/main" id="{F2B45DB6-3AAD-4A7E-AB93-44B6503DEE55}"/>
              </a:ext>
            </a:extLst>
          </p:cNvPr>
          <p:cNvSpPr>
            <a:spLocks noGrp="1"/>
          </p:cNvSpPr>
          <p:nvPr/>
        </p:nvSpPr>
        <p:spPr>
          <a:xfrm>
            <a:off x="8020050" y="1581150"/>
            <a:ext cx="3562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Etapas de trabajo</a:t>
            </a:r>
          </a:p>
        </p:txBody>
      </p:sp>
      <p:sp>
        <p:nvSpPr>
          <p:cNvPr id="7" name="texto-5">
            <a:extLst>
              <a:ext uri="{FF2B5EF4-FFF2-40B4-BE49-F238E27FC236}">
                <a16:creationId xmlns:a16="http://schemas.microsoft.com/office/drawing/2014/main" id="{81D7752D-606E-4E28-9503-B9E22C272CCB}"/>
              </a:ext>
            </a:extLst>
          </p:cNvPr>
          <p:cNvSpPr>
            <a:spLocks noGrp="1"/>
          </p:cNvSpPr>
          <p:nvPr/>
        </p:nvSpPr>
        <p:spPr>
          <a:xfrm>
            <a:off x="8020050" y="2152650"/>
            <a:ext cx="35623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rPr>
              <a:t>1. Clases y colecciones</a:t>
            </a:r>
          </a:p>
          <a:p>
            <a:pPr>
              <a:buNone/>
              <a:def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rPr>
              <a:t>2. Módulos e interfaz Swing</a:t>
            </a:r>
          </a:p>
          <a:p>
            <a:pPr>
              <a:buNone/>
              <a:def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rPr>
              <a:t>3. Integración y pruebas</a:t>
            </a:r>
          </a:p>
          <a:p>
            <a:pPr>
              <a:buNone/>
              <a:def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3243"/>
                </a:solidFill>
                <a:latin typeface="DejaVu Sans"/>
                <a:ea typeface="DejaVu Sans"/>
                <a:cs typeface="DejaVu Sans"/>
              </a:rPr>
              <a:t>4. Documentación y demo</a:t>
            </a:r>
          </a:p>
        </p:txBody>
      </p:sp>
      <p:sp>
        <p:nvSpPr>
          <p:cNvPr id="8" name="texto-6">
            <a:extLst>
              <a:ext uri="{FF2B5EF4-FFF2-40B4-BE49-F238E27FC236}">
                <a16:creationId xmlns:a16="http://schemas.microsoft.com/office/drawing/2014/main" id="{A1EC5A6B-2DA6-4EF3-98F3-D1E640BBCAF1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E83"/>
                </a:solidFill>
                <a:latin typeface="DejaVu Sans"/>
                <a:ea typeface="DejaVu Sans"/>
                <a:cs typeface="DejaVu Sans"/>
              </a:rPr>
              <a:t>Pruebas y control de riesgos</a:t>
            </a:r>
          </a:p>
        </p:txBody>
      </p:sp>
      <p:sp>
        <p:nvSpPr>
          <p:cNvPr id="9" name="texto-7">
            <a:extLst>
              <a:ext uri="{FF2B5EF4-FFF2-40B4-BE49-F238E27FC236}">
                <a16:creationId xmlns:a16="http://schemas.microsoft.com/office/drawing/2014/main" id="{4F28C3EB-5E29-41C9-B5F5-E5D84DEFCDE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Pruebas: cruces de horario, prioridades y asignaciones fallidas.</a:t>
            </a:r>
          </a:p>
          <a:p>
            <a:pPr>
              <a:buNone/>
              <a:def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0"/>
                </a:solidFill>
                <a:latin typeface="DejaVu Sans"/>
                <a:ea typeface="DejaVu Sans"/>
                <a:cs typeface="DejaVu Sans"/>
              </a:rPr>
              <a:t>Mitigación: validar antes de guardar y conservar el estado si algo falla.</a:t>
            </a:r>
          </a:p>
        </p:txBody>
      </p:sp>
    </p:spTree>
    <p:extLst>
      <p:ext uri="{BB962C8B-B14F-4D97-AF65-F5344CB8AC3E}">
        <p14:creationId xmlns:p14="http://schemas.microsoft.com/office/powerpoint/2010/main" val="831952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DocSecurity>0</DocSecurity>
  <PresentationFormat>Panorámica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DejaVu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(Estudiante) Esteban Javier Figueroa Paredes</cp:lastModifiedBy>
  <cp:revision>1</cp:revision>
  <dcterms:created xsi:type="dcterms:W3CDTF">2026-10-19T02:54:37Z</dcterms:created>
  <dcterms:modified xsi:type="dcterms:W3CDTF">2026-10-19T02:57:34Z</dcterms:modified>
</cp:coreProperties>
</file>