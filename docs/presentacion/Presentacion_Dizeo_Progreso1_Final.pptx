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6d5501de6848be" /><Relationship Type="http://schemas.openxmlformats.org/officeDocument/2006/relationships/extended-properties" Target="/docProps/app.xml" Id="Rad34f07fa3154679" /><Relationship Type="http://schemas.openxmlformats.org/officeDocument/2006/relationships/officeDocument" Target="/ppt/presentation.xml" Id="R798b79304621425e" /></Relationships>
</file>

<file path=ppt/presentation.xml><?xml version="1.0" encoding="utf-8"?>
<p:presentation xmlns:p="http://schemas.openxmlformats.org/presentationml/2006/main">
  <p:sldMasterIdLst>
    <p:sldMasterId xmlns:r="http://schemas.openxmlformats.org/officeDocument/2006/relationships" id="2147483648" r:id="R251edbabe6af4251"/>
  </p:sldMasterIdLst>
  <p:notesMasterIdLst>
    <p:notesMasterId xmlns:r="http://schemas.openxmlformats.org/officeDocument/2006/relationships" r:id="Rf7a45326c3b94e34"/>
  </p:notesMasterIdLst>
  <p:sldIdLst>
    <p:sldId xmlns:r="http://schemas.openxmlformats.org/officeDocument/2006/relationships" id="256" r:id="R58c24a3852434be8"/>
    <p:sldId xmlns:r="http://schemas.openxmlformats.org/officeDocument/2006/relationships" id="257" r:id="Rf436e5262e3c4ef0"/>
    <p:sldId xmlns:r="http://schemas.openxmlformats.org/officeDocument/2006/relationships" id="258" r:id="Rabbdc7c570ab4d51"/>
    <p:sldId xmlns:r="http://schemas.openxmlformats.org/officeDocument/2006/relationships" id="259" r:id="Rd859e27b51cb469c"/>
    <p:sldId xmlns:r="http://schemas.openxmlformats.org/officeDocument/2006/relationships" id="260" r:id="Rf668be5417bd472e"/>
    <p:sldId xmlns:r="http://schemas.openxmlformats.org/officeDocument/2006/relationships" id="261" r:id="Rbc16bc05c6d34872"/>
    <p:sldId xmlns:r="http://schemas.openxmlformats.org/officeDocument/2006/relationships" id="262" r:id="Rc33e3c8fa6454e70"/>
    <p:sldId xmlns:r="http://schemas.openxmlformats.org/officeDocument/2006/relationships" id="263" r:id="R90d5b7d4a7f84d01"/>
    <p:sldId xmlns:r="http://schemas.openxmlformats.org/officeDocument/2006/relationships" id="264" r:id="R28bb0e3503474d3b"/>
    <p:sldId xmlns:r="http://schemas.openxmlformats.org/officeDocument/2006/relationships" id="265" r:id="Rf76e99bb817a41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1919933c09449a" /><Relationship Type="http://schemas.openxmlformats.org/officeDocument/2006/relationships/slideMaster" Target="/ppt/slideMasters/slideMaster1.xml" Id="R251edbabe6af4251" /><Relationship Type="http://schemas.openxmlformats.org/officeDocument/2006/relationships/notesMaster" Target="/ppt/notesMasters/notesMaster1.xml" Id="Rf7a45326c3b94e34" /><Relationship Type="http://schemas.openxmlformats.org/officeDocument/2006/relationships/presProps" Target="/ppt/presProps.xml" Id="R6ec1124954824f4e" /><Relationship Type="http://schemas.openxmlformats.org/officeDocument/2006/relationships/tableStyles" Target="/ppt/tableStyles.xml" Id="R5059082874f74724" /><Relationship Type="http://schemas.openxmlformats.org/officeDocument/2006/relationships/slide" Target="/ppt/slides/slide1.xml" Id="R58c24a3852434be8" /><Relationship Type="http://schemas.openxmlformats.org/officeDocument/2006/relationships/slide" Target="/ppt/slides/slide2.xml" Id="Rf436e5262e3c4ef0" /><Relationship Type="http://schemas.openxmlformats.org/officeDocument/2006/relationships/slide" Target="/ppt/slides/slide3.xml" Id="Rabbdc7c570ab4d51" /><Relationship Type="http://schemas.openxmlformats.org/officeDocument/2006/relationships/slide" Target="/ppt/slides/slide4.xml" Id="Rd859e27b51cb469c" /><Relationship Type="http://schemas.openxmlformats.org/officeDocument/2006/relationships/slide" Target="/ppt/slides/slide5.xml" Id="Rf668be5417bd472e" /><Relationship Type="http://schemas.openxmlformats.org/officeDocument/2006/relationships/slide" Target="/ppt/slides/slide6.xml" Id="Rbc16bc05c6d34872" /><Relationship Type="http://schemas.openxmlformats.org/officeDocument/2006/relationships/slide" Target="/ppt/slides/slide7.xml" Id="Rc33e3c8fa6454e70" /><Relationship Type="http://schemas.openxmlformats.org/officeDocument/2006/relationships/slide" Target="/ppt/slides/slide8.xml" Id="R90d5b7d4a7f84d01" /><Relationship Type="http://schemas.openxmlformats.org/officeDocument/2006/relationships/slide" Target="/ppt/slides/slide9.xml" Id="R28bb0e3503474d3b" /><Relationship Type="http://schemas.openxmlformats.org/officeDocument/2006/relationships/slide" Target="/ppt/slides/slide10.xml" Id="Rf76e99bb817a41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2a225ee72d45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3e22588f0b4671" /><Relationship Type="http://schemas.openxmlformats.org/officeDocument/2006/relationships/notesMaster" Target="/ppt/notesMasters/notesMaster1.xml" Id="R638bbae433e04a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e68a3462bf4b38" /><Relationship Type="http://schemas.openxmlformats.org/officeDocument/2006/relationships/notesMaster" Target="/ppt/notesMasters/notesMaster1.xml" Id="R4cb8746ffa3b44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dd4aefcf3f4ad8" /><Relationship Type="http://schemas.openxmlformats.org/officeDocument/2006/relationships/notesMaster" Target="/ppt/notesMasters/notesMaster1.xml" Id="R4a061034967343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9ebadd18db4ce5" /><Relationship Type="http://schemas.openxmlformats.org/officeDocument/2006/relationships/notesMaster" Target="/ppt/notesMasters/notesMaster1.xml" Id="R8baa99b69ab241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b6563c171a471e" /><Relationship Type="http://schemas.openxmlformats.org/officeDocument/2006/relationships/notesMaster" Target="/ppt/notesMasters/notesMaster1.xml" Id="R38e01ab9839442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e38a784f614e23" /><Relationship Type="http://schemas.openxmlformats.org/officeDocument/2006/relationships/notesMaster" Target="/ppt/notesMasters/notesMaster1.xml" Id="R809d8f5a6cdd4b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9ff0eb9e044c06" /><Relationship Type="http://schemas.openxmlformats.org/officeDocument/2006/relationships/notesMaster" Target="/ppt/notesMasters/notesMaster1.xml" Id="R862ff8fa642745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30c4cfe59943bd" /><Relationship Type="http://schemas.openxmlformats.org/officeDocument/2006/relationships/notesMaster" Target="/ppt/notesMasters/notesMaster1.xml" Id="R32069e7625fb42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14070890154a75" /><Relationship Type="http://schemas.openxmlformats.org/officeDocument/2006/relationships/notesMaster" Target="/ppt/notesMasters/notesMaster1.xml" Id="R222f410c404b49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468d27b91d47b7" /><Relationship Type="http://schemas.openxmlformats.org/officeDocument/2006/relationships/notesMaster" Target="/ppt/notesMasters/notesMaster1.xml" Id="Rc2534129503f41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Daniel. Tiempo: 35 segundos.</a:t>
            </a:r>
          </a:p>
          <a:p xmlns:a="http://schemas.openxmlformats.org/drawingml/2006/main">
            <a:r>
              <a:t/>
            </a:r>
          </a:p>
          <a:p xmlns:a="http://schemas.openxmlformats.org/drawingml/2006/main">
            <a:r>
              <a:t>Presentamos el análisis y diseño de Dizeo. El proyecto organiza la asignación de trabajadores y actividades entre obras. En Progreso 1 delimitamos el problema, definimos módulos y clases y comparamos dos alternativas. La implementación corresponde al siguiente progreso. El equipo está integrado por Daniel, Esteban y Julián.</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Daniel. Tiempo: 1 minuto.</a:t>
            </a:r>
          </a:p>
          <a:p xmlns:a="http://schemas.openxmlformats.org/drawingml/2006/main">
            <a:r>
              <a:t/>
            </a:r>
          </a:p>
          <a:p xmlns:a="http://schemas.openxmlformats.org/drawingml/2006/main">
            <a:r>
              <a:t>El problema aparece cuando varias obras comparten trabajadores y especialidades. Una decisión sobre una obra puede afectar otra. La información dispersa sobre disponibilidad, dependencias o cambios puede generar incompatibilidades. Durdyev y Hosseini encuentran causas de retrasos relacionadas con coordinación, comunicación y planificación. Esto respalda investigar el problema, sin demostrar que esas causas ya se midieron en Dizeo. La revisión de Gómez Sánchez y colaboradores conecta recursos limitados y precedencias entre proyectos. Los clientes reciben el efecto sobre los compromisos, aunque no operarán la primera versión.</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a:p xmlns:a="http://schemas.openxmlformats.org/drawingml/2006/main">
            <a:r>
              <a:t/>
            </a:r>
          </a:p>
          <a:p xmlns:a="http://schemas.openxmlformats.org/drawingml/2006/main">
            <a:r>
              <a:t>Durdyev, S., &amp; Hosseini, M. R. (2020). Causes of delays on construction projects: A comprehensive list. International Journal of Managing Projects in Business, 13(1), 20–46. https://doi.org/10.1108/IJMPB-09-2018-0178</a:t>
            </a:r>
          </a:p>
          <a:p xmlns:a="http://schemas.openxmlformats.org/drawingml/2006/main">
            <a:r>
              <a:t/>
            </a:r>
          </a:p>
          <a:p xmlns:a="http://schemas.openxmlformats.org/drawingml/2006/main">
            <a:r>
              <a:t>Gómez Sánchez, M., Lalla-Ruiz, E., Fernández Gil, A., Castro, C., &amp; Voß, S. (2023). Resource-constrained multi-project scheduling problem: A survey. European Journal of Operational Research, 309(3), 958–976. https://doi.org/10.1016/j.ejor.2022.09.033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Esteban. Tiempo: 50 segundos.</a:t>
            </a:r>
          </a:p>
          <a:p xmlns:a="http://schemas.openxmlformats.org/drawingml/2006/main">
            <a:r>
              <a:t/>
            </a:r>
          </a:p>
          <a:p xmlns:a="http://schemas.openxmlformats.org/drawingml/2006/main">
            <a:r>
              <a:t>Las variables sirven para describir el problema y luego evaluar el piloto. Mediremos carga y disponibilidad por persona, conflictos y actividades sin responsable. Las prioridades y especialidades son categorías, no cantidades. La jornada y los traslados restringen las secuencias posibles. El documento de origen propone 100 obras, 200 trabajadores, 10 000 actividades y 20 usuarios como entorno de prueba; no son cifras empresariales verificadas. Las restricciones de Java Swing y PostgreSQL se conservan para la implementación futura.</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a:p xmlns:a="http://schemas.openxmlformats.org/drawingml/2006/main">
            <a:r>
              <a:t/>
            </a:r>
          </a:p>
          <a:p xmlns:a="http://schemas.openxmlformats.org/drawingml/2006/main">
            <a:r>
              <a:t>Hendrickson, C. (2008). Project management for construction: Fundamental concepts for owners, engineers, architects and builders (versión 2.2, cap. 11). Carnegie Mellon University. https://www.cmu.edu/cee/projects/PMbook/11_Advanced_Scheduling_Techniques.html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Esteban. Tiempo: 50 segundos.</a:t>
            </a:r>
          </a:p>
          <a:p xmlns:a="http://schemas.openxmlformats.org/drawingml/2006/main">
            <a:r>
              <a:t/>
            </a:r>
          </a:p>
          <a:p xmlns:a="http://schemas.openxmlformats.org/drawingml/2006/main">
            <a:r>
              <a:t>Los cinco módulos se conectan alrededor de la actividad de obra. Obras aporta los compromisos y ubicación. Trabajadores aporta especialidad y jornadas. Actividades define duración, cantidad requerida y precedencias. Planificación reúne estos datos antes de confirmar un equipo. Seguimiento distingue avance informado de avance validado. Las altas, modificaciones y bajas se acompañan de operaciones algorítmicas; no se limita el sistema a CRUD. Daniel asume Obras y Seguimiento; Esteban, Trabajadores y Planificación; Julián, Actividades y el análisis de estructuras.</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Julián. Tiempo: 1 minuto y 10 segundos.</a:t>
            </a:r>
          </a:p>
          <a:p xmlns:a="http://schemas.openxmlformats.org/drawingml/2006/main">
            <a:r>
              <a:t/>
            </a:r>
          </a:p>
          <a:p xmlns:a="http://schemas.openxmlformats.org/drawingml/2006/main">
            <a:r>
              <a:t>El UML completo está en el informe y en el archivo editable del repositorio. Una obra contiene actividades; cada actividad conserva asignaciones históricas. Cada asignación confirma uno o varios trabajadores, exactamente la cantidad requerida. La disponibilidad pertenece a un trabajador. Usuario guarda el rol sin crear herencia artificial. Existe una relación opcional uno a uno entre trabajador y usuario. Las actividades dependen de otras actividades de la misma obra sin ciclos. El modelo completo incluye ReporteAvance, Incidencia, PlanSemanal y EventoAuditoria. ReporteAvance separa lo informado de lo validado. Las versiones del plan conservan los compromisos originales para calcular cumplimiento. La revisión grupal del diagrama sigue pendiente.</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Julián. Tiempo: 50 segundos.</a:t>
            </a:r>
          </a:p>
          <a:p xmlns:a="http://schemas.openxmlformats.org/drawingml/2006/main">
            <a:r>
              <a:t/>
            </a:r>
          </a:p>
          <a:p xmlns:a="http://schemas.openxmlformats.org/drawingml/2006/main">
            <a:r>
              <a:t>La alternativa A es directa de inspeccionar: conserva listas y recorre datos para buscar o comprobar cruces. Representa dependencias en una matriz y utiliza DFS para detectar ciclos. La alternativa B separa las consultas por código, horario y prioridad. Usa índices por especialidad, HashMap, TreeMap y PriorityQueue, junto con un grafo disperso. Kahn utiliza una cola FIFO para procesar vértices sin predecesoras pendientes. La cola FIFO de Kahn cumple un propósito distinto de la cola de prioridades. Son alternativas de diseño, no implementaciones que ya se hayan desarrollado o medido.</a:t>
            </a:r>
          </a:p>
          <a:p xmlns:a="http://schemas.openxmlformats.org/drawingml/2006/main">
            <a:r>
              <a:t/>
            </a:r>
          </a:p>
          <a:p xmlns:a="http://schemas.openxmlformats.org/drawingml/2006/main">
            <a:r>
              <a:t>Fuentes APA 7</a:t>
            </a:r>
          </a:p>
          <a:p xmlns:a="http://schemas.openxmlformats.org/drawingml/2006/main">
            <a:r>
              <a:t>Oracle. (s. f.-a). HashMap (Java SE 21 &amp; JDK 21). https://docs.oracle.com/en/java/javase/21/docs/api/java.base/java/util/HashMap.html</a:t>
            </a:r>
          </a:p>
          <a:p xmlns:a="http://schemas.openxmlformats.org/drawingml/2006/main">
            <a:r>
              <a:t/>
            </a:r>
          </a:p>
          <a:p xmlns:a="http://schemas.openxmlformats.org/drawingml/2006/main">
            <a:r>
              <a:t>Oracle. (s. f.-b). PriorityQueue (Java SE 21 &amp; JDK 21). https://docs.oracle.com/en/java/javase/21/docs/api/java.base/java/util/PriorityQueue.html</a:t>
            </a:r>
          </a:p>
          <a:p xmlns:a="http://schemas.openxmlformats.org/drawingml/2006/main">
            <a:r>
              <a:t/>
            </a:r>
          </a:p>
          <a:p xmlns:a="http://schemas.openxmlformats.org/drawingml/2006/main">
            <a:r>
              <a:t>Oracle. (s. f.-c). TreeMap (Java SE 21 &amp; JDK 21). https://docs.oracle.com/en/java/javase/21/docs/api/java.base/java/util/TreeMap.html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Julián. Tiempo: 1 minuto y 10 segundos.</a:t>
            </a:r>
          </a:p>
          <a:p xmlns:a="http://schemas.openxmlformats.org/drawingml/2006/main">
            <a:r>
              <a:t/>
            </a:r>
          </a:p>
          <a:p xmlns:a="http://schemas.openxmlformats.org/drawingml/2006/main">
            <a:r>
              <a:t>Estas cotas comparan componentes concretos. En una agenda sin cruces basta consultar el vecino anterior y el siguiente, junto con los traslados. El grafo disperso mejora memoria y recorrido cuando las dependencias son pocas respecto a V al cuadrado. PriorityQueue acelera extraer la próxima tarea elegible; no acelera mostrar todo el orden. Cambiar una prioridad arbitraria exige retirar y reinsertar y conserva un costo lineal en la implementación estándar. Kahn sin selección por prioridad cuesta O(V+E); combinarlo con un heap cambiaría la cota. Las fórmulas son análisis del diseño y no resultados de rendimiento.</a:t>
            </a:r>
          </a:p>
          <a:p xmlns:a="http://schemas.openxmlformats.org/drawingml/2006/main">
            <a:r>
              <a:t/>
            </a:r>
          </a:p>
          <a:p xmlns:a="http://schemas.openxmlformats.org/drawingml/2006/main">
            <a:r>
              <a:t>Fuentes APA 7</a:t>
            </a:r>
          </a:p>
          <a:p xmlns:a="http://schemas.openxmlformats.org/drawingml/2006/main">
            <a:r>
              <a:t>Oracle. (s. f.-b). PriorityQueue (Java SE 21 &amp; JDK 21). https://docs.oracle.com/en/java/javase/21/docs/api/java.base/java/util/PriorityQueue.html</a:t>
            </a:r>
          </a:p>
          <a:p xmlns:a="http://schemas.openxmlformats.org/drawingml/2006/main">
            <a:r>
              <a:t/>
            </a:r>
          </a:p>
          <a:p xmlns:a="http://schemas.openxmlformats.org/drawingml/2006/main">
            <a:r>
              <a:t>Oracle. (s. f.-c). TreeMap (Java SE 21 &amp; JDK 21). https://docs.oracle.com/en/java/javase/21/docs/api/java.base/java/util/TreeMap.html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Daniel. Tiempo: 55 segundos.</a:t>
            </a:r>
          </a:p>
          <a:p xmlns:a="http://schemas.openxmlformats.org/drawingml/2006/main">
            <a:r>
              <a:t/>
            </a:r>
          </a:p>
          <a:p xmlns:a="http://schemas.openxmlformats.org/drawingml/2006/main">
            <a:r>
              <a:t>Seleccionamos B para favorecer consultas repetidas de disponibilidad, dependencias y prioridad. La mejora de memoria depende de que el grafo sea disperso; si hay casi V al cuadrado aristas la ventaja se reduce. La alternativa agrega mantenimiento de índices, así que las clases auxiliares deben encapsularlos. El supervisor solicita sugerencias y el sistema ordena personas por menor carga semanal y código. Esto no garantiza un calendario óptimo global. En el futuro, confirmar todo el equipo deberá ocurrir en una transacción central con relectura y bloqueo de los trabajadores. Los índices se actualizan después de confirmar la persistencia.</a:t>
            </a:r>
          </a:p>
          <a:p xmlns:a="http://schemas.openxmlformats.org/drawingml/2006/main">
            <a:r>
              <a:t/>
            </a:r>
          </a:p>
          <a:p xmlns:a="http://schemas.openxmlformats.org/drawingml/2006/main">
            <a:r>
              <a:t>Fuentes APA 7</a:t>
            </a:r>
          </a:p>
          <a:p xmlns:a="http://schemas.openxmlformats.org/drawingml/2006/main">
            <a:r>
              <a:t>Oracle. (s. f.-a). HashMap (Java SE 21 &amp; JDK 21). https://docs.oracle.com/en/java/javase/21/docs/api/java.base/java/util/HashMap.html</a:t>
            </a:r>
          </a:p>
          <a:p xmlns:a="http://schemas.openxmlformats.org/drawingml/2006/main">
            <a:r>
              <a:t/>
            </a:r>
          </a:p>
          <a:p xmlns:a="http://schemas.openxmlformats.org/drawingml/2006/main">
            <a:r>
              <a:t>Oracle. (s. f.-c). TreeMap (Java SE 21 &amp; JDK 21). https://docs.oracle.com/en/java/javase/21/docs/api/java.base/java/util/TreeMap.html</a:t>
            </a:r>
          </a:p>
          <a:p xmlns:a="http://schemas.openxmlformats.org/drawingml/2006/main">
            <a:r>
              <a:t/>
            </a:r>
          </a:p>
          <a:p xmlns:a="http://schemas.openxmlformats.org/drawingml/2006/main">
            <a:r>
              <a:t>PostgreSQL Global Development Group. (s. f.). Explicit locking. PostgreSQL 18 documentation. https://www.postgresql.org/docs/18/explicit-locking.html</a:t>
            </a:r>
          </a:p>
          <a:p xmlns:a="http://schemas.openxmlformats.org/drawingml/2006/main">
            <a:r>
              <a:t/>
            </a:r>
          </a:p>
          <a:p xmlns:a="http://schemas.openxmlformats.org/drawingml/2006/main">
            <a:r>
              <a:t>Gómez Sánchez, M., Lalla-Ruiz, E., Fernández Gil, A., Castro, C., &amp; Voß, S. (2023). Resource-constrained multi-project scheduling problem: A survey. European Journal of Operational Research, 309(3), 958–976. https://doi.org/10.1016/j.ejor.2022.09.033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Esteban. Tiempo: 1 minuto.</a:t>
            </a:r>
          </a:p>
          <a:p xmlns:a="http://schemas.openxmlformats.org/drawingml/2006/main">
            <a:r>
              <a:t/>
            </a:r>
          </a:p>
          <a:p xmlns:a="http://schemas.openxmlformats.org/drawingml/2006/main">
            <a:r>
              <a:t>Este ejemplo del documento base permite explicar la diferencia entre solapamiento y traslado. La asignación de la obra A ocupa de ocho a doce. Una propuesta para B a las once cruza ese intervalo. Una propuesta a las doce ya no cruza, pero sigue siendo incompatible porque falta el desplazamiento. A las doce y treinta sería admisible si coinciden especialidad, disponibilidad, cantidad de personal y secuencia de dependencias. La prioridad nunca elimina esas restricciones. Una reprogramación debe repetir todas las validaciones y conservar su motivo e historial. En esta entrega describimos resultados esperados, sin ejecutar software.</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propuesto: Daniel y Esteban. Tiempo: 1 minuto y 10 segundos (Daniel: 40 s; Esteban: 30 s).</a:t>
            </a:r>
          </a:p>
          <a:p xmlns:a="http://schemas.openxmlformats.org/drawingml/2006/main">
            <a:r>
              <a:t/>
            </a:r>
          </a:p>
          <a:p xmlns:a="http://schemas.openxmlformats.org/drawingml/2006/main">
            <a:r>
              <a:t>Daniel explicará el reparto de módulos durante 40 segundos. Esteban explicará los hitos y riesgos durante 30 segundos. El siguiente progreso comenzará con la revisión de clases y responsabilidades. Después implementaremos estructuras y compararemos resultados en datos pequeños antes de integrar interfaz y PostgreSQL. Entre los riesgos están las dobles reservas concurrentes, los índices desactualizados, los ciclos y los traslados omitidos. Los mitigaremos con transacciones, actualización de índices después del commit y validaciones de precedencias y vecinos de agenda. El repositorio inicial de esta entrega contiene README, informe, presentación y UML editable. Las observaciones del docente se conservarán como mejoras obligatorias. Declaramos el apoyo de ChatGPT en análisis, redacción y diseño preliminar. El equipo debe revisar, adaptar y comprender el contenido, revisar el UML entre los tres integrantes. Duración total propuesta: nueve minutos y treinta segundos.</a:t>
            </a:r>
          </a:p>
          <a:p xmlns:a="http://schemas.openxmlformats.org/drawingml/2006/main">
            <a:r>
              <a:t/>
            </a:r>
          </a:p>
          <a:p xmlns:a="http://schemas.openxmlformats.org/drawingml/2006/main">
            <a:r>
              <a:t>Fuentes APA 7</a:t>
            </a:r>
          </a:p>
          <a:p xmlns:a="http://schemas.openxmlformats.org/drawingml/2006/main">
            <a:r>
              <a:t>Valarezo, D., Figueroa, E., &amp; Jiménez, J. (2026). Levantamiento de requerimientos para Dizeo: Sistema de planificación y asignación de trabajadores y actividades de obra [Trabajo académico no publicado]. Universidad de las Américas.</a:t>
            </a:r>
          </a:p>
          <a:p xmlns:a="http://schemas.openxmlformats.org/drawingml/2006/main">
            <a:r>
              <a:t/>
            </a:r>
          </a:p>
          <a:p xmlns:a="http://schemas.openxmlformats.org/drawingml/2006/main">
            <a:r>
              <a:t>PostgreSQL Global Development Group. (s. f.). Explicit locking. PostgreSQL 18 documentation. https://www.postgresql.org/docs/18/explicit-locking.html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d2532eac1144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5e5be6bfbf45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6856a50e8346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5dee32ae2a4b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2289811d3341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7f44e6c8f34a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AC01CA-1A9E-4A61-A589-A9D229F7BB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8A512B-4E58-4197-A5D4-FDFE76BB75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6B2000-0271-4B53-9313-E1BED7BC38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AD6C12-E59C-4D18-88A3-69BC8341C0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8EC9A1-F5DF-43A7-8405-C4FA4B024BF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ACDA42-9383-4B9C-A186-77636A7FCF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264A1E-DC85-4AB0-8C4E-A22EE39B60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9A6746-EB99-40D1-860D-488840180E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024A44-5EE7-4D4A-AAD6-100CDE9302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8AF7C1-30CF-424E-8866-BC7B268C86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402424573c4512" /><Relationship Type="http://schemas.openxmlformats.org/officeDocument/2006/relationships/slideLayout" Target="/ppt/slideLayouts/slideLayout1.xml" Id="R36e0ee0cad5c4e89" /><Relationship Type="http://schemas.openxmlformats.org/officeDocument/2006/relationships/slideLayout" Target="/ppt/slideLayouts/slideLayout2.xml" Id="R85ce5705cc9145f2" /><Relationship Type="http://schemas.openxmlformats.org/officeDocument/2006/relationships/slideLayout" Target="/ppt/slideLayouts/slideLayout3.xml" Id="Rfb7d9b40f4914313" /><Relationship Type="http://schemas.openxmlformats.org/officeDocument/2006/relationships/slideLayout" Target="/ppt/slideLayouts/slideLayout4.xml" Id="Rf3c8f243ab234176" /><Relationship Type="http://schemas.openxmlformats.org/officeDocument/2006/relationships/slideLayout" Target="/ppt/slideLayouts/slideLayout5.xml" Id="Rd4b034640e0a41cb" /><Relationship Type="http://schemas.openxmlformats.org/officeDocument/2006/relationships/slideLayout" Target="/ppt/slideLayouts/slideLayout6.xml" Id="R1d83fce3531946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e0ee0cad5c4e89"/>
    <p:sldLayoutId xmlns:r="http://schemas.openxmlformats.org/officeDocument/2006/relationships" id="2147483650" r:id="R85ce5705cc9145f2"/>
    <p:sldLayoutId xmlns:r="http://schemas.openxmlformats.org/officeDocument/2006/relationships" id="2147483651" r:id="Rfb7d9b40f4914313"/>
    <p:sldLayoutId xmlns:r="http://schemas.openxmlformats.org/officeDocument/2006/relationships" id="2147483652" r:id="Rf3c8f243ab234176"/>
    <p:sldLayoutId xmlns:r="http://schemas.openxmlformats.org/officeDocument/2006/relationships" id="2147483653" r:id="Rd4b034640e0a41cb"/>
    <p:sldLayoutId xmlns:r="http://schemas.openxmlformats.org/officeDocument/2006/relationships" id="2147483654" r:id="R1d83fce3531946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64cb4a4f054e14" /><Relationship Type="http://schemas.openxmlformats.org/officeDocument/2006/relationships/notesSlide" Target="/ppt/notesSlides/notesSlide1.xml" Id="R587cf467c9564d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0a186ca6e94a6d" /><Relationship Type="http://schemas.openxmlformats.org/officeDocument/2006/relationships/notesSlide" Target="/ppt/notesSlides/notesSlide2.xml" Id="R9a8b9b310c3e4a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0a427c8a93434c" /><Relationship Type="http://schemas.openxmlformats.org/officeDocument/2006/relationships/notesSlide" Target="/ppt/notesSlides/notesSlide3.xml" Id="R989b1fae64f244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377a4d02614642" /><Relationship Type="http://schemas.openxmlformats.org/officeDocument/2006/relationships/notesSlide" Target="/ppt/notesSlides/notesSlide4.xml" Id="R7949f163a01248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c3d32bc3124466" /><Relationship Type="http://schemas.openxmlformats.org/officeDocument/2006/relationships/notesSlide" Target="/ppt/notesSlides/notesSlide5.xml" Id="Raa19333ede9f4e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19cc8ad6c349e0" /><Relationship Type="http://schemas.openxmlformats.org/officeDocument/2006/relationships/notesSlide" Target="/ppt/notesSlides/notesSlide6.xml" Id="R38a58e4c773048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eb553048a64d63" /><Relationship Type="http://schemas.openxmlformats.org/officeDocument/2006/relationships/notesSlide" Target="/ppt/notesSlides/notesSlide7.xml" Id="Rcdcf6d211f7148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92fc7bbdb74d4f" /><Relationship Type="http://schemas.openxmlformats.org/officeDocument/2006/relationships/notesSlide" Target="/ppt/notesSlides/notesSlide8.xml" Id="Rce5bcf10303f41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3210764dd14662" /><Relationship Type="http://schemas.openxmlformats.org/officeDocument/2006/relationships/notesSlide" Target="/ppt/notesSlides/notesSlide9.xml" Id="R55ac626b53ae4a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189f04dfd7d4809" /><Relationship Type="http://schemas.openxmlformats.org/officeDocument/2006/relationships/notesSlide" Target="/ppt/notesSlides/notesSlide10.xml" Id="R6b02a2c78f5e4d4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o-0">
            <a:extLst xmlns:a="http://schemas.openxmlformats.org/drawingml/2006/main">
              <a:ext uri="{FF2B5EF4-FFF2-40B4-BE49-F238E27FC236}">
                <a16:creationId xmlns:a16="http://schemas.microsoft.com/office/drawing/2014/main" id="{575CF145-B8C9-47F5-9E8B-8F04124BA2ED}"/>
              </a:ext>
            </a:extLst>
          </p:cNvPr>
          <p:cNvSpPr>
            <a:spLocks xmlns:a="http://schemas.openxmlformats.org/drawingml/2006/main" noGrp="1"/>
          </p:cNvSpPr>
          <p:nvPr/>
        </p:nvSpPr>
        <p:spPr>
          <a:xfrm xmlns:a="http://schemas.openxmlformats.org/drawingml/2006/main">
            <a:off x="609600" y="8572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163447"/>
                </a:solidFill>
                <a:latin typeface="DejaVu Sans"/>
                <a:ea typeface="DejaVu Sans"/>
                <a:cs typeface="DejaVu Sans"/>
              </a:defRPr>
            </a:defPPr>
            <a:lvl1pPr>
              <a:buNone/>
              <a:defRPr sz="5700" b="1">
                <a:solidFill>
                  <a:srgbClr val="163447"/>
                </a:solidFill>
                <a:latin typeface="DejaVu Sans"/>
                <a:ea typeface="DejaVu Sans"/>
                <a:cs typeface="DejaVu Sans"/>
              </a:defRPr>
            </a:lvl1pPr>
            <a:lvl2pPr>
              <a:buNone/>
              <a:defRPr sz="5700" b="1">
                <a:solidFill>
                  <a:srgbClr val="163447"/>
                </a:solidFill>
                <a:latin typeface="DejaVu Sans"/>
                <a:ea typeface="DejaVu Sans"/>
                <a:cs typeface="DejaVu Sans"/>
              </a:defRPr>
            </a:lvl2pPr>
            <a:lvl3pPr>
              <a:buNone/>
              <a:defRPr sz="5700" b="1">
                <a:solidFill>
                  <a:srgbClr val="163447"/>
                </a:solidFill>
                <a:latin typeface="DejaVu Sans"/>
                <a:ea typeface="DejaVu Sans"/>
                <a:cs typeface="DejaVu Sans"/>
              </a:defRPr>
            </a:lvl3pPr>
            <a:lvl4pPr>
              <a:buNone/>
              <a:defRPr sz="5700" b="1">
                <a:solidFill>
                  <a:srgbClr val="163447"/>
                </a:solidFill>
                <a:latin typeface="DejaVu Sans"/>
                <a:ea typeface="DejaVu Sans"/>
                <a:cs typeface="DejaVu Sans"/>
              </a:defRPr>
            </a:lvl4pPr>
            <a:lvl5pPr>
              <a:buNone/>
              <a:defRPr sz="5700" b="1">
                <a:solidFill>
                  <a:srgbClr val="163447"/>
                </a:solidFill>
                <a:latin typeface="DejaVu Sans"/>
                <a:ea typeface="DejaVu Sans"/>
                <a:cs typeface="DejaVu Sans"/>
              </a:defRPr>
            </a:lvl5pPr>
            <a:lvl6pPr>
              <a:buNone/>
              <a:defRPr sz="5700" b="1">
                <a:solidFill>
                  <a:srgbClr val="163447"/>
                </a:solidFill>
                <a:latin typeface="DejaVu Sans"/>
                <a:ea typeface="DejaVu Sans"/>
                <a:cs typeface="DejaVu Sans"/>
              </a:defRPr>
            </a:lvl6pPr>
            <a:lvl7pPr>
              <a:buNone/>
              <a:defRPr sz="5700" b="1">
                <a:solidFill>
                  <a:srgbClr val="163447"/>
                </a:solidFill>
                <a:latin typeface="DejaVu Sans"/>
                <a:ea typeface="DejaVu Sans"/>
                <a:cs typeface="DejaVu Sans"/>
              </a:defRPr>
            </a:lvl7pPr>
            <a:lvl8pPr>
              <a:buNone/>
              <a:defRPr sz="5700" b="1">
                <a:solidFill>
                  <a:srgbClr val="163447"/>
                </a:solidFill>
                <a:latin typeface="DejaVu Sans"/>
                <a:ea typeface="DejaVu Sans"/>
                <a:cs typeface="DejaVu Sans"/>
              </a:defRPr>
            </a:lvl8pPr>
            <a:lvl9pPr>
              <a:buNone/>
              <a:defRPr sz="5700" b="1">
                <a:solidFill>
                  <a:srgbClr val="163447"/>
                </a:solidFill>
                <a:latin typeface="DejaVu Sans"/>
                <a:ea typeface="DejaVu Sans"/>
                <a:cs typeface="DejaVu Sans"/>
              </a:defRPr>
            </a:lvl9pPr>
          </a:lstStyle>
          <a:p xmlns:a="http://schemas.openxmlformats.org/drawingml/2006/main">
            <a:pPr>
              <a:buNone/>
              <a:defRPr sz="5700" b="1">
                <a:solidFill>
                  <a:srgbClr val="163447"/>
                </a:solidFill>
                <a:latin typeface="DejaVu Sans"/>
                <a:ea typeface="DejaVu Sans"/>
                <a:cs typeface="DejaVu Sans"/>
              </a:defRPr>
            </a:pPr>
            <a:r>
              <a:rPr sz="5700" b="1">
                <a:solidFill>
                  <a:srgbClr val="163447"/>
                </a:solidFill>
                <a:latin typeface="DejaVu Sans"/>
                <a:ea typeface="DejaVu Sans"/>
                <a:cs typeface="DejaVu Sans"/>
              </a:rPr>
              <a:t>Dizeo</a:t>
            </a:r>
          </a:p>
        </p:txBody>
      </p:sp>
      <p:sp>
        <p:nvSpPr>
          <p:cNvPr id="2" name="texto-1">
            <a:extLst xmlns:a="http://schemas.openxmlformats.org/drawingml/2006/main">
              <a:ext uri="{FF2B5EF4-FFF2-40B4-BE49-F238E27FC236}">
                <a16:creationId xmlns:a16="http://schemas.microsoft.com/office/drawing/2014/main" id="{380DB360-B6E0-4C01-8504-D714F758FAA2}"/>
              </a:ext>
            </a:extLst>
          </p:cNvPr>
          <p:cNvSpPr>
            <a:spLocks xmlns:a="http://schemas.openxmlformats.org/drawingml/2006/main" noGrp="1"/>
          </p:cNvSpPr>
          <p:nvPr/>
        </p:nvSpPr>
        <p:spPr>
          <a:xfrm xmlns:a="http://schemas.openxmlformats.org/drawingml/2006/main">
            <a:off x="609600" y="2076450"/>
            <a:ext cx="10668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63447"/>
                </a:solidFill>
                <a:latin typeface="DejaVu Sans"/>
                <a:ea typeface="DejaVu Sans"/>
                <a:cs typeface="DejaVu Sans"/>
              </a:defRPr>
            </a:defPPr>
            <a:lvl1pPr>
              <a:buNone/>
              <a:defRPr sz="3600" b="1">
                <a:solidFill>
                  <a:srgbClr val="163447"/>
                </a:solidFill>
                <a:latin typeface="DejaVu Sans"/>
                <a:ea typeface="DejaVu Sans"/>
                <a:cs typeface="DejaVu Sans"/>
              </a:defRPr>
            </a:lvl1pPr>
            <a:lvl2pPr>
              <a:buNone/>
              <a:defRPr sz="3600" b="1">
                <a:solidFill>
                  <a:srgbClr val="163447"/>
                </a:solidFill>
                <a:latin typeface="DejaVu Sans"/>
                <a:ea typeface="DejaVu Sans"/>
                <a:cs typeface="DejaVu Sans"/>
              </a:defRPr>
            </a:lvl2pPr>
            <a:lvl3pPr>
              <a:buNone/>
              <a:defRPr sz="3600" b="1">
                <a:solidFill>
                  <a:srgbClr val="163447"/>
                </a:solidFill>
                <a:latin typeface="DejaVu Sans"/>
                <a:ea typeface="DejaVu Sans"/>
                <a:cs typeface="DejaVu Sans"/>
              </a:defRPr>
            </a:lvl3pPr>
            <a:lvl4pPr>
              <a:buNone/>
              <a:defRPr sz="3600" b="1">
                <a:solidFill>
                  <a:srgbClr val="163447"/>
                </a:solidFill>
                <a:latin typeface="DejaVu Sans"/>
                <a:ea typeface="DejaVu Sans"/>
                <a:cs typeface="DejaVu Sans"/>
              </a:defRPr>
            </a:lvl4pPr>
            <a:lvl5pPr>
              <a:buNone/>
              <a:defRPr sz="3600" b="1">
                <a:solidFill>
                  <a:srgbClr val="163447"/>
                </a:solidFill>
                <a:latin typeface="DejaVu Sans"/>
                <a:ea typeface="DejaVu Sans"/>
                <a:cs typeface="DejaVu Sans"/>
              </a:defRPr>
            </a:lvl5pPr>
            <a:lvl6pPr>
              <a:buNone/>
              <a:defRPr sz="3600" b="1">
                <a:solidFill>
                  <a:srgbClr val="163447"/>
                </a:solidFill>
                <a:latin typeface="DejaVu Sans"/>
                <a:ea typeface="DejaVu Sans"/>
                <a:cs typeface="DejaVu Sans"/>
              </a:defRPr>
            </a:lvl6pPr>
            <a:lvl7pPr>
              <a:buNone/>
              <a:defRPr sz="3600" b="1">
                <a:solidFill>
                  <a:srgbClr val="163447"/>
                </a:solidFill>
                <a:latin typeface="DejaVu Sans"/>
                <a:ea typeface="DejaVu Sans"/>
                <a:cs typeface="DejaVu Sans"/>
              </a:defRPr>
            </a:lvl7pPr>
            <a:lvl8pPr>
              <a:buNone/>
              <a:defRPr sz="3600" b="1">
                <a:solidFill>
                  <a:srgbClr val="163447"/>
                </a:solidFill>
                <a:latin typeface="DejaVu Sans"/>
                <a:ea typeface="DejaVu Sans"/>
                <a:cs typeface="DejaVu Sans"/>
              </a:defRPr>
            </a:lvl8pPr>
            <a:lvl9pPr>
              <a:buNone/>
              <a:defRPr sz="3600" b="1">
                <a:solidFill>
                  <a:srgbClr val="163447"/>
                </a:solidFill>
                <a:latin typeface="DejaVu Sans"/>
                <a:ea typeface="DejaVu Sans"/>
                <a:cs typeface="DejaVu Sans"/>
              </a:defRPr>
            </a:lvl9pPr>
          </a:lstStyle>
          <a:p xmlns:a="http://schemas.openxmlformats.org/drawingml/2006/main">
            <a:pPr>
              <a:buNone/>
              <a:defRPr sz="3600" b="1">
                <a:solidFill>
                  <a:srgbClr val="163447"/>
                </a:solidFill>
                <a:latin typeface="DejaVu Sans"/>
                <a:ea typeface="DejaVu Sans"/>
                <a:cs typeface="DejaVu Sans"/>
              </a:defRPr>
            </a:pPr>
            <a:r>
              <a:rPr sz="3600" b="1">
                <a:solidFill>
                  <a:srgbClr val="163447"/>
                </a:solidFill>
                <a:latin typeface="DejaVu Sans"/>
                <a:ea typeface="DejaVu Sans"/>
                <a:cs typeface="DejaVu Sans"/>
              </a:rPr>
              <a:t>Planificación y asignación</a:t>
            </a:r>
          </a:p>
          <a:p xmlns:a="http://schemas.openxmlformats.org/drawingml/2006/main">
            <a:pPr>
              <a:buNone/>
              <a:defRPr sz="3600" b="1">
                <a:solidFill>
                  <a:srgbClr val="163447"/>
                </a:solidFill>
                <a:latin typeface="DejaVu Sans"/>
                <a:ea typeface="DejaVu Sans"/>
                <a:cs typeface="DejaVu Sans"/>
              </a:defRPr>
            </a:pPr>
            <a:r>
              <a:rPr sz="3600" b="1">
                <a:solidFill>
                  <a:srgbClr val="163447"/>
                </a:solidFill>
                <a:latin typeface="DejaVu Sans"/>
                <a:ea typeface="DejaVu Sans"/>
                <a:cs typeface="DejaVu Sans"/>
              </a:rPr>
              <a:t>de personal en obras</a:t>
            </a:r>
          </a:p>
        </p:txBody>
      </p:sp>
      <p:sp>
        <p:nvSpPr>
          <p:cNvPr id="3" name="texto-2">
            <a:extLst xmlns:a="http://schemas.openxmlformats.org/drawingml/2006/main">
              <a:ext uri="{FF2B5EF4-FFF2-40B4-BE49-F238E27FC236}">
                <a16:creationId xmlns:a16="http://schemas.microsoft.com/office/drawing/2014/main" id="{8584902F-C510-4B48-8B81-EDFCCFB381D6}"/>
              </a:ext>
            </a:extLst>
          </p:cNvPr>
          <p:cNvSpPr>
            <a:spLocks xmlns:a="http://schemas.openxmlformats.org/drawingml/2006/main" noGrp="1"/>
          </p:cNvSpPr>
          <p:nvPr/>
        </p:nvSpPr>
        <p:spPr>
          <a:xfrm xmlns:a="http://schemas.openxmlformats.org/drawingml/2006/main">
            <a:off x="609600" y="3943350"/>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007D87"/>
                </a:solidFill>
                <a:latin typeface="DejaVu Sans"/>
                <a:ea typeface="DejaVu Sans"/>
                <a:cs typeface="DejaVu Sans"/>
              </a:defRPr>
            </a:defPPr>
            <a:lvl1pPr>
              <a:buNone/>
              <a:defRPr sz="2100" b="0">
                <a:solidFill>
                  <a:srgbClr val="007D87"/>
                </a:solidFill>
                <a:latin typeface="DejaVu Sans"/>
                <a:ea typeface="DejaVu Sans"/>
                <a:cs typeface="DejaVu Sans"/>
              </a:defRPr>
            </a:lvl1pPr>
            <a:lvl2pPr>
              <a:buNone/>
              <a:defRPr sz="2100" b="0">
                <a:solidFill>
                  <a:srgbClr val="007D87"/>
                </a:solidFill>
                <a:latin typeface="DejaVu Sans"/>
                <a:ea typeface="DejaVu Sans"/>
                <a:cs typeface="DejaVu Sans"/>
              </a:defRPr>
            </a:lvl2pPr>
            <a:lvl3pPr>
              <a:buNone/>
              <a:defRPr sz="2100" b="0">
                <a:solidFill>
                  <a:srgbClr val="007D87"/>
                </a:solidFill>
                <a:latin typeface="DejaVu Sans"/>
                <a:ea typeface="DejaVu Sans"/>
                <a:cs typeface="DejaVu Sans"/>
              </a:defRPr>
            </a:lvl3pPr>
            <a:lvl4pPr>
              <a:buNone/>
              <a:defRPr sz="2100" b="0">
                <a:solidFill>
                  <a:srgbClr val="007D87"/>
                </a:solidFill>
                <a:latin typeface="DejaVu Sans"/>
                <a:ea typeface="DejaVu Sans"/>
                <a:cs typeface="DejaVu Sans"/>
              </a:defRPr>
            </a:lvl4pPr>
            <a:lvl5pPr>
              <a:buNone/>
              <a:defRPr sz="2100" b="0">
                <a:solidFill>
                  <a:srgbClr val="007D87"/>
                </a:solidFill>
                <a:latin typeface="DejaVu Sans"/>
                <a:ea typeface="DejaVu Sans"/>
                <a:cs typeface="DejaVu Sans"/>
              </a:defRPr>
            </a:lvl5pPr>
            <a:lvl6pPr>
              <a:buNone/>
              <a:defRPr sz="2100" b="0">
                <a:solidFill>
                  <a:srgbClr val="007D87"/>
                </a:solidFill>
                <a:latin typeface="DejaVu Sans"/>
                <a:ea typeface="DejaVu Sans"/>
                <a:cs typeface="DejaVu Sans"/>
              </a:defRPr>
            </a:lvl6pPr>
            <a:lvl7pPr>
              <a:buNone/>
              <a:defRPr sz="2100" b="0">
                <a:solidFill>
                  <a:srgbClr val="007D87"/>
                </a:solidFill>
                <a:latin typeface="DejaVu Sans"/>
                <a:ea typeface="DejaVu Sans"/>
                <a:cs typeface="DejaVu Sans"/>
              </a:defRPr>
            </a:lvl7pPr>
            <a:lvl8pPr>
              <a:buNone/>
              <a:defRPr sz="2100" b="0">
                <a:solidFill>
                  <a:srgbClr val="007D87"/>
                </a:solidFill>
                <a:latin typeface="DejaVu Sans"/>
                <a:ea typeface="DejaVu Sans"/>
                <a:cs typeface="DejaVu Sans"/>
              </a:defRPr>
            </a:lvl8pPr>
            <a:lvl9pPr>
              <a:buNone/>
              <a:defRPr sz="2100" b="0">
                <a:solidFill>
                  <a:srgbClr val="007D87"/>
                </a:solidFill>
                <a:latin typeface="DejaVu Sans"/>
                <a:ea typeface="DejaVu Sans"/>
                <a:cs typeface="DejaVu Sans"/>
              </a:defRPr>
            </a:lvl9pPr>
          </a:lstStyle>
          <a:p xmlns:a="http://schemas.openxmlformats.org/drawingml/2006/main">
            <a:pPr>
              <a:buNone/>
              <a:defRPr sz="2100" b="0">
                <a:solidFill>
                  <a:srgbClr val="007D87"/>
                </a:solidFill>
                <a:latin typeface="DejaVu Sans"/>
                <a:ea typeface="DejaVu Sans"/>
                <a:cs typeface="DejaVu Sans"/>
              </a:defRPr>
            </a:pPr>
            <a:r>
              <a:rPr sz="2100" b="0">
                <a:solidFill>
                  <a:srgbClr val="007D87"/>
                </a:solidFill>
                <a:latin typeface="DejaVu Sans"/>
                <a:ea typeface="DejaVu Sans"/>
                <a:cs typeface="DejaVu Sans"/>
              </a:rPr>
              <a:t>Programación III</a:t>
            </a:r>
          </a:p>
          <a:p xmlns:a="http://schemas.openxmlformats.org/drawingml/2006/main">
            <a:pPr>
              <a:buNone/>
              <a:defRPr sz="2100" b="0">
                <a:solidFill>
                  <a:srgbClr val="007D87"/>
                </a:solidFill>
                <a:latin typeface="DejaVu Sans"/>
                <a:ea typeface="DejaVu Sans"/>
                <a:cs typeface="DejaVu Sans"/>
              </a:defRPr>
            </a:pPr>
            <a:r>
              <a:rPr sz="2100" b="0">
                <a:solidFill>
                  <a:srgbClr val="007D87"/>
                </a:solidFill>
                <a:latin typeface="DejaVu Sans"/>
                <a:ea typeface="DejaVu Sans"/>
                <a:cs typeface="DejaVu Sans"/>
              </a:rPr>
              <a:t>Análisis, diseño y selección de la solución</a:t>
            </a:r>
          </a:p>
        </p:txBody>
      </p:sp>
      <p:sp>
        <p:nvSpPr>
          <p:cNvPr id="4" name="texto-3">
            <a:extLst xmlns:a="http://schemas.openxmlformats.org/drawingml/2006/main">
              <a:ext uri="{FF2B5EF4-FFF2-40B4-BE49-F238E27FC236}">
                <a16:creationId xmlns:a16="http://schemas.microsoft.com/office/drawing/2014/main" id="{EBF71C8E-92EA-490A-8BFB-D123DE5FDC93}"/>
              </a:ext>
            </a:extLst>
          </p:cNvPr>
          <p:cNvSpPr>
            <a:spLocks xmlns:a="http://schemas.openxmlformats.org/drawingml/2006/main" noGrp="1"/>
          </p:cNvSpPr>
          <p:nvPr/>
        </p:nvSpPr>
        <p:spPr>
          <a:xfrm xmlns:a="http://schemas.openxmlformats.org/drawingml/2006/main">
            <a:off x="609600" y="52197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36D"/>
                </a:solidFill>
                <a:latin typeface="DejaVu Sans"/>
                <a:ea typeface="DejaVu Sans"/>
                <a:cs typeface="DejaVu Sans"/>
              </a:defRPr>
            </a:defPPr>
            <a:lvl1pPr>
              <a:buNone/>
              <a:defRPr sz="1725" b="0">
                <a:solidFill>
                  <a:srgbClr val="52636D"/>
                </a:solidFill>
                <a:latin typeface="DejaVu Sans"/>
                <a:ea typeface="DejaVu Sans"/>
                <a:cs typeface="DejaVu Sans"/>
              </a:defRPr>
            </a:lvl1pPr>
            <a:lvl2pPr>
              <a:buNone/>
              <a:defRPr sz="1725" b="0">
                <a:solidFill>
                  <a:srgbClr val="52636D"/>
                </a:solidFill>
                <a:latin typeface="DejaVu Sans"/>
                <a:ea typeface="DejaVu Sans"/>
                <a:cs typeface="DejaVu Sans"/>
              </a:defRPr>
            </a:lvl2pPr>
            <a:lvl3pPr>
              <a:buNone/>
              <a:defRPr sz="1725" b="0">
                <a:solidFill>
                  <a:srgbClr val="52636D"/>
                </a:solidFill>
                <a:latin typeface="DejaVu Sans"/>
                <a:ea typeface="DejaVu Sans"/>
                <a:cs typeface="DejaVu Sans"/>
              </a:defRPr>
            </a:lvl3pPr>
            <a:lvl4pPr>
              <a:buNone/>
              <a:defRPr sz="1725" b="0">
                <a:solidFill>
                  <a:srgbClr val="52636D"/>
                </a:solidFill>
                <a:latin typeface="DejaVu Sans"/>
                <a:ea typeface="DejaVu Sans"/>
                <a:cs typeface="DejaVu Sans"/>
              </a:defRPr>
            </a:lvl4pPr>
            <a:lvl5pPr>
              <a:buNone/>
              <a:defRPr sz="1725" b="0">
                <a:solidFill>
                  <a:srgbClr val="52636D"/>
                </a:solidFill>
                <a:latin typeface="DejaVu Sans"/>
                <a:ea typeface="DejaVu Sans"/>
                <a:cs typeface="DejaVu Sans"/>
              </a:defRPr>
            </a:lvl5pPr>
            <a:lvl6pPr>
              <a:buNone/>
              <a:defRPr sz="1725" b="0">
                <a:solidFill>
                  <a:srgbClr val="52636D"/>
                </a:solidFill>
                <a:latin typeface="DejaVu Sans"/>
                <a:ea typeface="DejaVu Sans"/>
                <a:cs typeface="DejaVu Sans"/>
              </a:defRPr>
            </a:lvl6pPr>
            <a:lvl7pPr>
              <a:buNone/>
              <a:defRPr sz="1725" b="0">
                <a:solidFill>
                  <a:srgbClr val="52636D"/>
                </a:solidFill>
                <a:latin typeface="DejaVu Sans"/>
                <a:ea typeface="DejaVu Sans"/>
                <a:cs typeface="DejaVu Sans"/>
              </a:defRPr>
            </a:lvl7pPr>
            <a:lvl8pPr>
              <a:buNone/>
              <a:defRPr sz="1725" b="0">
                <a:solidFill>
                  <a:srgbClr val="52636D"/>
                </a:solidFill>
                <a:latin typeface="DejaVu Sans"/>
                <a:ea typeface="DejaVu Sans"/>
                <a:cs typeface="DejaVu Sans"/>
              </a:defRPr>
            </a:lvl8pPr>
            <a:lvl9pPr>
              <a:buNone/>
              <a:defRPr sz="1725" b="0">
                <a:solidFill>
                  <a:srgbClr val="52636D"/>
                </a:solidFill>
                <a:latin typeface="DejaVu Sans"/>
                <a:ea typeface="DejaVu Sans"/>
                <a:cs typeface="DejaVu Sans"/>
              </a:defRPr>
            </a:lvl9pPr>
          </a:lstStyle>
          <a:p xmlns:a="http://schemas.openxmlformats.org/drawingml/2006/main">
            <a:pPr>
              <a:buNone/>
              <a:defRPr sz="1725" b="0">
                <a:solidFill>
                  <a:srgbClr val="52636D"/>
                </a:solidFill>
                <a:latin typeface="DejaVu Sans"/>
                <a:ea typeface="DejaVu Sans"/>
                <a:cs typeface="DejaVu Sans"/>
              </a:defRPr>
            </a:pPr>
            <a:r>
              <a:rPr sz="1725" b="0">
                <a:solidFill>
                  <a:srgbClr val="52636D"/>
                </a:solidFill>
                <a:latin typeface="DejaVu Sans"/>
                <a:ea typeface="DejaVu Sans"/>
                <a:cs typeface="DejaVu Sans"/>
              </a:rPr>
              <a:t>Daniel Valarezo   Esteban Figueroa   Julián Jiménez</a:t>
            </a:r>
          </a:p>
        </p:txBody>
      </p:sp>
      <p:sp>
        <p:nvSpPr>
          <p:cNvPr id="5" name="texto-4">
            <a:extLst xmlns:a="http://schemas.openxmlformats.org/drawingml/2006/main">
              <a:ext uri="{FF2B5EF4-FFF2-40B4-BE49-F238E27FC236}">
                <a16:creationId xmlns:a16="http://schemas.microsoft.com/office/drawing/2014/main" id="{7E141108-FCFE-424D-B41B-48C70BB9B63C}"/>
              </a:ext>
            </a:extLst>
          </p:cNvPr>
          <p:cNvSpPr>
            <a:spLocks xmlns:a="http://schemas.openxmlformats.org/drawingml/2006/main" noGrp="1"/>
          </p:cNvSpPr>
          <p:nvPr/>
        </p:nvSpPr>
        <p:spPr>
          <a:xfrm xmlns:a="http://schemas.openxmlformats.org/drawingml/2006/main">
            <a:off x="609600" y="61912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2636D"/>
                </a:solidFill>
                <a:latin typeface="DejaVu Sans"/>
                <a:ea typeface="DejaVu Sans"/>
                <a:cs typeface="DejaVu Sans"/>
              </a:defRPr>
            </a:defPPr>
            <a:lvl1pPr>
              <a:buNone/>
              <a:defRPr sz="1500" b="0">
                <a:solidFill>
                  <a:srgbClr val="52636D"/>
                </a:solidFill>
                <a:latin typeface="DejaVu Sans"/>
                <a:ea typeface="DejaVu Sans"/>
                <a:cs typeface="DejaVu Sans"/>
              </a:defRPr>
            </a:lvl1pPr>
            <a:lvl2pPr>
              <a:buNone/>
              <a:defRPr sz="1500" b="0">
                <a:solidFill>
                  <a:srgbClr val="52636D"/>
                </a:solidFill>
                <a:latin typeface="DejaVu Sans"/>
                <a:ea typeface="DejaVu Sans"/>
                <a:cs typeface="DejaVu Sans"/>
              </a:defRPr>
            </a:lvl2pPr>
            <a:lvl3pPr>
              <a:buNone/>
              <a:defRPr sz="1500" b="0">
                <a:solidFill>
                  <a:srgbClr val="52636D"/>
                </a:solidFill>
                <a:latin typeface="DejaVu Sans"/>
                <a:ea typeface="DejaVu Sans"/>
                <a:cs typeface="DejaVu Sans"/>
              </a:defRPr>
            </a:lvl3pPr>
            <a:lvl4pPr>
              <a:buNone/>
              <a:defRPr sz="1500" b="0">
                <a:solidFill>
                  <a:srgbClr val="52636D"/>
                </a:solidFill>
                <a:latin typeface="DejaVu Sans"/>
                <a:ea typeface="DejaVu Sans"/>
                <a:cs typeface="DejaVu Sans"/>
              </a:defRPr>
            </a:lvl4pPr>
            <a:lvl5pPr>
              <a:buNone/>
              <a:defRPr sz="1500" b="0">
                <a:solidFill>
                  <a:srgbClr val="52636D"/>
                </a:solidFill>
                <a:latin typeface="DejaVu Sans"/>
                <a:ea typeface="DejaVu Sans"/>
                <a:cs typeface="DejaVu Sans"/>
              </a:defRPr>
            </a:lvl5pPr>
            <a:lvl6pPr>
              <a:buNone/>
              <a:defRPr sz="1500" b="0">
                <a:solidFill>
                  <a:srgbClr val="52636D"/>
                </a:solidFill>
                <a:latin typeface="DejaVu Sans"/>
                <a:ea typeface="DejaVu Sans"/>
                <a:cs typeface="DejaVu Sans"/>
              </a:defRPr>
            </a:lvl6pPr>
            <a:lvl7pPr>
              <a:buNone/>
              <a:defRPr sz="1500" b="0">
                <a:solidFill>
                  <a:srgbClr val="52636D"/>
                </a:solidFill>
                <a:latin typeface="DejaVu Sans"/>
                <a:ea typeface="DejaVu Sans"/>
                <a:cs typeface="DejaVu Sans"/>
              </a:defRPr>
            </a:lvl7pPr>
            <a:lvl8pPr>
              <a:buNone/>
              <a:defRPr sz="1500" b="0">
                <a:solidFill>
                  <a:srgbClr val="52636D"/>
                </a:solidFill>
                <a:latin typeface="DejaVu Sans"/>
                <a:ea typeface="DejaVu Sans"/>
                <a:cs typeface="DejaVu Sans"/>
              </a:defRPr>
            </a:lvl8pPr>
            <a:lvl9pPr>
              <a:buNone/>
              <a:defRPr sz="1500" b="0">
                <a:solidFill>
                  <a:srgbClr val="52636D"/>
                </a:solidFill>
                <a:latin typeface="DejaVu Sans"/>
                <a:ea typeface="DejaVu Sans"/>
                <a:cs typeface="DejaVu Sans"/>
              </a:defRPr>
            </a:lvl9pPr>
          </a:lstStyle>
          <a:p xmlns:a="http://schemas.openxmlformats.org/drawingml/2006/main">
            <a:pPr>
              <a:buNone/>
              <a:defRPr sz="1500" b="0">
                <a:solidFill>
                  <a:srgbClr val="52636D"/>
                </a:solidFill>
                <a:latin typeface="DejaVu Sans"/>
                <a:ea typeface="DejaVu Sans"/>
                <a:cs typeface="DejaVu Sans"/>
              </a:defRPr>
            </a:pPr>
            <a:r>
              <a:rPr sz="1500" b="0">
                <a:solidFill>
                  <a:srgbClr val="52636D"/>
                </a:solidFill>
                <a:latin typeface="DejaVu Sans"/>
                <a:ea typeface="DejaVu Sans"/>
                <a:cs typeface="DejaVu Sans"/>
              </a:rPr>
              <a:t>Quito, Ecuador   18 de octubre de 2026</a:t>
            </a:r>
          </a:p>
        </p:txBody>
      </p:sp>
    </p:spTree>
    <p:extLst>
      <p:ext uri="{BB962C8B-B14F-4D97-AF65-F5344CB8AC3E}">
        <p14:creationId xmlns:p14="http://schemas.microsoft.com/office/powerpoint/2010/main" val="12138070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o-0">
            <a:extLst xmlns:a="http://schemas.openxmlformats.org/drawingml/2006/main">
              <a:ext uri="{FF2B5EF4-FFF2-40B4-BE49-F238E27FC236}">
                <a16:creationId xmlns:a16="http://schemas.microsoft.com/office/drawing/2014/main" id="{290018BD-38CA-4362-9ADA-89EB7907B05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Problema de coordinación entre obras</a:t>
            </a:r>
          </a:p>
        </p:txBody>
      </p:sp>
      <p:sp>
        <p:nvSpPr>
          <p:cNvPr id="2" name="texto-1">
            <a:extLst xmlns:a="http://schemas.openxmlformats.org/drawingml/2006/main">
              <a:ext uri="{FF2B5EF4-FFF2-40B4-BE49-F238E27FC236}">
                <a16:creationId xmlns:a16="http://schemas.microsoft.com/office/drawing/2014/main" id="{15AEE085-6846-4642-A5A2-B3755C7BD07C}"/>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3D63742B-A415-44B7-BE28-BDFC944CF3D2}"/>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2</a:t>
            </a:r>
          </a:p>
        </p:txBody>
      </p:sp>
      <p:sp>
        <p:nvSpPr>
          <p:cNvPr id="4" name="texto-3">
            <a:extLst xmlns:a="http://schemas.openxmlformats.org/drawingml/2006/main">
              <a:ext uri="{FF2B5EF4-FFF2-40B4-BE49-F238E27FC236}">
                <a16:creationId xmlns:a16="http://schemas.microsoft.com/office/drawing/2014/main" id="{F56CA508-5D20-4855-9F3A-BC2903A23311}"/>
              </a:ext>
            </a:extLst>
          </p:cNvPr>
          <p:cNvSpPr>
            <a:spLocks xmlns:a="http://schemas.openxmlformats.org/drawingml/2006/main" noGrp="1"/>
          </p:cNvSpPr>
          <p:nvPr/>
        </p:nvSpPr>
        <p:spPr>
          <a:xfrm xmlns:a="http://schemas.openxmlformats.org/drawingml/2006/main">
            <a:off x="609600" y="15240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87"/>
                </a:solidFill>
                <a:latin typeface="DejaVu Sans"/>
                <a:ea typeface="DejaVu Sans"/>
                <a:cs typeface="DejaVu Sans"/>
              </a:defRPr>
            </a:defPPr>
            <a:lvl1pPr>
              <a:buNone/>
              <a:defRPr sz="2250" b="1">
                <a:solidFill>
                  <a:srgbClr val="007D87"/>
                </a:solidFill>
                <a:latin typeface="DejaVu Sans"/>
                <a:ea typeface="DejaVu Sans"/>
                <a:cs typeface="DejaVu Sans"/>
              </a:defRPr>
            </a:lvl1pPr>
            <a:lvl2pPr>
              <a:buNone/>
              <a:defRPr sz="2250" b="1">
                <a:solidFill>
                  <a:srgbClr val="007D87"/>
                </a:solidFill>
                <a:latin typeface="DejaVu Sans"/>
                <a:ea typeface="DejaVu Sans"/>
                <a:cs typeface="DejaVu Sans"/>
              </a:defRPr>
            </a:lvl2pPr>
            <a:lvl3pPr>
              <a:buNone/>
              <a:defRPr sz="2250" b="1">
                <a:solidFill>
                  <a:srgbClr val="007D87"/>
                </a:solidFill>
                <a:latin typeface="DejaVu Sans"/>
                <a:ea typeface="DejaVu Sans"/>
                <a:cs typeface="DejaVu Sans"/>
              </a:defRPr>
            </a:lvl3pPr>
            <a:lvl4pPr>
              <a:buNone/>
              <a:defRPr sz="2250" b="1">
                <a:solidFill>
                  <a:srgbClr val="007D87"/>
                </a:solidFill>
                <a:latin typeface="DejaVu Sans"/>
                <a:ea typeface="DejaVu Sans"/>
                <a:cs typeface="DejaVu Sans"/>
              </a:defRPr>
            </a:lvl4pPr>
            <a:lvl5pPr>
              <a:buNone/>
              <a:defRPr sz="2250" b="1">
                <a:solidFill>
                  <a:srgbClr val="007D87"/>
                </a:solidFill>
                <a:latin typeface="DejaVu Sans"/>
                <a:ea typeface="DejaVu Sans"/>
                <a:cs typeface="DejaVu Sans"/>
              </a:defRPr>
            </a:lvl5pPr>
            <a:lvl6pPr>
              <a:buNone/>
              <a:defRPr sz="2250" b="1">
                <a:solidFill>
                  <a:srgbClr val="007D87"/>
                </a:solidFill>
                <a:latin typeface="DejaVu Sans"/>
                <a:ea typeface="DejaVu Sans"/>
                <a:cs typeface="DejaVu Sans"/>
              </a:defRPr>
            </a:lvl6pPr>
            <a:lvl7pPr>
              <a:buNone/>
              <a:defRPr sz="2250" b="1">
                <a:solidFill>
                  <a:srgbClr val="007D87"/>
                </a:solidFill>
                <a:latin typeface="DejaVu Sans"/>
                <a:ea typeface="DejaVu Sans"/>
                <a:cs typeface="DejaVu Sans"/>
              </a:defRPr>
            </a:lvl7pPr>
            <a:lvl8pPr>
              <a:buNone/>
              <a:defRPr sz="2250" b="1">
                <a:solidFill>
                  <a:srgbClr val="007D87"/>
                </a:solidFill>
                <a:latin typeface="DejaVu Sans"/>
                <a:ea typeface="DejaVu Sans"/>
                <a:cs typeface="DejaVu Sans"/>
              </a:defRPr>
            </a:lvl8pPr>
            <a:lvl9pPr>
              <a:buNone/>
              <a:defRPr sz="2250" b="1">
                <a:solidFill>
                  <a:srgbClr val="007D87"/>
                </a:solidFill>
                <a:latin typeface="DejaVu Sans"/>
                <a:ea typeface="DejaVu Sans"/>
                <a:cs typeface="DejaVu Sans"/>
              </a:defRPr>
            </a:lvl9pPr>
          </a:lstStyle>
          <a:p xmlns:a="http://schemas.openxmlformats.org/drawingml/2006/main">
            <a:pPr>
              <a:buNone/>
              <a:defRPr sz="2250" b="1">
                <a:solidFill>
                  <a:srgbClr val="007D87"/>
                </a:solidFill>
                <a:latin typeface="DejaVu Sans"/>
                <a:ea typeface="DejaVu Sans"/>
                <a:cs typeface="DejaVu Sans"/>
              </a:defRPr>
            </a:pPr>
            <a:r>
              <a:rPr sz="2250" b="1">
                <a:solidFill>
                  <a:srgbClr val="007D87"/>
                </a:solidFill>
                <a:latin typeface="DejaVu Sans"/>
                <a:ea typeface="DejaVu Sans"/>
                <a:cs typeface="DejaVu Sans"/>
              </a:rPr>
              <a:t>Necesidad</a:t>
            </a:r>
          </a:p>
        </p:txBody>
      </p:sp>
      <p:sp>
        <p:nvSpPr>
          <p:cNvPr id="5" name="texto-4">
            <a:extLst xmlns:a="http://schemas.openxmlformats.org/drawingml/2006/main">
              <a:ext uri="{FF2B5EF4-FFF2-40B4-BE49-F238E27FC236}">
                <a16:creationId xmlns:a16="http://schemas.microsoft.com/office/drawing/2014/main" id="{31CDF1F7-3997-4F19-A7BA-57E0B6745ED0}"/>
              </a:ext>
            </a:extLst>
          </p:cNvPr>
          <p:cNvSpPr>
            <a:spLocks xmlns:a="http://schemas.openxmlformats.org/drawingml/2006/main" noGrp="1"/>
          </p:cNvSpPr>
          <p:nvPr/>
        </p:nvSpPr>
        <p:spPr>
          <a:xfrm xmlns:a="http://schemas.openxmlformats.org/drawingml/2006/main">
            <a:off x="3524250" y="1524000"/>
            <a:ext cx="800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163447"/>
                </a:solidFill>
                <a:latin typeface="DejaVu Sans"/>
                <a:ea typeface="DejaVu Sans"/>
                <a:cs typeface="DejaVu Sans"/>
              </a:defRPr>
            </a:defPPr>
            <a:lvl1pPr>
              <a:buNone/>
              <a:defRPr sz="2400" b="0">
                <a:solidFill>
                  <a:srgbClr val="163447"/>
                </a:solidFill>
                <a:latin typeface="DejaVu Sans"/>
                <a:ea typeface="DejaVu Sans"/>
                <a:cs typeface="DejaVu Sans"/>
              </a:defRPr>
            </a:lvl1pPr>
            <a:lvl2pPr>
              <a:buNone/>
              <a:defRPr sz="2400" b="0">
                <a:solidFill>
                  <a:srgbClr val="163447"/>
                </a:solidFill>
                <a:latin typeface="DejaVu Sans"/>
                <a:ea typeface="DejaVu Sans"/>
                <a:cs typeface="DejaVu Sans"/>
              </a:defRPr>
            </a:lvl2pPr>
            <a:lvl3pPr>
              <a:buNone/>
              <a:defRPr sz="2400" b="0">
                <a:solidFill>
                  <a:srgbClr val="163447"/>
                </a:solidFill>
                <a:latin typeface="DejaVu Sans"/>
                <a:ea typeface="DejaVu Sans"/>
                <a:cs typeface="DejaVu Sans"/>
              </a:defRPr>
            </a:lvl3pPr>
            <a:lvl4pPr>
              <a:buNone/>
              <a:defRPr sz="2400" b="0">
                <a:solidFill>
                  <a:srgbClr val="163447"/>
                </a:solidFill>
                <a:latin typeface="DejaVu Sans"/>
                <a:ea typeface="DejaVu Sans"/>
                <a:cs typeface="DejaVu Sans"/>
              </a:defRPr>
            </a:lvl4pPr>
            <a:lvl5pPr>
              <a:buNone/>
              <a:defRPr sz="2400" b="0">
                <a:solidFill>
                  <a:srgbClr val="163447"/>
                </a:solidFill>
                <a:latin typeface="DejaVu Sans"/>
                <a:ea typeface="DejaVu Sans"/>
                <a:cs typeface="DejaVu Sans"/>
              </a:defRPr>
            </a:lvl5pPr>
            <a:lvl6pPr>
              <a:buNone/>
              <a:defRPr sz="2400" b="0">
                <a:solidFill>
                  <a:srgbClr val="163447"/>
                </a:solidFill>
                <a:latin typeface="DejaVu Sans"/>
                <a:ea typeface="DejaVu Sans"/>
                <a:cs typeface="DejaVu Sans"/>
              </a:defRPr>
            </a:lvl6pPr>
            <a:lvl7pPr>
              <a:buNone/>
              <a:defRPr sz="2400" b="0">
                <a:solidFill>
                  <a:srgbClr val="163447"/>
                </a:solidFill>
                <a:latin typeface="DejaVu Sans"/>
                <a:ea typeface="DejaVu Sans"/>
                <a:cs typeface="DejaVu Sans"/>
              </a:defRPr>
            </a:lvl7pPr>
            <a:lvl8pPr>
              <a:buNone/>
              <a:defRPr sz="2400" b="0">
                <a:solidFill>
                  <a:srgbClr val="163447"/>
                </a:solidFill>
                <a:latin typeface="DejaVu Sans"/>
                <a:ea typeface="DejaVu Sans"/>
                <a:cs typeface="DejaVu Sans"/>
              </a:defRPr>
            </a:lvl8pPr>
            <a:lvl9pPr>
              <a:buNone/>
              <a:defRPr sz="2400" b="0">
                <a:solidFill>
                  <a:srgbClr val="163447"/>
                </a:solidFill>
                <a:latin typeface="DejaVu Sans"/>
                <a:ea typeface="DejaVu Sans"/>
                <a:cs typeface="DejaVu Sans"/>
              </a:defRPr>
            </a:lvl9pPr>
          </a:lstStyle>
          <a:p xmlns:a="http://schemas.openxmlformats.org/drawingml/2006/main">
            <a:pPr>
              <a:buNone/>
              <a:defRPr sz="2400" b="0">
                <a:solidFill>
                  <a:srgbClr val="163447"/>
                </a:solidFill>
                <a:latin typeface="DejaVu Sans"/>
                <a:ea typeface="DejaVu Sans"/>
                <a:cs typeface="DejaVu Sans"/>
              </a:defRPr>
            </a:pPr>
            <a:r>
              <a:rPr sz="2400" b="0">
                <a:solidFill>
                  <a:srgbClr val="163447"/>
                </a:solidFill>
                <a:latin typeface="DejaVu Sans"/>
                <a:ea typeface="DejaVu Sans"/>
                <a:cs typeface="DejaVu Sans"/>
              </a:rPr>
              <a:t>Relacionar actividades pendientes con trabajadores disponibles y compatibles, respetando horarios y trabajos previos.</a:t>
            </a:r>
          </a:p>
        </p:txBody>
      </p:sp>
      <p:sp>
        <p:nvSpPr>
          <p:cNvPr id="6" name="texto-5">
            <a:extLst xmlns:a="http://schemas.openxmlformats.org/drawingml/2006/main">
              <a:ext uri="{FF2B5EF4-FFF2-40B4-BE49-F238E27FC236}">
                <a16:creationId xmlns:a16="http://schemas.microsoft.com/office/drawing/2014/main" id="{827F331C-3D81-45F4-BACD-546A6249DEA4}"/>
              </a:ext>
            </a:extLst>
          </p:cNvPr>
          <p:cNvSpPr>
            <a:spLocks xmlns:a="http://schemas.openxmlformats.org/drawingml/2006/main" noGrp="1"/>
          </p:cNvSpPr>
          <p:nvPr/>
        </p:nvSpPr>
        <p:spPr>
          <a:xfrm xmlns:a="http://schemas.openxmlformats.org/drawingml/2006/main">
            <a:off x="609600" y="29527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87"/>
                </a:solidFill>
                <a:latin typeface="DejaVu Sans"/>
                <a:ea typeface="DejaVu Sans"/>
                <a:cs typeface="DejaVu Sans"/>
              </a:defRPr>
            </a:defPPr>
            <a:lvl1pPr>
              <a:buNone/>
              <a:defRPr sz="2250" b="1">
                <a:solidFill>
                  <a:srgbClr val="007D87"/>
                </a:solidFill>
                <a:latin typeface="DejaVu Sans"/>
                <a:ea typeface="DejaVu Sans"/>
                <a:cs typeface="DejaVu Sans"/>
              </a:defRPr>
            </a:lvl1pPr>
            <a:lvl2pPr>
              <a:buNone/>
              <a:defRPr sz="2250" b="1">
                <a:solidFill>
                  <a:srgbClr val="007D87"/>
                </a:solidFill>
                <a:latin typeface="DejaVu Sans"/>
                <a:ea typeface="DejaVu Sans"/>
                <a:cs typeface="DejaVu Sans"/>
              </a:defRPr>
            </a:lvl2pPr>
            <a:lvl3pPr>
              <a:buNone/>
              <a:defRPr sz="2250" b="1">
                <a:solidFill>
                  <a:srgbClr val="007D87"/>
                </a:solidFill>
                <a:latin typeface="DejaVu Sans"/>
                <a:ea typeface="DejaVu Sans"/>
                <a:cs typeface="DejaVu Sans"/>
              </a:defRPr>
            </a:lvl3pPr>
            <a:lvl4pPr>
              <a:buNone/>
              <a:defRPr sz="2250" b="1">
                <a:solidFill>
                  <a:srgbClr val="007D87"/>
                </a:solidFill>
                <a:latin typeface="DejaVu Sans"/>
                <a:ea typeface="DejaVu Sans"/>
                <a:cs typeface="DejaVu Sans"/>
              </a:defRPr>
            </a:lvl4pPr>
            <a:lvl5pPr>
              <a:buNone/>
              <a:defRPr sz="2250" b="1">
                <a:solidFill>
                  <a:srgbClr val="007D87"/>
                </a:solidFill>
                <a:latin typeface="DejaVu Sans"/>
                <a:ea typeface="DejaVu Sans"/>
                <a:cs typeface="DejaVu Sans"/>
              </a:defRPr>
            </a:lvl5pPr>
            <a:lvl6pPr>
              <a:buNone/>
              <a:defRPr sz="2250" b="1">
                <a:solidFill>
                  <a:srgbClr val="007D87"/>
                </a:solidFill>
                <a:latin typeface="DejaVu Sans"/>
                <a:ea typeface="DejaVu Sans"/>
                <a:cs typeface="DejaVu Sans"/>
              </a:defRPr>
            </a:lvl6pPr>
            <a:lvl7pPr>
              <a:buNone/>
              <a:defRPr sz="2250" b="1">
                <a:solidFill>
                  <a:srgbClr val="007D87"/>
                </a:solidFill>
                <a:latin typeface="DejaVu Sans"/>
                <a:ea typeface="DejaVu Sans"/>
                <a:cs typeface="DejaVu Sans"/>
              </a:defRPr>
            </a:lvl7pPr>
            <a:lvl8pPr>
              <a:buNone/>
              <a:defRPr sz="2250" b="1">
                <a:solidFill>
                  <a:srgbClr val="007D87"/>
                </a:solidFill>
                <a:latin typeface="DejaVu Sans"/>
                <a:ea typeface="DejaVu Sans"/>
                <a:cs typeface="DejaVu Sans"/>
              </a:defRPr>
            </a:lvl8pPr>
            <a:lvl9pPr>
              <a:buNone/>
              <a:defRPr sz="2250" b="1">
                <a:solidFill>
                  <a:srgbClr val="007D87"/>
                </a:solidFill>
                <a:latin typeface="DejaVu Sans"/>
                <a:ea typeface="DejaVu Sans"/>
                <a:cs typeface="DejaVu Sans"/>
              </a:defRPr>
            </a:lvl9pPr>
          </a:lstStyle>
          <a:p xmlns:a="http://schemas.openxmlformats.org/drawingml/2006/main">
            <a:pPr>
              <a:buNone/>
              <a:defRPr sz="2250" b="1">
                <a:solidFill>
                  <a:srgbClr val="007D87"/>
                </a:solidFill>
                <a:latin typeface="DejaVu Sans"/>
                <a:ea typeface="DejaVu Sans"/>
                <a:cs typeface="DejaVu Sans"/>
              </a:defRPr>
            </a:pPr>
            <a:r>
              <a:rPr sz="2250" b="1">
                <a:solidFill>
                  <a:srgbClr val="007D87"/>
                </a:solidFill>
                <a:latin typeface="DejaVu Sans"/>
                <a:ea typeface="DejaVu Sans"/>
                <a:cs typeface="DejaVu Sans"/>
              </a:rPr>
              <a:t>Actores</a:t>
            </a:r>
          </a:p>
        </p:txBody>
      </p:sp>
      <p:sp>
        <p:nvSpPr>
          <p:cNvPr id="7" name="texto-6">
            <a:extLst xmlns:a="http://schemas.openxmlformats.org/drawingml/2006/main">
              <a:ext uri="{FF2B5EF4-FFF2-40B4-BE49-F238E27FC236}">
                <a16:creationId xmlns:a16="http://schemas.microsoft.com/office/drawing/2014/main" id="{1F164E30-7240-41B7-9A77-5C041F00E80E}"/>
              </a:ext>
            </a:extLst>
          </p:cNvPr>
          <p:cNvSpPr>
            <a:spLocks xmlns:a="http://schemas.openxmlformats.org/drawingml/2006/main" noGrp="1"/>
          </p:cNvSpPr>
          <p:nvPr/>
        </p:nvSpPr>
        <p:spPr>
          <a:xfrm xmlns:a="http://schemas.openxmlformats.org/drawingml/2006/main">
            <a:off x="3524250" y="2952750"/>
            <a:ext cx="800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63447"/>
                </a:solidFill>
                <a:latin typeface="DejaVu Sans"/>
                <a:ea typeface="DejaVu Sans"/>
                <a:cs typeface="DejaVu Sans"/>
              </a:defRPr>
            </a:defPPr>
            <a:lvl1pPr>
              <a:buNone/>
              <a:defRPr sz="2250" b="0">
                <a:solidFill>
                  <a:srgbClr val="163447"/>
                </a:solidFill>
                <a:latin typeface="DejaVu Sans"/>
                <a:ea typeface="DejaVu Sans"/>
                <a:cs typeface="DejaVu Sans"/>
              </a:defRPr>
            </a:lvl1pPr>
            <a:lvl2pPr>
              <a:buNone/>
              <a:defRPr sz="2250" b="0">
                <a:solidFill>
                  <a:srgbClr val="163447"/>
                </a:solidFill>
                <a:latin typeface="DejaVu Sans"/>
                <a:ea typeface="DejaVu Sans"/>
                <a:cs typeface="DejaVu Sans"/>
              </a:defRPr>
            </a:lvl2pPr>
            <a:lvl3pPr>
              <a:buNone/>
              <a:defRPr sz="2250" b="0">
                <a:solidFill>
                  <a:srgbClr val="163447"/>
                </a:solidFill>
                <a:latin typeface="DejaVu Sans"/>
                <a:ea typeface="DejaVu Sans"/>
                <a:cs typeface="DejaVu Sans"/>
              </a:defRPr>
            </a:lvl3pPr>
            <a:lvl4pPr>
              <a:buNone/>
              <a:defRPr sz="2250" b="0">
                <a:solidFill>
                  <a:srgbClr val="163447"/>
                </a:solidFill>
                <a:latin typeface="DejaVu Sans"/>
                <a:ea typeface="DejaVu Sans"/>
                <a:cs typeface="DejaVu Sans"/>
              </a:defRPr>
            </a:lvl4pPr>
            <a:lvl5pPr>
              <a:buNone/>
              <a:defRPr sz="2250" b="0">
                <a:solidFill>
                  <a:srgbClr val="163447"/>
                </a:solidFill>
                <a:latin typeface="DejaVu Sans"/>
                <a:ea typeface="DejaVu Sans"/>
                <a:cs typeface="DejaVu Sans"/>
              </a:defRPr>
            </a:lvl5pPr>
            <a:lvl6pPr>
              <a:buNone/>
              <a:defRPr sz="2250" b="0">
                <a:solidFill>
                  <a:srgbClr val="163447"/>
                </a:solidFill>
                <a:latin typeface="DejaVu Sans"/>
                <a:ea typeface="DejaVu Sans"/>
                <a:cs typeface="DejaVu Sans"/>
              </a:defRPr>
            </a:lvl6pPr>
            <a:lvl7pPr>
              <a:buNone/>
              <a:defRPr sz="2250" b="0">
                <a:solidFill>
                  <a:srgbClr val="163447"/>
                </a:solidFill>
                <a:latin typeface="DejaVu Sans"/>
                <a:ea typeface="DejaVu Sans"/>
                <a:cs typeface="DejaVu Sans"/>
              </a:defRPr>
            </a:lvl7pPr>
            <a:lvl8pPr>
              <a:buNone/>
              <a:defRPr sz="2250" b="0">
                <a:solidFill>
                  <a:srgbClr val="163447"/>
                </a:solidFill>
                <a:latin typeface="DejaVu Sans"/>
                <a:ea typeface="DejaVu Sans"/>
                <a:cs typeface="DejaVu Sans"/>
              </a:defRPr>
            </a:lvl8pPr>
            <a:lvl9pPr>
              <a:buNone/>
              <a:defRPr sz="2250" b="0">
                <a:solidFill>
                  <a:srgbClr val="163447"/>
                </a:solidFill>
                <a:latin typeface="DejaVu Sans"/>
                <a:ea typeface="DejaVu Sans"/>
                <a:cs typeface="DejaVu Sans"/>
              </a:defRPr>
            </a:lvl9pPr>
          </a:lstStyle>
          <a:p xmlns:a="http://schemas.openxmlformats.org/drawingml/2006/main">
            <a:pPr>
              <a:buNone/>
              <a:defRPr sz="2250" b="0">
                <a:solidFill>
                  <a:srgbClr val="163447"/>
                </a:solidFill>
                <a:latin typeface="DejaVu Sans"/>
                <a:ea typeface="DejaVu Sans"/>
                <a:cs typeface="DejaVu Sans"/>
              </a:defRPr>
            </a:pPr>
            <a:r>
              <a:rPr sz="2250" b="0">
                <a:solidFill>
                  <a:srgbClr val="163447"/>
                </a:solidFill>
                <a:latin typeface="DejaVu Sans"/>
                <a:ea typeface="DejaVu Sans"/>
                <a:cs typeface="DejaVu Sans"/>
              </a:rPr>
              <a:t>La dirección observa compromisos. El supervisor planifica y confirma. Los trabajadores ejecutan y reportan novedades.</a:t>
            </a:r>
          </a:p>
        </p:txBody>
      </p:sp>
      <p:sp>
        <p:nvSpPr>
          <p:cNvPr id="8" name="texto-7">
            <a:extLst xmlns:a="http://schemas.openxmlformats.org/drawingml/2006/main">
              <a:ext uri="{FF2B5EF4-FFF2-40B4-BE49-F238E27FC236}">
                <a16:creationId xmlns:a16="http://schemas.microsoft.com/office/drawing/2014/main" id="{80341011-B8E8-47A6-95F5-2EA0D625F277}"/>
              </a:ext>
            </a:extLst>
          </p:cNvPr>
          <p:cNvSpPr>
            <a:spLocks xmlns:a="http://schemas.openxmlformats.org/drawingml/2006/main" noGrp="1"/>
          </p:cNvSpPr>
          <p:nvPr/>
        </p:nvSpPr>
        <p:spPr>
          <a:xfrm xmlns:a="http://schemas.openxmlformats.org/drawingml/2006/main">
            <a:off x="609600" y="4429125"/>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87"/>
                </a:solidFill>
                <a:latin typeface="DejaVu Sans"/>
                <a:ea typeface="DejaVu Sans"/>
                <a:cs typeface="DejaVu Sans"/>
              </a:defRPr>
            </a:defPPr>
            <a:lvl1pPr>
              <a:buNone/>
              <a:defRPr sz="2250" b="1">
                <a:solidFill>
                  <a:srgbClr val="007D87"/>
                </a:solidFill>
                <a:latin typeface="DejaVu Sans"/>
                <a:ea typeface="DejaVu Sans"/>
                <a:cs typeface="DejaVu Sans"/>
              </a:defRPr>
            </a:lvl1pPr>
            <a:lvl2pPr>
              <a:buNone/>
              <a:defRPr sz="2250" b="1">
                <a:solidFill>
                  <a:srgbClr val="007D87"/>
                </a:solidFill>
                <a:latin typeface="DejaVu Sans"/>
                <a:ea typeface="DejaVu Sans"/>
                <a:cs typeface="DejaVu Sans"/>
              </a:defRPr>
            </a:lvl2pPr>
            <a:lvl3pPr>
              <a:buNone/>
              <a:defRPr sz="2250" b="1">
                <a:solidFill>
                  <a:srgbClr val="007D87"/>
                </a:solidFill>
                <a:latin typeface="DejaVu Sans"/>
                <a:ea typeface="DejaVu Sans"/>
                <a:cs typeface="DejaVu Sans"/>
              </a:defRPr>
            </a:lvl3pPr>
            <a:lvl4pPr>
              <a:buNone/>
              <a:defRPr sz="2250" b="1">
                <a:solidFill>
                  <a:srgbClr val="007D87"/>
                </a:solidFill>
                <a:latin typeface="DejaVu Sans"/>
                <a:ea typeface="DejaVu Sans"/>
                <a:cs typeface="DejaVu Sans"/>
              </a:defRPr>
            </a:lvl4pPr>
            <a:lvl5pPr>
              <a:buNone/>
              <a:defRPr sz="2250" b="1">
                <a:solidFill>
                  <a:srgbClr val="007D87"/>
                </a:solidFill>
                <a:latin typeface="DejaVu Sans"/>
                <a:ea typeface="DejaVu Sans"/>
                <a:cs typeface="DejaVu Sans"/>
              </a:defRPr>
            </a:lvl5pPr>
            <a:lvl6pPr>
              <a:buNone/>
              <a:defRPr sz="2250" b="1">
                <a:solidFill>
                  <a:srgbClr val="007D87"/>
                </a:solidFill>
                <a:latin typeface="DejaVu Sans"/>
                <a:ea typeface="DejaVu Sans"/>
                <a:cs typeface="DejaVu Sans"/>
              </a:defRPr>
            </a:lvl6pPr>
            <a:lvl7pPr>
              <a:buNone/>
              <a:defRPr sz="2250" b="1">
                <a:solidFill>
                  <a:srgbClr val="007D87"/>
                </a:solidFill>
                <a:latin typeface="DejaVu Sans"/>
                <a:ea typeface="DejaVu Sans"/>
                <a:cs typeface="DejaVu Sans"/>
              </a:defRPr>
            </a:lvl7pPr>
            <a:lvl8pPr>
              <a:buNone/>
              <a:defRPr sz="2250" b="1">
                <a:solidFill>
                  <a:srgbClr val="007D87"/>
                </a:solidFill>
                <a:latin typeface="DejaVu Sans"/>
                <a:ea typeface="DejaVu Sans"/>
                <a:cs typeface="DejaVu Sans"/>
              </a:defRPr>
            </a:lvl8pPr>
            <a:lvl9pPr>
              <a:buNone/>
              <a:defRPr sz="2250" b="1">
                <a:solidFill>
                  <a:srgbClr val="007D87"/>
                </a:solidFill>
                <a:latin typeface="DejaVu Sans"/>
                <a:ea typeface="DejaVu Sans"/>
                <a:cs typeface="DejaVu Sans"/>
              </a:defRPr>
            </a:lvl9pPr>
          </a:lstStyle>
          <a:p xmlns:a="http://schemas.openxmlformats.org/drawingml/2006/main">
            <a:pPr>
              <a:buNone/>
              <a:defRPr sz="2250" b="1">
                <a:solidFill>
                  <a:srgbClr val="007D87"/>
                </a:solidFill>
                <a:latin typeface="DejaVu Sans"/>
                <a:ea typeface="DejaVu Sans"/>
                <a:cs typeface="DejaVu Sans"/>
              </a:defRPr>
            </a:pPr>
            <a:r>
              <a:rPr sz="2250" b="1">
                <a:solidFill>
                  <a:srgbClr val="007D87"/>
                </a:solidFill>
                <a:latin typeface="DejaVu Sans"/>
                <a:ea typeface="DejaVu Sans"/>
                <a:cs typeface="DejaVu Sans"/>
              </a:rPr>
              <a:t>Efectos por validar</a:t>
            </a:r>
          </a:p>
        </p:txBody>
      </p:sp>
      <p:sp>
        <p:nvSpPr>
          <p:cNvPr id="9" name="texto-8">
            <a:extLst xmlns:a="http://schemas.openxmlformats.org/drawingml/2006/main">
              <a:ext uri="{FF2B5EF4-FFF2-40B4-BE49-F238E27FC236}">
                <a16:creationId xmlns:a16="http://schemas.microsoft.com/office/drawing/2014/main" id="{633676A7-C7F2-4CDB-81DF-EDAD01C53B5E}"/>
              </a:ext>
            </a:extLst>
          </p:cNvPr>
          <p:cNvSpPr>
            <a:spLocks xmlns:a="http://schemas.openxmlformats.org/drawingml/2006/main" noGrp="1"/>
          </p:cNvSpPr>
          <p:nvPr/>
        </p:nvSpPr>
        <p:spPr>
          <a:xfrm xmlns:a="http://schemas.openxmlformats.org/drawingml/2006/main">
            <a:off x="3524250" y="4429125"/>
            <a:ext cx="800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63447"/>
                </a:solidFill>
                <a:latin typeface="DejaVu Sans"/>
                <a:ea typeface="DejaVu Sans"/>
                <a:cs typeface="DejaVu Sans"/>
              </a:defRPr>
            </a:defPPr>
            <a:lvl1pPr>
              <a:buNone/>
              <a:defRPr sz="2250" b="0">
                <a:solidFill>
                  <a:srgbClr val="163447"/>
                </a:solidFill>
                <a:latin typeface="DejaVu Sans"/>
                <a:ea typeface="DejaVu Sans"/>
                <a:cs typeface="DejaVu Sans"/>
              </a:defRPr>
            </a:lvl1pPr>
            <a:lvl2pPr>
              <a:buNone/>
              <a:defRPr sz="2250" b="0">
                <a:solidFill>
                  <a:srgbClr val="163447"/>
                </a:solidFill>
                <a:latin typeface="DejaVu Sans"/>
                <a:ea typeface="DejaVu Sans"/>
                <a:cs typeface="DejaVu Sans"/>
              </a:defRPr>
            </a:lvl2pPr>
            <a:lvl3pPr>
              <a:buNone/>
              <a:defRPr sz="2250" b="0">
                <a:solidFill>
                  <a:srgbClr val="163447"/>
                </a:solidFill>
                <a:latin typeface="DejaVu Sans"/>
                <a:ea typeface="DejaVu Sans"/>
                <a:cs typeface="DejaVu Sans"/>
              </a:defRPr>
            </a:lvl3pPr>
            <a:lvl4pPr>
              <a:buNone/>
              <a:defRPr sz="2250" b="0">
                <a:solidFill>
                  <a:srgbClr val="163447"/>
                </a:solidFill>
                <a:latin typeface="DejaVu Sans"/>
                <a:ea typeface="DejaVu Sans"/>
                <a:cs typeface="DejaVu Sans"/>
              </a:defRPr>
            </a:lvl4pPr>
            <a:lvl5pPr>
              <a:buNone/>
              <a:defRPr sz="2250" b="0">
                <a:solidFill>
                  <a:srgbClr val="163447"/>
                </a:solidFill>
                <a:latin typeface="DejaVu Sans"/>
                <a:ea typeface="DejaVu Sans"/>
                <a:cs typeface="DejaVu Sans"/>
              </a:defRPr>
            </a:lvl5pPr>
            <a:lvl6pPr>
              <a:buNone/>
              <a:defRPr sz="2250" b="0">
                <a:solidFill>
                  <a:srgbClr val="163447"/>
                </a:solidFill>
                <a:latin typeface="DejaVu Sans"/>
                <a:ea typeface="DejaVu Sans"/>
                <a:cs typeface="DejaVu Sans"/>
              </a:defRPr>
            </a:lvl6pPr>
            <a:lvl7pPr>
              <a:buNone/>
              <a:defRPr sz="2250" b="0">
                <a:solidFill>
                  <a:srgbClr val="163447"/>
                </a:solidFill>
                <a:latin typeface="DejaVu Sans"/>
                <a:ea typeface="DejaVu Sans"/>
                <a:cs typeface="DejaVu Sans"/>
              </a:defRPr>
            </a:lvl7pPr>
            <a:lvl8pPr>
              <a:buNone/>
              <a:defRPr sz="2250" b="0">
                <a:solidFill>
                  <a:srgbClr val="163447"/>
                </a:solidFill>
                <a:latin typeface="DejaVu Sans"/>
                <a:ea typeface="DejaVu Sans"/>
                <a:cs typeface="DejaVu Sans"/>
              </a:defRPr>
            </a:lvl8pPr>
            <a:lvl9pPr>
              <a:buNone/>
              <a:defRPr sz="2250" b="0">
                <a:solidFill>
                  <a:srgbClr val="163447"/>
                </a:solidFill>
                <a:latin typeface="DejaVu Sans"/>
                <a:ea typeface="DejaVu Sans"/>
                <a:cs typeface="DejaVu Sans"/>
              </a:defRPr>
            </a:lvl9pPr>
          </a:lstStyle>
          <a:p xmlns:a="http://schemas.openxmlformats.org/drawingml/2006/main">
            <a:pPr>
              <a:buNone/>
              <a:defRPr sz="2250" b="0">
                <a:solidFill>
                  <a:srgbClr val="163447"/>
                </a:solidFill>
                <a:latin typeface="DejaVu Sans"/>
                <a:ea typeface="DejaVu Sans"/>
                <a:cs typeface="DejaVu Sans"/>
              </a:defRPr>
            </a:pPr>
            <a:r>
              <a:rPr sz="2250" b="0">
                <a:solidFill>
                  <a:srgbClr val="163447"/>
                </a:solidFill>
                <a:latin typeface="DejaVu Sans"/>
                <a:ea typeface="DejaVu Sans"/>
                <a:cs typeface="DejaVu Sans"/>
              </a:rPr>
              <a:t>Dobles asignaciones, tareas sin responsable, esperas y cambios que no llegan a todos.</a:t>
            </a:r>
          </a:p>
        </p:txBody>
      </p:sp>
      <p:sp>
        <p:nvSpPr>
          <p:cNvPr id="10" name="texto-9">
            <a:extLst xmlns:a="http://schemas.openxmlformats.org/drawingml/2006/main">
              <a:ext uri="{FF2B5EF4-FFF2-40B4-BE49-F238E27FC236}">
                <a16:creationId xmlns:a16="http://schemas.microsoft.com/office/drawing/2014/main" id="{B765FCA2-BB4C-43ED-878B-889C72FC5DB0}"/>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36D"/>
                </a:solidFill>
                <a:latin typeface="DejaVu Sans"/>
                <a:ea typeface="DejaVu Sans"/>
                <a:cs typeface="DejaVu Sans"/>
              </a:defRPr>
            </a:defPPr>
            <a:lvl1pPr>
              <a:buNone/>
              <a:defRPr sz="1575" b="0">
                <a:solidFill>
                  <a:srgbClr val="52636D"/>
                </a:solidFill>
                <a:latin typeface="DejaVu Sans"/>
                <a:ea typeface="DejaVu Sans"/>
                <a:cs typeface="DejaVu Sans"/>
              </a:defRPr>
            </a:lvl1pPr>
            <a:lvl2pPr>
              <a:buNone/>
              <a:defRPr sz="1575" b="0">
                <a:solidFill>
                  <a:srgbClr val="52636D"/>
                </a:solidFill>
                <a:latin typeface="DejaVu Sans"/>
                <a:ea typeface="DejaVu Sans"/>
                <a:cs typeface="DejaVu Sans"/>
              </a:defRPr>
            </a:lvl2pPr>
            <a:lvl3pPr>
              <a:buNone/>
              <a:defRPr sz="1575" b="0">
                <a:solidFill>
                  <a:srgbClr val="52636D"/>
                </a:solidFill>
                <a:latin typeface="DejaVu Sans"/>
                <a:ea typeface="DejaVu Sans"/>
                <a:cs typeface="DejaVu Sans"/>
              </a:defRPr>
            </a:lvl3pPr>
            <a:lvl4pPr>
              <a:buNone/>
              <a:defRPr sz="1575" b="0">
                <a:solidFill>
                  <a:srgbClr val="52636D"/>
                </a:solidFill>
                <a:latin typeface="DejaVu Sans"/>
                <a:ea typeface="DejaVu Sans"/>
                <a:cs typeface="DejaVu Sans"/>
              </a:defRPr>
            </a:lvl4pPr>
            <a:lvl5pPr>
              <a:buNone/>
              <a:defRPr sz="1575" b="0">
                <a:solidFill>
                  <a:srgbClr val="52636D"/>
                </a:solidFill>
                <a:latin typeface="DejaVu Sans"/>
                <a:ea typeface="DejaVu Sans"/>
                <a:cs typeface="DejaVu Sans"/>
              </a:defRPr>
            </a:lvl5pPr>
            <a:lvl6pPr>
              <a:buNone/>
              <a:defRPr sz="1575" b="0">
                <a:solidFill>
                  <a:srgbClr val="52636D"/>
                </a:solidFill>
                <a:latin typeface="DejaVu Sans"/>
                <a:ea typeface="DejaVu Sans"/>
                <a:cs typeface="DejaVu Sans"/>
              </a:defRPr>
            </a:lvl6pPr>
            <a:lvl7pPr>
              <a:buNone/>
              <a:defRPr sz="1575" b="0">
                <a:solidFill>
                  <a:srgbClr val="52636D"/>
                </a:solidFill>
                <a:latin typeface="DejaVu Sans"/>
                <a:ea typeface="DejaVu Sans"/>
                <a:cs typeface="DejaVu Sans"/>
              </a:defRPr>
            </a:lvl7pPr>
            <a:lvl8pPr>
              <a:buNone/>
              <a:defRPr sz="1575" b="0">
                <a:solidFill>
                  <a:srgbClr val="52636D"/>
                </a:solidFill>
                <a:latin typeface="DejaVu Sans"/>
                <a:ea typeface="DejaVu Sans"/>
                <a:cs typeface="DejaVu Sans"/>
              </a:defRPr>
            </a:lvl8pPr>
            <a:lvl9pPr>
              <a:buNone/>
              <a:defRPr sz="1575" b="0">
                <a:solidFill>
                  <a:srgbClr val="52636D"/>
                </a:solidFill>
                <a:latin typeface="DejaVu Sans"/>
                <a:ea typeface="DejaVu Sans"/>
                <a:cs typeface="DejaVu Sans"/>
              </a:defRPr>
            </a:lvl9pPr>
          </a:lstStyle>
          <a:p xmlns:a="http://schemas.openxmlformats.org/drawingml/2006/main">
            <a:pPr>
              <a:buNone/>
              <a:defRPr sz="1575" b="0">
                <a:solidFill>
                  <a:srgbClr val="52636D"/>
                </a:solidFill>
                <a:latin typeface="DejaVu Sans"/>
                <a:ea typeface="DejaVu Sans"/>
                <a:cs typeface="DejaVu Sans"/>
              </a:defRPr>
            </a:pPr>
            <a:r>
              <a:rPr sz="1575" b="0">
                <a:solidFill>
                  <a:srgbClr val="52636D"/>
                </a:solidFill>
                <a:latin typeface="DejaVu Sans"/>
                <a:ea typeface="DejaVu Sans"/>
                <a:cs typeface="DejaVu Sans"/>
              </a:rPr>
              <a:t>Son hipótesis del caso. La literatura sustenta estudiarlas; todavía faltan entrevistas y mediciones de Dizeo.</a:t>
            </a:r>
          </a:p>
        </p:txBody>
      </p:sp>
    </p:spTree>
    <p:extLst>
      <p:ext uri="{BB962C8B-B14F-4D97-AF65-F5344CB8AC3E}">
        <p14:creationId xmlns:p14="http://schemas.microsoft.com/office/powerpoint/2010/main" val="3958780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o-0">
            <a:extLst xmlns:a="http://schemas.openxmlformats.org/drawingml/2006/main">
              <a:ext uri="{FF2B5EF4-FFF2-40B4-BE49-F238E27FC236}">
                <a16:creationId xmlns:a16="http://schemas.microsoft.com/office/drawing/2014/main" id="{886C8279-8D10-44CF-8B0D-8EEEBCC76BD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Variables y restricciones</a:t>
            </a:r>
          </a:p>
        </p:txBody>
      </p:sp>
      <p:sp>
        <p:nvSpPr>
          <p:cNvPr id="2" name="texto-1">
            <a:extLst xmlns:a="http://schemas.openxmlformats.org/drawingml/2006/main">
              <a:ext uri="{FF2B5EF4-FFF2-40B4-BE49-F238E27FC236}">
                <a16:creationId xmlns:a16="http://schemas.microsoft.com/office/drawing/2014/main" id="{DA63D012-A4EA-4074-ABCB-4B7598C37D2B}"/>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8F0079FA-EAE0-4493-BA46-70C35839364F}"/>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3</a:t>
            </a:r>
          </a:p>
        </p:txBody>
      </p:sp>
      <p:graphicFrame>
        <p:nvGraphicFramePr>
          <p:cNvPr id="4" name="">
            <a:extLst xmlns:a="http://schemas.openxmlformats.org/drawingml/2006/main">
              <a:ext uri="{FF2B5EF4-FFF2-40B4-BE49-F238E27FC236}">
                <a16:creationId xmlns:a16="http://schemas.microsoft.com/office/drawing/2014/main" id="{8CB89A1C-2ADC-4A96-B035-24C2CC19E184}"/>
              </a:ext>
            </a:extLst>
          </p:cNvPr>
          <p:cNvGraphicFramePr/>
          <p:nvPr/>
        </p:nvGraphicFramePr>
        <p:xfrm>
          <a:off xmlns:a="http://schemas.openxmlformats.org/drawingml/2006/main" x="609600" y="1524000"/>
          <a:ext xmlns:a="http://schemas.openxmlformats.org/drawingml/2006/main" cx="10972800" cy="2667000"/>
        </p:xfrm>
        <a:graphic xmlns:a="http://schemas.openxmlformats.org/drawingml/2006/main">
          <a:graphicData uri="http://schemas.openxmlformats.org/drawingml/2006/table">
            <a:tbl>
              <a:tblPr/>
              <a:tblGrid>
                <a:gridCol w="2476500"/>
                <a:gridCol w="8496300"/>
              </a:tblGrid>
              <a:tr h="889000">
                <a:tc>
                  <a:txBody>
                    <a:bodyPr wrap="square" lIns="123825" tIns="85725" rIns="123825" bIns="85725">
                      <a:noAutofit/>
                    </a:bodyPr>
                    <a:lstStyle/>
                    <a:p>
                      <a:r>
                        <a:rPr sz="2025" b="1">
                          <a:solidFill>
                            <a:srgbClr val="FFFFFF"/>
                          </a:solidFill>
                          <a:latin typeface="DejaVu Sans"/>
                          <a:ea typeface="DejaVu Sans"/>
                          <a:cs typeface="DejaVu Sans"/>
                        </a:rPr>
                        <a:t>Tipo</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2025" b="1">
                          <a:solidFill>
                            <a:srgbClr val="FFFFFF"/>
                          </a:solidFill>
                          <a:latin typeface="DejaVu Sans"/>
                          <a:ea typeface="DejaVu Sans"/>
                          <a:cs typeface="DejaVu Sans"/>
                        </a:rPr>
                        <a:t>Elementos del problema</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889000">
                <a:tc>
                  <a:txBody>
                    <a:bodyPr wrap="square" lIns="123825" tIns="85725" rIns="123825" bIns="85725">
                      <a:noAutofit/>
                    </a:bodyPr>
                    <a:lstStyle/>
                    <a:p>
                      <a:r>
                        <a:rPr sz="2025" b="0">
                          <a:solidFill>
                            <a:srgbClr val="163447"/>
                          </a:solidFill>
                          <a:latin typeface="DejaVu Sans"/>
                          <a:ea typeface="DejaVu Sans"/>
                          <a:cs typeface="DejaVu Sans"/>
                        </a:rPr>
                        <a:t>Cuantitativas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2025" b="0">
                          <a:solidFill>
                            <a:srgbClr val="163447"/>
                          </a:solidFill>
                          <a:latin typeface="DejaVu Sans"/>
                          <a:ea typeface="DejaVu Sans"/>
                          <a:cs typeface="DejaVu Sans"/>
                        </a:rPr>
                        <a:t>Horas disponibles y asignadas, conflictos, actividades sin responsable y cumplimiento semanal.</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889000">
                <a:tc>
                  <a:txBody>
                    <a:bodyPr wrap="square" lIns="123825" tIns="85725" rIns="123825" bIns="85725">
                      <a:noAutofit/>
                    </a:bodyPr>
                    <a:lstStyle/>
                    <a:p>
                      <a:r>
                        <a:rPr sz="2025" b="0">
                          <a:solidFill>
                            <a:srgbClr val="163447"/>
                          </a:solidFill>
                          <a:latin typeface="DejaVu Sans"/>
                          <a:ea typeface="DejaVu Sans"/>
                          <a:cs typeface="DejaVu Sans"/>
                        </a:rPr>
                        <a:t>Cualitativas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2025" b="0">
                          <a:solidFill>
                            <a:srgbClr val="163447"/>
                          </a:solidFill>
                          <a:latin typeface="DejaVu Sans"/>
                          <a:ea typeface="DejaVu Sans"/>
                          <a:cs typeface="DejaVu Sans"/>
                        </a:rPr>
                        <a:t>Especialidad, prioridad, estado de actividad, zona de obra y motivo de bloqueo.</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bl>
          </a:graphicData>
        </a:graphic>
      </p:graphicFrame>
      <p:sp>
        <p:nvSpPr>
          <p:cNvPr id="5" name="texto-3">
            <a:extLst xmlns:a="http://schemas.openxmlformats.org/drawingml/2006/main">
              <a:ext uri="{FF2B5EF4-FFF2-40B4-BE49-F238E27FC236}">
                <a16:creationId xmlns:a16="http://schemas.microsoft.com/office/drawing/2014/main" id="{2E8F7211-8F59-4995-809C-45B889AC4985}"/>
              </a:ext>
            </a:extLst>
          </p:cNvPr>
          <p:cNvSpPr>
            <a:spLocks xmlns:a="http://schemas.openxmlformats.org/drawingml/2006/main" noGrp="1"/>
          </p:cNvSpPr>
          <p:nvPr/>
        </p:nvSpPr>
        <p:spPr>
          <a:xfrm xmlns:a="http://schemas.openxmlformats.org/drawingml/2006/main">
            <a:off x="609600" y="4524375"/>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87"/>
                </a:solidFill>
                <a:latin typeface="DejaVu Sans"/>
                <a:ea typeface="DejaVu Sans"/>
                <a:cs typeface="DejaVu Sans"/>
              </a:defRPr>
            </a:defPPr>
            <a:lvl1pPr>
              <a:buNone/>
              <a:defRPr sz="2250" b="1">
                <a:solidFill>
                  <a:srgbClr val="007D87"/>
                </a:solidFill>
                <a:latin typeface="DejaVu Sans"/>
                <a:ea typeface="DejaVu Sans"/>
                <a:cs typeface="DejaVu Sans"/>
              </a:defRPr>
            </a:lvl1pPr>
            <a:lvl2pPr>
              <a:buNone/>
              <a:defRPr sz="2250" b="1">
                <a:solidFill>
                  <a:srgbClr val="007D87"/>
                </a:solidFill>
                <a:latin typeface="DejaVu Sans"/>
                <a:ea typeface="DejaVu Sans"/>
                <a:cs typeface="DejaVu Sans"/>
              </a:defRPr>
            </a:lvl2pPr>
            <a:lvl3pPr>
              <a:buNone/>
              <a:defRPr sz="2250" b="1">
                <a:solidFill>
                  <a:srgbClr val="007D87"/>
                </a:solidFill>
                <a:latin typeface="DejaVu Sans"/>
                <a:ea typeface="DejaVu Sans"/>
                <a:cs typeface="DejaVu Sans"/>
              </a:defRPr>
            </a:lvl3pPr>
            <a:lvl4pPr>
              <a:buNone/>
              <a:defRPr sz="2250" b="1">
                <a:solidFill>
                  <a:srgbClr val="007D87"/>
                </a:solidFill>
                <a:latin typeface="DejaVu Sans"/>
                <a:ea typeface="DejaVu Sans"/>
                <a:cs typeface="DejaVu Sans"/>
              </a:defRPr>
            </a:lvl4pPr>
            <a:lvl5pPr>
              <a:buNone/>
              <a:defRPr sz="2250" b="1">
                <a:solidFill>
                  <a:srgbClr val="007D87"/>
                </a:solidFill>
                <a:latin typeface="DejaVu Sans"/>
                <a:ea typeface="DejaVu Sans"/>
                <a:cs typeface="DejaVu Sans"/>
              </a:defRPr>
            </a:lvl5pPr>
            <a:lvl6pPr>
              <a:buNone/>
              <a:defRPr sz="2250" b="1">
                <a:solidFill>
                  <a:srgbClr val="007D87"/>
                </a:solidFill>
                <a:latin typeface="DejaVu Sans"/>
                <a:ea typeface="DejaVu Sans"/>
                <a:cs typeface="DejaVu Sans"/>
              </a:defRPr>
            </a:lvl6pPr>
            <a:lvl7pPr>
              <a:buNone/>
              <a:defRPr sz="2250" b="1">
                <a:solidFill>
                  <a:srgbClr val="007D87"/>
                </a:solidFill>
                <a:latin typeface="DejaVu Sans"/>
                <a:ea typeface="DejaVu Sans"/>
                <a:cs typeface="DejaVu Sans"/>
              </a:defRPr>
            </a:lvl7pPr>
            <a:lvl8pPr>
              <a:buNone/>
              <a:defRPr sz="2250" b="1">
                <a:solidFill>
                  <a:srgbClr val="007D87"/>
                </a:solidFill>
                <a:latin typeface="DejaVu Sans"/>
                <a:ea typeface="DejaVu Sans"/>
                <a:cs typeface="DejaVu Sans"/>
              </a:defRPr>
            </a:lvl8pPr>
            <a:lvl9pPr>
              <a:buNone/>
              <a:defRPr sz="2250" b="1">
                <a:solidFill>
                  <a:srgbClr val="007D87"/>
                </a:solidFill>
                <a:latin typeface="DejaVu Sans"/>
                <a:ea typeface="DejaVu Sans"/>
                <a:cs typeface="DejaVu Sans"/>
              </a:defRPr>
            </a:lvl9pPr>
          </a:lstStyle>
          <a:p xmlns:a="http://schemas.openxmlformats.org/drawingml/2006/main">
            <a:pPr>
              <a:buNone/>
              <a:defRPr sz="2250" b="1">
                <a:solidFill>
                  <a:srgbClr val="007D87"/>
                </a:solidFill>
                <a:latin typeface="DejaVu Sans"/>
                <a:ea typeface="DejaVu Sans"/>
                <a:cs typeface="DejaVu Sans"/>
              </a:defRPr>
            </a:pPr>
            <a:r>
              <a:rPr sz="2250" b="1">
                <a:solidFill>
                  <a:srgbClr val="007D87"/>
                </a:solidFill>
                <a:latin typeface="DejaVu Sans"/>
                <a:ea typeface="DejaVu Sans"/>
                <a:cs typeface="DejaVu Sans"/>
              </a:rPr>
              <a:t>Reglas que condicionan la planificación</a:t>
            </a:r>
          </a:p>
        </p:txBody>
      </p:sp>
      <p:sp>
        <p:nvSpPr>
          <p:cNvPr id="6" name="texto-4">
            <a:extLst xmlns:a="http://schemas.openxmlformats.org/drawingml/2006/main">
              <a:ext uri="{FF2B5EF4-FFF2-40B4-BE49-F238E27FC236}">
                <a16:creationId xmlns:a16="http://schemas.microsoft.com/office/drawing/2014/main" id="{A2970E8B-6783-48D2-9C7A-6A06CD2E4EFA}"/>
              </a:ext>
            </a:extLst>
          </p:cNvPr>
          <p:cNvSpPr>
            <a:spLocks xmlns:a="http://schemas.openxmlformats.org/drawingml/2006/main" noGrp="1"/>
          </p:cNvSpPr>
          <p:nvPr/>
        </p:nvSpPr>
        <p:spPr>
          <a:xfrm xmlns:a="http://schemas.openxmlformats.org/drawingml/2006/main">
            <a:off x="609600" y="5095875"/>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63447"/>
                </a:solidFill>
                <a:latin typeface="DejaVu Sans"/>
                <a:ea typeface="DejaVu Sans"/>
                <a:cs typeface="DejaVu Sans"/>
              </a:defRPr>
            </a:defPPr>
            <a:lvl1pPr>
              <a:buNone/>
              <a:defRPr sz="2100" b="0">
                <a:solidFill>
                  <a:srgbClr val="163447"/>
                </a:solidFill>
                <a:latin typeface="DejaVu Sans"/>
                <a:ea typeface="DejaVu Sans"/>
                <a:cs typeface="DejaVu Sans"/>
              </a:defRPr>
            </a:lvl1pPr>
            <a:lvl2pPr>
              <a:buNone/>
              <a:defRPr sz="2100" b="0">
                <a:solidFill>
                  <a:srgbClr val="163447"/>
                </a:solidFill>
                <a:latin typeface="DejaVu Sans"/>
                <a:ea typeface="DejaVu Sans"/>
                <a:cs typeface="DejaVu Sans"/>
              </a:defRPr>
            </a:lvl2pPr>
            <a:lvl3pPr>
              <a:buNone/>
              <a:defRPr sz="2100" b="0">
                <a:solidFill>
                  <a:srgbClr val="163447"/>
                </a:solidFill>
                <a:latin typeface="DejaVu Sans"/>
                <a:ea typeface="DejaVu Sans"/>
                <a:cs typeface="DejaVu Sans"/>
              </a:defRPr>
            </a:lvl3pPr>
            <a:lvl4pPr>
              <a:buNone/>
              <a:defRPr sz="2100" b="0">
                <a:solidFill>
                  <a:srgbClr val="163447"/>
                </a:solidFill>
                <a:latin typeface="DejaVu Sans"/>
                <a:ea typeface="DejaVu Sans"/>
                <a:cs typeface="DejaVu Sans"/>
              </a:defRPr>
            </a:lvl4pPr>
            <a:lvl5pPr>
              <a:buNone/>
              <a:defRPr sz="2100" b="0">
                <a:solidFill>
                  <a:srgbClr val="163447"/>
                </a:solidFill>
                <a:latin typeface="DejaVu Sans"/>
                <a:ea typeface="DejaVu Sans"/>
                <a:cs typeface="DejaVu Sans"/>
              </a:defRPr>
            </a:lvl5pPr>
            <a:lvl6pPr>
              <a:buNone/>
              <a:defRPr sz="2100" b="0">
                <a:solidFill>
                  <a:srgbClr val="163447"/>
                </a:solidFill>
                <a:latin typeface="DejaVu Sans"/>
                <a:ea typeface="DejaVu Sans"/>
                <a:cs typeface="DejaVu Sans"/>
              </a:defRPr>
            </a:lvl6pPr>
            <a:lvl7pPr>
              <a:buNone/>
              <a:defRPr sz="2100" b="0">
                <a:solidFill>
                  <a:srgbClr val="163447"/>
                </a:solidFill>
                <a:latin typeface="DejaVu Sans"/>
                <a:ea typeface="DejaVu Sans"/>
                <a:cs typeface="DejaVu Sans"/>
              </a:defRPr>
            </a:lvl7pPr>
            <a:lvl8pPr>
              <a:buNone/>
              <a:defRPr sz="2100" b="0">
                <a:solidFill>
                  <a:srgbClr val="163447"/>
                </a:solidFill>
                <a:latin typeface="DejaVu Sans"/>
                <a:ea typeface="DejaVu Sans"/>
                <a:cs typeface="DejaVu Sans"/>
              </a:defRPr>
            </a:lvl8pPr>
            <a:lvl9pPr>
              <a:buNone/>
              <a:defRPr sz="2100" b="0">
                <a:solidFill>
                  <a:srgbClr val="163447"/>
                </a:solidFill>
                <a:latin typeface="DejaVu Sans"/>
                <a:ea typeface="DejaVu Sans"/>
                <a:cs typeface="DejaVu Sans"/>
              </a:defRPr>
            </a:lvl9pPr>
          </a:lstStyle>
          <a:p xmlns:a="http://schemas.openxmlformats.org/drawingml/2006/main">
            <a:pPr>
              <a:buNone/>
              <a:defRPr sz="2100" b="0">
                <a:solidFill>
                  <a:srgbClr val="163447"/>
                </a:solidFill>
                <a:latin typeface="DejaVu Sans"/>
                <a:ea typeface="DejaVu Sans"/>
                <a:cs typeface="DejaVu Sans"/>
              </a:defRPr>
            </a:pPr>
            <a:r>
              <a:rPr sz="2100" b="0">
                <a:solidFill>
                  <a:srgbClr val="163447"/>
                </a:solidFill>
                <a:latin typeface="DejaVu Sans"/>
                <a:ea typeface="DejaVu Sans"/>
                <a:cs typeface="DejaVu Sans"/>
              </a:rPr>
              <a:t>Disponibilidad y especialidad verificadas. Dependencias sin ciclos. Traslados explícitos entre obras. Equipo completo antes de confirmar.</a:t>
            </a:r>
          </a:p>
        </p:txBody>
      </p:sp>
      <p:sp>
        <p:nvSpPr>
          <p:cNvPr id="7" name="texto-5">
            <a:extLst xmlns:a="http://schemas.openxmlformats.org/drawingml/2006/main">
              <a:ext uri="{FF2B5EF4-FFF2-40B4-BE49-F238E27FC236}">
                <a16:creationId xmlns:a16="http://schemas.microsoft.com/office/drawing/2014/main" id="{B369DE6F-AB77-4DC5-8C2C-5EF93404D189}"/>
              </a:ext>
            </a:extLst>
          </p:cNvPr>
          <p:cNvSpPr>
            <a:spLocks xmlns:a="http://schemas.openxmlformats.org/drawingml/2006/main" noGrp="1"/>
          </p:cNvSpPr>
          <p:nvPr/>
        </p:nvSpPr>
        <p:spPr>
          <a:xfrm xmlns:a="http://schemas.openxmlformats.org/drawingml/2006/main">
            <a:off x="609600" y="60960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2636D"/>
                </a:solidFill>
                <a:latin typeface="DejaVu Sans"/>
                <a:ea typeface="DejaVu Sans"/>
                <a:cs typeface="DejaVu Sans"/>
              </a:defRPr>
            </a:defPPr>
            <a:lvl1pPr>
              <a:buNone/>
              <a:defRPr sz="1500" b="0">
                <a:solidFill>
                  <a:srgbClr val="52636D"/>
                </a:solidFill>
                <a:latin typeface="DejaVu Sans"/>
                <a:ea typeface="DejaVu Sans"/>
                <a:cs typeface="DejaVu Sans"/>
              </a:defRPr>
            </a:lvl1pPr>
            <a:lvl2pPr>
              <a:buNone/>
              <a:defRPr sz="1500" b="0">
                <a:solidFill>
                  <a:srgbClr val="52636D"/>
                </a:solidFill>
                <a:latin typeface="DejaVu Sans"/>
                <a:ea typeface="DejaVu Sans"/>
                <a:cs typeface="DejaVu Sans"/>
              </a:defRPr>
            </a:lvl2pPr>
            <a:lvl3pPr>
              <a:buNone/>
              <a:defRPr sz="1500" b="0">
                <a:solidFill>
                  <a:srgbClr val="52636D"/>
                </a:solidFill>
                <a:latin typeface="DejaVu Sans"/>
                <a:ea typeface="DejaVu Sans"/>
                <a:cs typeface="DejaVu Sans"/>
              </a:defRPr>
            </a:lvl3pPr>
            <a:lvl4pPr>
              <a:buNone/>
              <a:defRPr sz="1500" b="0">
                <a:solidFill>
                  <a:srgbClr val="52636D"/>
                </a:solidFill>
                <a:latin typeface="DejaVu Sans"/>
                <a:ea typeface="DejaVu Sans"/>
                <a:cs typeface="DejaVu Sans"/>
              </a:defRPr>
            </a:lvl4pPr>
            <a:lvl5pPr>
              <a:buNone/>
              <a:defRPr sz="1500" b="0">
                <a:solidFill>
                  <a:srgbClr val="52636D"/>
                </a:solidFill>
                <a:latin typeface="DejaVu Sans"/>
                <a:ea typeface="DejaVu Sans"/>
                <a:cs typeface="DejaVu Sans"/>
              </a:defRPr>
            </a:lvl5pPr>
            <a:lvl6pPr>
              <a:buNone/>
              <a:defRPr sz="1500" b="0">
                <a:solidFill>
                  <a:srgbClr val="52636D"/>
                </a:solidFill>
                <a:latin typeface="DejaVu Sans"/>
                <a:ea typeface="DejaVu Sans"/>
                <a:cs typeface="DejaVu Sans"/>
              </a:defRPr>
            </a:lvl6pPr>
            <a:lvl7pPr>
              <a:buNone/>
              <a:defRPr sz="1500" b="0">
                <a:solidFill>
                  <a:srgbClr val="52636D"/>
                </a:solidFill>
                <a:latin typeface="DejaVu Sans"/>
                <a:ea typeface="DejaVu Sans"/>
                <a:cs typeface="DejaVu Sans"/>
              </a:defRPr>
            </a:lvl7pPr>
            <a:lvl8pPr>
              <a:buNone/>
              <a:defRPr sz="1500" b="0">
                <a:solidFill>
                  <a:srgbClr val="52636D"/>
                </a:solidFill>
                <a:latin typeface="DejaVu Sans"/>
                <a:ea typeface="DejaVu Sans"/>
                <a:cs typeface="DejaVu Sans"/>
              </a:defRPr>
            </a:lvl8pPr>
            <a:lvl9pPr>
              <a:buNone/>
              <a:defRPr sz="1500" b="0">
                <a:solidFill>
                  <a:srgbClr val="52636D"/>
                </a:solidFill>
                <a:latin typeface="DejaVu Sans"/>
                <a:ea typeface="DejaVu Sans"/>
                <a:cs typeface="DejaVu Sans"/>
              </a:defRPr>
            </a:lvl9pPr>
          </a:lstStyle>
          <a:p xmlns:a="http://schemas.openxmlformats.org/drawingml/2006/main">
            <a:pPr>
              <a:buNone/>
              <a:defRPr sz="1500" b="0">
                <a:solidFill>
                  <a:srgbClr val="52636D"/>
                </a:solidFill>
                <a:latin typeface="DejaVu Sans"/>
                <a:ea typeface="DejaVu Sans"/>
                <a:cs typeface="DejaVu Sans"/>
              </a:defRPr>
            </a:pPr>
            <a:r>
              <a:rPr sz="1500" b="0">
                <a:solidFill>
                  <a:srgbClr val="52636D"/>
                </a:solidFill>
                <a:latin typeface="DejaVu Sans"/>
                <a:ea typeface="DejaVu Sans"/>
                <a:cs typeface="DejaVu Sans"/>
              </a:rPr>
              <a:t>Tecnologías previstas: Java Swing y PostgreSQL. Fechas en America/Guayaquil.</a:t>
            </a:r>
          </a:p>
        </p:txBody>
      </p:sp>
    </p:spTree>
    <p:extLst>
      <p:ext uri="{BB962C8B-B14F-4D97-AF65-F5344CB8AC3E}">
        <p14:creationId xmlns:p14="http://schemas.microsoft.com/office/powerpoint/2010/main" val="9114270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o-0">
            <a:extLst xmlns:a="http://schemas.openxmlformats.org/drawingml/2006/main">
              <a:ext uri="{FF2B5EF4-FFF2-40B4-BE49-F238E27FC236}">
                <a16:creationId xmlns:a16="http://schemas.microsoft.com/office/drawing/2014/main" id="{1B2B36C3-B377-448C-94DE-842318B4233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Cinco módulos funcionales</a:t>
            </a:r>
          </a:p>
        </p:txBody>
      </p:sp>
      <p:sp>
        <p:nvSpPr>
          <p:cNvPr id="2" name="texto-1">
            <a:extLst xmlns:a="http://schemas.openxmlformats.org/drawingml/2006/main">
              <a:ext uri="{FF2B5EF4-FFF2-40B4-BE49-F238E27FC236}">
                <a16:creationId xmlns:a16="http://schemas.microsoft.com/office/drawing/2014/main" id="{99358805-8B71-4458-9C8A-F6AF33E5F20B}"/>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9E62BB6C-9939-4233-B397-60790AB4D26A}"/>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4</a:t>
            </a:r>
          </a:p>
        </p:txBody>
      </p:sp>
      <p:graphicFrame>
        <p:nvGraphicFramePr>
          <p:cNvPr id="4" name="">
            <a:extLst xmlns:a="http://schemas.openxmlformats.org/drawingml/2006/main">
              <a:ext uri="{FF2B5EF4-FFF2-40B4-BE49-F238E27FC236}">
                <a16:creationId xmlns:a16="http://schemas.microsoft.com/office/drawing/2014/main" id="{5F4C2F03-5B28-47CD-9984-EE0ABE966FD5}"/>
              </a:ext>
            </a:extLst>
          </p:cNvPr>
          <p:cNvGraphicFramePr/>
          <p:nvPr/>
        </p:nvGraphicFramePr>
        <p:xfrm>
          <a:off xmlns:a="http://schemas.openxmlformats.org/drawingml/2006/main" x="609600" y="1476375"/>
          <a:ext xmlns:a="http://schemas.openxmlformats.org/drawingml/2006/main" cx="10972800" cy="4381500"/>
        </p:xfrm>
        <a:graphic xmlns:a="http://schemas.openxmlformats.org/drawingml/2006/main">
          <a:graphicData uri="http://schemas.openxmlformats.org/drawingml/2006/table">
            <a:tbl>
              <a:tblPr/>
              <a:tblGrid>
                <a:gridCol w="2238375"/>
                <a:gridCol w="6286500"/>
                <a:gridCol w="2447925"/>
              </a:tblGrid>
              <a:tr h="730250">
                <a:tc>
                  <a:txBody>
                    <a:bodyPr wrap="square" lIns="123825" tIns="85725" rIns="123825" bIns="85725">
                      <a:noAutofit/>
                    </a:bodyPr>
                    <a:lstStyle/>
                    <a:p>
                      <a:r>
                        <a:rPr sz="1725" b="1">
                          <a:solidFill>
                            <a:srgbClr val="FFFFFF"/>
                          </a:solidFill>
                          <a:latin typeface="DejaVu Sans"/>
                          <a:ea typeface="DejaVu Sans"/>
                          <a:cs typeface="DejaVu Sans"/>
                        </a:rPr>
                        <a:t>Módulo</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725" b="1">
                          <a:solidFill>
                            <a:srgbClr val="FFFFFF"/>
                          </a:solidFill>
                          <a:latin typeface="DejaVu Sans"/>
                          <a:ea typeface="DejaVu Sans"/>
                          <a:cs typeface="DejaVu Sans"/>
                        </a:rPr>
                        <a:t>Operaciones propias del dominio</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725" b="1">
                          <a:solidFill>
                            <a:srgbClr val="FFFFFF"/>
                          </a:solidFill>
                          <a:latin typeface="DejaVu Sans"/>
                          <a:ea typeface="DejaVu Sans"/>
                          <a:cs typeface="DejaVu Sans"/>
                        </a:rPr>
                        <a:t>Responsable propuesto</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730250">
                <a:tc>
                  <a:txBody>
                    <a:bodyPr wrap="square" lIns="123825" tIns="85725" rIns="123825" bIns="85725">
                      <a:noAutofit/>
                    </a:bodyPr>
                    <a:lstStyle/>
                    <a:p>
                      <a:r>
                        <a:rPr sz="1725" b="0">
                          <a:solidFill>
                            <a:srgbClr val="163447"/>
                          </a:solidFill>
                          <a:latin typeface="DejaVu Sans"/>
                          <a:ea typeface="DejaVu Sans"/>
                          <a:cs typeface="DejaVu Sans"/>
                        </a:rPr>
                        <a:t>Obras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Filtrar, ordenar entregas y señalar tareas vencidas o sin responsable.</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Daniel</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730250">
                <a:tc>
                  <a:txBody>
                    <a:bodyPr wrap="square" lIns="123825" tIns="85725" rIns="123825" bIns="85725">
                      <a:noAutofit/>
                    </a:bodyPr>
                    <a:lstStyle/>
                    <a:p>
                      <a:r>
                        <a:rPr sz="1725" b="0">
                          <a:solidFill>
                            <a:srgbClr val="163447"/>
                          </a:solidFill>
                          <a:latin typeface="DejaVu Sans"/>
                          <a:ea typeface="DejaVu Sans"/>
                          <a:cs typeface="DejaVu Sans"/>
                        </a:rPr>
                        <a:t>Trabajadores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Filtrar por especialidad y calcular disponibilidad y carga.</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Esteban</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730250">
                <a:tc>
                  <a:txBody>
                    <a:bodyPr wrap="square" lIns="123825" tIns="85725" rIns="123825" bIns="85725">
                      <a:noAutofit/>
                    </a:bodyPr>
                    <a:lstStyle/>
                    <a:p>
                      <a:r>
                        <a:rPr sz="1725" b="0">
                          <a:solidFill>
                            <a:srgbClr val="163447"/>
                          </a:solidFill>
                          <a:latin typeface="DejaVu Sans"/>
                          <a:ea typeface="DejaVu Sans"/>
                          <a:cs typeface="DejaVu Sans"/>
                        </a:rPr>
                        <a:t>Actividades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Priorizar pendientes y comprobar dependencias sin ciclos.</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Julián</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730250">
                <a:tc>
                  <a:txBody>
                    <a:bodyPr wrap="square" lIns="123825" tIns="85725" rIns="123825" bIns="85725">
                      <a:noAutofit/>
                    </a:bodyPr>
                    <a:lstStyle/>
                    <a:p>
                      <a:r>
                        <a:rPr sz="1725" b="0">
                          <a:solidFill>
                            <a:srgbClr val="163447"/>
                          </a:solidFill>
                          <a:latin typeface="DejaVu Sans"/>
                          <a:ea typeface="DejaVu Sans"/>
                          <a:cs typeface="DejaVu Sans"/>
                        </a:rPr>
                        <a:t>Planificación</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Sugerir equipos, validar cruces y reprogramar con motivo.</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Esteban</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730250">
                <a:tc>
                  <a:txBody>
                    <a:bodyPr wrap="square" lIns="123825" tIns="85725" rIns="123825" bIns="85725">
                      <a:noAutofit/>
                    </a:bodyPr>
                    <a:lstStyle/>
                    <a:p>
                      <a:r>
                        <a:rPr sz="1725" b="0">
                          <a:solidFill>
                            <a:srgbClr val="163447"/>
                          </a:solidFill>
                          <a:latin typeface="DejaVu Sans"/>
                          <a:ea typeface="DejaVu Sans"/>
                          <a:cs typeface="DejaVu Sans"/>
                        </a:rPr>
                        <a:t>Seguimiento</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Validar avances, resolver incidencias y calcular indicadores.</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Daniel</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bl>
          </a:graphicData>
        </a:graphic>
      </p:graphicFrame>
      <p:sp>
        <p:nvSpPr>
          <p:cNvPr id="5" name="texto-3">
            <a:extLst xmlns:a="http://schemas.openxmlformats.org/drawingml/2006/main">
              <a:ext uri="{FF2B5EF4-FFF2-40B4-BE49-F238E27FC236}">
                <a16:creationId xmlns:a16="http://schemas.microsoft.com/office/drawing/2014/main" id="{44BDE32A-EE43-41B7-AED8-5368E45817A3}"/>
              </a:ext>
            </a:extLst>
          </p:cNvPr>
          <p:cNvSpPr>
            <a:spLocks xmlns:a="http://schemas.openxmlformats.org/drawingml/2006/main" noGrp="1"/>
          </p:cNvSpPr>
          <p:nvPr/>
        </p:nvSpPr>
        <p:spPr>
          <a:xfrm xmlns:a="http://schemas.openxmlformats.org/drawingml/2006/main">
            <a:off x="609600" y="60769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2636D"/>
                </a:solidFill>
                <a:latin typeface="DejaVu Sans"/>
                <a:ea typeface="DejaVu Sans"/>
                <a:cs typeface="DejaVu Sans"/>
              </a:defRPr>
            </a:defPPr>
            <a:lvl1pPr>
              <a:buNone/>
              <a:defRPr sz="1500" b="0">
                <a:solidFill>
                  <a:srgbClr val="52636D"/>
                </a:solidFill>
                <a:latin typeface="DejaVu Sans"/>
                <a:ea typeface="DejaVu Sans"/>
                <a:cs typeface="DejaVu Sans"/>
              </a:defRPr>
            </a:lvl1pPr>
            <a:lvl2pPr>
              <a:buNone/>
              <a:defRPr sz="1500" b="0">
                <a:solidFill>
                  <a:srgbClr val="52636D"/>
                </a:solidFill>
                <a:latin typeface="DejaVu Sans"/>
                <a:ea typeface="DejaVu Sans"/>
                <a:cs typeface="DejaVu Sans"/>
              </a:defRPr>
            </a:lvl2pPr>
            <a:lvl3pPr>
              <a:buNone/>
              <a:defRPr sz="1500" b="0">
                <a:solidFill>
                  <a:srgbClr val="52636D"/>
                </a:solidFill>
                <a:latin typeface="DejaVu Sans"/>
                <a:ea typeface="DejaVu Sans"/>
                <a:cs typeface="DejaVu Sans"/>
              </a:defRPr>
            </a:lvl3pPr>
            <a:lvl4pPr>
              <a:buNone/>
              <a:defRPr sz="1500" b="0">
                <a:solidFill>
                  <a:srgbClr val="52636D"/>
                </a:solidFill>
                <a:latin typeface="DejaVu Sans"/>
                <a:ea typeface="DejaVu Sans"/>
                <a:cs typeface="DejaVu Sans"/>
              </a:defRPr>
            </a:lvl4pPr>
            <a:lvl5pPr>
              <a:buNone/>
              <a:defRPr sz="1500" b="0">
                <a:solidFill>
                  <a:srgbClr val="52636D"/>
                </a:solidFill>
                <a:latin typeface="DejaVu Sans"/>
                <a:ea typeface="DejaVu Sans"/>
                <a:cs typeface="DejaVu Sans"/>
              </a:defRPr>
            </a:lvl5pPr>
            <a:lvl6pPr>
              <a:buNone/>
              <a:defRPr sz="1500" b="0">
                <a:solidFill>
                  <a:srgbClr val="52636D"/>
                </a:solidFill>
                <a:latin typeface="DejaVu Sans"/>
                <a:ea typeface="DejaVu Sans"/>
                <a:cs typeface="DejaVu Sans"/>
              </a:defRPr>
            </a:lvl6pPr>
            <a:lvl7pPr>
              <a:buNone/>
              <a:defRPr sz="1500" b="0">
                <a:solidFill>
                  <a:srgbClr val="52636D"/>
                </a:solidFill>
                <a:latin typeface="DejaVu Sans"/>
                <a:ea typeface="DejaVu Sans"/>
                <a:cs typeface="DejaVu Sans"/>
              </a:defRPr>
            </a:lvl7pPr>
            <a:lvl8pPr>
              <a:buNone/>
              <a:defRPr sz="1500" b="0">
                <a:solidFill>
                  <a:srgbClr val="52636D"/>
                </a:solidFill>
                <a:latin typeface="DejaVu Sans"/>
                <a:ea typeface="DejaVu Sans"/>
                <a:cs typeface="DejaVu Sans"/>
              </a:defRPr>
            </a:lvl8pPr>
            <a:lvl9pPr>
              <a:buNone/>
              <a:defRPr sz="1500" b="0">
                <a:solidFill>
                  <a:srgbClr val="52636D"/>
                </a:solidFill>
                <a:latin typeface="DejaVu Sans"/>
                <a:ea typeface="DejaVu Sans"/>
                <a:cs typeface="DejaVu Sans"/>
              </a:defRPr>
            </a:lvl9pPr>
          </a:lstStyle>
          <a:p xmlns:a="http://schemas.openxmlformats.org/drawingml/2006/main">
            <a:pPr>
              <a:buNone/>
              <a:defRPr sz="1500" b="0">
                <a:solidFill>
                  <a:srgbClr val="52636D"/>
                </a:solidFill>
                <a:latin typeface="DejaVu Sans"/>
                <a:ea typeface="DejaVu Sans"/>
                <a:cs typeface="DejaVu Sans"/>
              </a:defRPr>
            </a:pPr>
            <a:r>
              <a:rPr sz="1500" b="0">
                <a:solidFill>
                  <a:srgbClr val="52636D"/>
                </a:solidFill>
                <a:latin typeface="DejaVu Sans"/>
                <a:ea typeface="DejaVu Sans"/>
                <a:cs typeface="DejaVu Sans"/>
              </a:rPr>
              <a:t>El informe detalla propósito, actor, datos, cinco operaciones, reglas y relaciones para cada módulo.</a:t>
            </a:r>
          </a:p>
        </p:txBody>
      </p:sp>
    </p:spTree>
    <p:extLst>
      <p:ext uri="{BB962C8B-B14F-4D97-AF65-F5344CB8AC3E}">
        <p14:creationId xmlns:p14="http://schemas.microsoft.com/office/powerpoint/2010/main" val="8666696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A8E82A91-9C09-4D83-B522-127D783CBCF1}"/>
              </a:ext>
            </a:extLst>
          </p:cNvPr>
          <p:cNvCxnSpPr>
            <a:stCxn xmlns:a="http://schemas.openxmlformats.org/drawingml/2006/main" id="10" idx="2"/>
            <a:endCxn xmlns:a="http://schemas.openxmlformats.org/drawingml/2006/main" id="16" idx="0"/>
          </p:cNvCxnSpPr>
          <p:nvPr/>
        </p:nvCxnSpPr>
        <p:spPr>
          <a:xfrm xmlns:a="http://schemas.openxmlformats.org/drawingml/2006/main">
            <a:off x="2705100" y="4552950"/>
            <a:ext cx="0" cy="314325"/>
          </a:xfrm>
          <a:prstGeom xmlns:a="http://schemas.openxmlformats.org/drawingml/2006/main" prst="straightConnector1">
            <a:avLst/>
          </a:prstGeom>
          <a:ln xmlns:a="http://schemas.openxmlformats.org/drawingml/2006/main" w="14288">
            <a:solidFill>
              <a:srgbClr val="52636D"/>
            </a:solidFill>
            <a:prstDash val="solid"/>
          </a:ln>
        </p:spPr>
      </p:cxnSp>
      <p:cxnSp>
        <p:nvCxnSpPr>
          <p:cNvPr id="26" name="">
            <a:extLst xmlns:a="http://schemas.openxmlformats.org/drawingml/2006/main">
              <a:ext uri="{FF2B5EF4-FFF2-40B4-BE49-F238E27FC236}">
                <a16:creationId xmlns:a16="http://schemas.microsoft.com/office/drawing/2014/main" id="{6929CE8E-2169-43A5-8A7F-D75CBDC83FCF}"/>
              </a:ext>
            </a:extLst>
          </p:cNvPr>
          <p:cNvCxnSpPr>
            <a:stCxn xmlns:a="http://schemas.openxmlformats.org/drawingml/2006/main" id="10" idx="3"/>
            <a:endCxn xmlns:a="http://schemas.openxmlformats.org/drawingml/2006/main" id="13" idx="1"/>
          </p:cNvCxnSpPr>
          <p:nvPr/>
        </p:nvCxnSpPr>
        <p:spPr>
          <a:xfrm xmlns:a="http://schemas.openxmlformats.org/drawingml/2006/main">
            <a:off x="4800600" y="3862388"/>
            <a:ext cx="2590800" cy="0"/>
          </a:xfrm>
          <a:prstGeom xmlns:a="http://schemas.openxmlformats.org/drawingml/2006/main" prst="straightConnector1">
            <a:avLst/>
          </a:prstGeom>
          <a:ln xmlns:a="http://schemas.openxmlformats.org/drawingml/2006/main" w="14288">
            <a:solidFill>
              <a:srgbClr val="52636D"/>
            </a:solidFill>
            <a:prstDash val="solid"/>
          </a:ln>
        </p:spPr>
      </p:cxnSp>
      <p:cxnSp>
        <p:nvCxnSpPr>
          <p:cNvPr id="24" name="">
            <a:extLst xmlns:a="http://schemas.openxmlformats.org/drawingml/2006/main">
              <a:ext uri="{FF2B5EF4-FFF2-40B4-BE49-F238E27FC236}">
                <a16:creationId xmlns:a16="http://schemas.microsoft.com/office/drawing/2014/main" id="{E95F51FA-0243-4B7F-A9AB-956CF988BBCB}"/>
              </a:ext>
            </a:extLst>
          </p:cNvPr>
          <p:cNvCxnSpPr>
            <a:stCxn xmlns:a="http://schemas.openxmlformats.org/drawingml/2006/main" id="7" idx="2"/>
            <a:endCxn xmlns:a="http://schemas.openxmlformats.org/drawingml/2006/main" id="13" idx="0"/>
          </p:cNvCxnSpPr>
          <p:nvPr/>
        </p:nvCxnSpPr>
        <p:spPr>
          <a:xfrm xmlns:a="http://schemas.openxmlformats.org/drawingml/2006/main">
            <a:off x="9486900" y="2857500"/>
            <a:ext cx="0" cy="314325"/>
          </a:xfrm>
          <a:prstGeom xmlns:a="http://schemas.openxmlformats.org/drawingml/2006/main" prst="straightConnector1">
            <a:avLst/>
          </a:prstGeom>
          <a:ln xmlns:a="http://schemas.openxmlformats.org/drawingml/2006/main" w="14288">
            <a:solidFill>
              <a:srgbClr val="52636D"/>
            </a:solidFill>
            <a:prstDash val="solid"/>
          </a:ln>
        </p:spPr>
      </p:cxnSp>
      <p:cxnSp>
        <p:nvCxnSpPr>
          <p:cNvPr id="22" name="">
            <a:extLst xmlns:a="http://schemas.openxmlformats.org/drawingml/2006/main">
              <a:ext uri="{FF2B5EF4-FFF2-40B4-BE49-F238E27FC236}">
                <a16:creationId xmlns:a16="http://schemas.microsoft.com/office/drawing/2014/main" id="{ACBC93F4-B53F-4013-805C-7364AD354E45}"/>
              </a:ext>
            </a:extLst>
          </p:cNvPr>
          <p:cNvCxnSpPr>
            <a:stCxn xmlns:a="http://schemas.openxmlformats.org/drawingml/2006/main" id="4" idx="3"/>
            <a:endCxn xmlns:a="http://schemas.openxmlformats.org/drawingml/2006/main" id="7" idx="1"/>
          </p:cNvCxnSpPr>
          <p:nvPr/>
        </p:nvCxnSpPr>
        <p:spPr>
          <a:xfrm xmlns:a="http://schemas.openxmlformats.org/drawingml/2006/main">
            <a:off x="4800600" y="2166938"/>
            <a:ext cx="2590800" cy="0"/>
          </a:xfrm>
          <a:prstGeom xmlns:a="http://schemas.openxmlformats.org/drawingml/2006/main" prst="straightConnector1">
            <a:avLst/>
          </a:prstGeom>
          <a:ln xmlns:a="http://schemas.openxmlformats.org/drawingml/2006/main" w="14288">
            <a:solidFill>
              <a:srgbClr val="52636D"/>
            </a:solidFill>
            <a:prstDash val="solid"/>
          </a:ln>
        </p:spPr>
      </p:cxnSp>
      <p:sp>
        <p:nvSpPr>
          <p:cNvPr id="30" name="texto-0">
            <a:extLst xmlns:a="http://schemas.openxmlformats.org/drawingml/2006/main">
              <a:ext uri="{FF2B5EF4-FFF2-40B4-BE49-F238E27FC236}">
                <a16:creationId xmlns:a16="http://schemas.microsoft.com/office/drawing/2014/main" id="{3007D8DC-868E-49E8-A7A3-33E758AA1F3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UML preliminar del dominio</a:t>
            </a:r>
          </a:p>
        </p:txBody>
      </p:sp>
      <p:sp>
        <p:nvSpPr>
          <p:cNvPr id="2" name="texto-1">
            <a:extLst xmlns:a="http://schemas.openxmlformats.org/drawingml/2006/main">
              <a:ext uri="{FF2B5EF4-FFF2-40B4-BE49-F238E27FC236}">
                <a16:creationId xmlns:a16="http://schemas.microsoft.com/office/drawing/2014/main" id="{77D94400-353C-49AB-8626-729B494DDC49}"/>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11E59BE6-2710-4D67-A285-2166ED4018B8}"/>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5</a:t>
            </a:r>
          </a:p>
        </p:txBody>
      </p:sp>
      <p:sp>
        <p:nvSpPr>
          <p:cNvPr id="4" name="clase-Obra">
            <a:extLst xmlns:a="http://schemas.openxmlformats.org/drawingml/2006/main">
              <a:ext uri="{FF2B5EF4-FFF2-40B4-BE49-F238E27FC236}">
                <a16:creationId xmlns:a16="http://schemas.microsoft.com/office/drawing/2014/main" id="{754D589C-A06D-4079-9E42-FE31ABE16920}"/>
              </a:ext>
            </a:extLst>
          </p:cNvPr>
          <p:cNvSpPr>
            <a:spLocks xmlns:a="http://schemas.openxmlformats.org/drawingml/2006/main" noGrp="1"/>
          </p:cNvSpPr>
          <p:nvPr/>
        </p:nvSpPr>
        <p:spPr>
          <a:xfrm xmlns:a="http://schemas.openxmlformats.org/drawingml/2006/main">
            <a:off x="609600" y="1476375"/>
            <a:ext cx="4191000" cy="1381125"/>
          </a:xfrm>
          <a:prstGeom xmlns:a="http://schemas.openxmlformats.org/drawingml/2006/main" prst="rect">
            <a:avLst/>
          </a:prstGeom>
          <a:solidFill xmlns:a="http://schemas.openxmlformats.org/drawingml/2006/main">
            <a:srgbClr val="EDF4F5"/>
          </a:solidFill>
          <a:ln xmlns:a="http://schemas.openxmlformats.org/drawingml/2006/main" w="9525">
            <a:solidFill>
              <a:srgbClr val="52636D"/>
            </a:solidFill>
            <a:prstDash val="solid"/>
          </a:ln>
        </p:spPr>
      </p:sp>
      <p:sp>
        <p:nvSpPr>
          <p:cNvPr id="5" name="texto-4">
            <a:extLst xmlns:a="http://schemas.openxmlformats.org/drawingml/2006/main">
              <a:ext uri="{FF2B5EF4-FFF2-40B4-BE49-F238E27FC236}">
                <a16:creationId xmlns:a16="http://schemas.microsoft.com/office/drawing/2014/main" id="{12BE085C-A614-4032-964D-91949B8DA41F}"/>
              </a:ext>
            </a:extLst>
          </p:cNvPr>
          <p:cNvSpPr>
            <a:spLocks xmlns:a="http://schemas.openxmlformats.org/drawingml/2006/main" noGrp="1"/>
          </p:cNvSpPr>
          <p:nvPr/>
        </p:nvSpPr>
        <p:spPr>
          <a:xfrm xmlns:a="http://schemas.openxmlformats.org/drawingml/2006/main">
            <a:off x="742950" y="156210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63447"/>
                </a:solidFill>
                <a:latin typeface="DejaVu Sans"/>
                <a:ea typeface="DejaVu Sans"/>
                <a:cs typeface="DejaVu Sans"/>
              </a:defRPr>
            </a:defPPr>
            <a:lvl1pPr>
              <a:buNone/>
              <a:defRPr sz="1875" b="1">
                <a:solidFill>
                  <a:srgbClr val="163447"/>
                </a:solidFill>
                <a:latin typeface="DejaVu Sans"/>
                <a:ea typeface="DejaVu Sans"/>
                <a:cs typeface="DejaVu Sans"/>
              </a:defRPr>
            </a:lvl1pPr>
            <a:lvl2pPr>
              <a:buNone/>
              <a:defRPr sz="1875" b="1">
                <a:solidFill>
                  <a:srgbClr val="163447"/>
                </a:solidFill>
                <a:latin typeface="DejaVu Sans"/>
                <a:ea typeface="DejaVu Sans"/>
                <a:cs typeface="DejaVu Sans"/>
              </a:defRPr>
            </a:lvl2pPr>
            <a:lvl3pPr>
              <a:buNone/>
              <a:defRPr sz="1875" b="1">
                <a:solidFill>
                  <a:srgbClr val="163447"/>
                </a:solidFill>
                <a:latin typeface="DejaVu Sans"/>
                <a:ea typeface="DejaVu Sans"/>
                <a:cs typeface="DejaVu Sans"/>
              </a:defRPr>
            </a:lvl3pPr>
            <a:lvl4pPr>
              <a:buNone/>
              <a:defRPr sz="1875" b="1">
                <a:solidFill>
                  <a:srgbClr val="163447"/>
                </a:solidFill>
                <a:latin typeface="DejaVu Sans"/>
                <a:ea typeface="DejaVu Sans"/>
                <a:cs typeface="DejaVu Sans"/>
              </a:defRPr>
            </a:lvl4pPr>
            <a:lvl5pPr>
              <a:buNone/>
              <a:defRPr sz="1875" b="1">
                <a:solidFill>
                  <a:srgbClr val="163447"/>
                </a:solidFill>
                <a:latin typeface="DejaVu Sans"/>
                <a:ea typeface="DejaVu Sans"/>
                <a:cs typeface="DejaVu Sans"/>
              </a:defRPr>
            </a:lvl5pPr>
            <a:lvl6pPr>
              <a:buNone/>
              <a:defRPr sz="1875" b="1">
                <a:solidFill>
                  <a:srgbClr val="163447"/>
                </a:solidFill>
                <a:latin typeface="DejaVu Sans"/>
                <a:ea typeface="DejaVu Sans"/>
                <a:cs typeface="DejaVu Sans"/>
              </a:defRPr>
            </a:lvl6pPr>
            <a:lvl7pPr>
              <a:buNone/>
              <a:defRPr sz="1875" b="1">
                <a:solidFill>
                  <a:srgbClr val="163447"/>
                </a:solidFill>
                <a:latin typeface="DejaVu Sans"/>
                <a:ea typeface="DejaVu Sans"/>
                <a:cs typeface="DejaVu Sans"/>
              </a:defRPr>
            </a:lvl7pPr>
            <a:lvl8pPr>
              <a:buNone/>
              <a:defRPr sz="1875" b="1">
                <a:solidFill>
                  <a:srgbClr val="163447"/>
                </a:solidFill>
                <a:latin typeface="DejaVu Sans"/>
                <a:ea typeface="DejaVu Sans"/>
                <a:cs typeface="DejaVu Sans"/>
              </a:defRPr>
            </a:lvl8pPr>
            <a:lvl9pPr>
              <a:buNone/>
              <a:defRPr sz="1875" b="1">
                <a:solidFill>
                  <a:srgbClr val="163447"/>
                </a:solidFill>
                <a:latin typeface="DejaVu Sans"/>
                <a:ea typeface="DejaVu Sans"/>
                <a:cs typeface="DejaVu Sans"/>
              </a:defRPr>
            </a:lvl9pPr>
          </a:lstStyle>
          <a:p xmlns:a="http://schemas.openxmlformats.org/drawingml/2006/main">
            <a:pPr>
              <a:buNone/>
              <a:defRPr sz="1875" b="1">
                <a:solidFill>
                  <a:srgbClr val="163447"/>
                </a:solidFill>
                <a:latin typeface="DejaVu Sans"/>
                <a:ea typeface="DejaVu Sans"/>
                <a:cs typeface="DejaVu Sans"/>
              </a:defRPr>
            </a:pPr>
            <a:r>
              <a:rPr sz="1875" b="1">
                <a:solidFill>
                  <a:srgbClr val="163447"/>
                </a:solidFill>
                <a:latin typeface="DejaVu Sans"/>
                <a:ea typeface="DejaVu Sans"/>
                <a:cs typeface="DejaVu Sans"/>
              </a:rPr>
              <a:t>Obra</a:t>
            </a:r>
          </a:p>
        </p:txBody>
      </p:sp>
      <p:sp>
        <p:nvSpPr>
          <p:cNvPr id="6" name="texto-5">
            <a:extLst xmlns:a="http://schemas.openxmlformats.org/drawingml/2006/main">
              <a:ext uri="{FF2B5EF4-FFF2-40B4-BE49-F238E27FC236}">
                <a16:creationId xmlns:a16="http://schemas.microsoft.com/office/drawing/2014/main" id="{B1BA0338-2164-497E-97EA-1A6E7D9A5DD4}"/>
              </a:ext>
            </a:extLst>
          </p:cNvPr>
          <p:cNvSpPr>
            <a:spLocks xmlns:a="http://schemas.openxmlformats.org/drawingml/2006/main" noGrp="1"/>
          </p:cNvSpPr>
          <p:nvPr/>
        </p:nvSpPr>
        <p:spPr>
          <a:xfrm xmlns:a="http://schemas.openxmlformats.org/drawingml/2006/main">
            <a:off x="742950" y="1933575"/>
            <a:ext cx="39243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63447"/>
                </a:solidFill>
                <a:latin typeface="DejaVu Sans"/>
                <a:ea typeface="DejaVu Sans"/>
                <a:cs typeface="DejaVu Sans"/>
              </a:defRPr>
            </a:defPPr>
            <a:lvl1pPr>
              <a:buNone/>
              <a:defRPr sz="1650" b="0">
                <a:solidFill>
                  <a:srgbClr val="163447"/>
                </a:solidFill>
                <a:latin typeface="DejaVu Sans"/>
                <a:ea typeface="DejaVu Sans"/>
                <a:cs typeface="DejaVu Sans"/>
              </a:defRPr>
            </a:lvl1pPr>
            <a:lvl2pPr>
              <a:buNone/>
              <a:defRPr sz="1650" b="0">
                <a:solidFill>
                  <a:srgbClr val="163447"/>
                </a:solidFill>
                <a:latin typeface="DejaVu Sans"/>
                <a:ea typeface="DejaVu Sans"/>
                <a:cs typeface="DejaVu Sans"/>
              </a:defRPr>
            </a:lvl2pPr>
            <a:lvl3pPr>
              <a:buNone/>
              <a:defRPr sz="1650" b="0">
                <a:solidFill>
                  <a:srgbClr val="163447"/>
                </a:solidFill>
                <a:latin typeface="DejaVu Sans"/>
                <a:ea typeface="DejaVu Sans"/>
                <a:cs typeface="DejaVu Sans"/>
              </a:defRPr>
            </a:lvl3pPr>
            <a:lvl4pPr>
              <a:buNone/>
              <a:defRPr sz="1650" b="0">
                <a:solidFill>
                  <a:srgbClr val="163447"/>
                </a:solidFill>
                <a:latin typeface="DejaVu Sans"/>
                <a:ea typeface="DejaVu Sans"/>
                <a:cs typeface="DejaVu Sans"/>
              </a:defRPr>
            </a:lvl4pPr>
            <a:lvl5pPr>
              <a:buNone/>
              <a:defRPr sz="1650" b="0">
                <a:solidFill>
                  <a:srgbClr val="163447"/>
                </a:solidFill>
                <a:latin typeface="DejaVu Sans"/>
                <a:ea typeface="DejaVu Sans"/>
                <a:cs typeface="DejaVu Sans"/>
              </a:defRPr>
            </a:lvl5pPr>
            <a:lvl6pPr>
              <a:buNone/>
              <a:defRPr sz="1650" b="0">
                <a:solidFill>
                  <a:srgbClr val="163447"/>
                </a:solidFill>
                <a:latin typeface="DejaVu Sans"/>
                <a:ea typeface="DejaVu Sans"/>
                <a:cs typeface="DejaVu Sans"/>
              </a:defRPr>
            </a:lvl6pPr>
            <a:lvl7pPr>
              <a:buNone/>
              <a:defRPr sz="1650" b="0">
                <a:solidFill>
                  <a:srgbClr val="163447"/>
                </a:solidFill>
                <a:latin typeface="DejaVu Sans"/>
                <a:ea typeface="DejaVu Sans"/>
                <a:cs typeface="DejaVu Sans"/>
              </a:defRPr>
            </a:lvl7pPr>
            <a:lvl8pPr>
              <a:buNone/>
              <a:defRPr sz="1650" b="0">
                <a:solidFill>
                  <a:srgbClr val="163447"/>
                </a:solidFill>
                <a:latin typeface="DejaVu Sans"/>
                <a:ea typeface="DejaVu Sans"/>
                <a:cs typeface="DejaVu Sans"/>
              </a:defRPr>
            </a:lvl8pPr>
            <a:lvl9pPr>
              <a:buNone/>
              <a:defRPr sz="1650" b="0">
                <a:solidFill>
                  <a:srgbClr val="163447"/>
                </a:solidFill>
                <a:latin typeface="DejaVu Sans"/>
                <a:ea typeface="DejaVu Sans"/>
                <a:cs typeface="DejaVu Sans"/>
              </a:defRPr>
            </a:lvl9pPr>
          </a:lstStyle>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codigo, fecha de entrega, estado</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reprogramar(fecha, motivo)</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calcularAvance()</a:t>
            </a:r>
          </a:p>
        </p:txBody>
      </p:sp>
      <p:sp>
        <p:nvSpPr>
          <p:cNvPr id="7" name="clase-Actividad">
            <a:extLst xmlns:a="http://schemas.openxmlformats.org/drawingml/2006/main">
              <a:ext uri="{FF2B5EF4-FFF2-40B4-BE49-F238E27FC236}">
                <a16:creationId xmlns:a16="http://schemas.microsoft.com/office/drawing/2014/main" id="{0F737948-FD80-4B47-A2D7-4D4B88E9C191}"/>
              </a:ext>
            </a:extLst>
          </p:cNvPr>
          <p:cNvSpPr>
            <a:spLocks xmlns:a="http://schemas.openxmlformats.org/drawingml/2006/main" noGrp="1"/>
          </p:cNvSpPr>
          <p:nvPr/>
        </p:nvSpPr>
        <p:spPr>
          <a:xfrm xmlns:a="http://schemas.openxmlformats.org/drawingml/2006/main">
            <a:off x="7391400" y="1476375"/>
            <a:ext cx="4191000" cy="1381125"/>
          </a:xfrm>
          <a:prstGeom xmlns:a="http://schemas.openxmlformats.org/drawingml/2006/main" prst="rect">
            <a:avLst/>
          </a:prstGeom>
          <a:solidFill xmlns:a="http://schemas.openxmlformats.org/drawingml/2006/main">
            <a:srgbClr val="EDF4F5"/>
          </a:solidFill>
          <a:ln xmlns:a="http://schemas.openxmlformats.org/drawingml/2006/main" w="9525">
            <a:solidFill>
              <a:srgbClr val="52636D"/>
            </a:solidFill>
            <a:prstDash val="solid"/>
          </a:ln>
        </p:spPr>
      </p:sp>
      <p:sp>
        <p:nvSpPr>
          <p:cNvPr id="8" name="texto-7">
            <a:extLst xmlns:a="http://schemas.openxmlformats.org/drawingml/2006/main">
              <a:ext uri="{FF2B5EF4-FFF2-40B4-BE49-F238E27FC236}">
                <a16:creationId xmlns:a16="http://schemas.microsoft.com/office/drawing/2014/main" id="{5BAAF07A-BB7B-466B-B3D1-A0007A2D8E16}"/>
              </a:ext>
            </a:extLst>
          </p:cNvPr>
          <p:cNvSpPr>
            <a:spLocks xmlns:a="http://schemas.openxmlformats.org/drawingml/2006/main" noGrp="1"/>
          </p:cNvSpPr>
          <p:nvPr/>
        </p:nvSpPr>
        <p:spPr>
          <a:xfrm xmlns:a="http://schemas.openxmlformats.org/drawingml/2006/main">
            <a:off x="7524750" y="156210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63447"/>
                </a:solidFill>
                <a:latin typeface="DejaVu Sans"/>
                <a:ea typeface="DejaVu Sans"/>
                <a:cs typeface="DejaVu Sans"/>
              </a:defRPr>
            </a:defPPr>
            <a:lvl1pPr>
              <a:buNone/>
              <a:defRPr sz="1875" b="1">
                <a:solidFill>
                  <a:srgbClr val="163447"/>
                </a:solidFill>
                <a:latin typeface="DejaVu Sans"/>
                <a:ea typeface="DejaVu Sans"/>
                <a:cs typeface="DejaVu Sans"/>
              </a:defRPr>
            </a:lvl1pPr>
            <a:lvl2pPr>
              <a:buNone/>
              <a:defRPr sz="1875" b="1">
                <a:solidFill>
                  <a:srgbClr val="163447"/>
                </a:solidFill>
                <a:latin typeface="DejaVu Sans"/>
                <a:ea typeface="DejaVu Sans"/>
                <a:cs typeface="DejaVu Sans"/>
              </a:defRPr>
            </a:lvl2pPr>
            <a:lvl3pPr>
              <a:buNone/>
              <a:defRPr sz="1875" b="1">
                <a:solidFill>
                  <a:srgbClr val="163447"/>
                </a:solidFill>
                <a:latin typeface="DejaVu Sans"/>
                <a:ea typeface="DejaVu Sans"/>
                <a:cs typeface="DejaVu Sans"/>
              </a:defRPr>
            </a:lvl3pPr>
            <a:lvl4pPr>
              <a:buNone/>
              <a:defRPr sz="1875" b="1">
                <a:solidFill>
                  <a:srgbClr val="163447"/>
                </a:solidFill>
                <a:latin typeface="DejaVu Sans"/>
                <a:ea typeface="DejaVu Sans"/>
                <a:cs typeface="DejaVu Sans"/>
              </a:defRPr>
            </a:lvl4pPr>
            <a:lvl5pPr>
              <a:buNone/>
              <a:defRPr sz="1875" b="1">
                <a:solidFill>
                  <a:srgbClr val="163447"/>
                </a:solidFill>
                <a:latin typeface="DejaVu Sans"/>
                <a:ea typeface="DejaVu Sans"/>
                <a:cs typeface="DejaVu Sans"/>
              </a:defRPr>
            </a:lvl5pPr>
            <a:lvl6pPr>
              <a:buNone/>
              <a:defRPr sz="1875" b="1">
                <a:solidFill>
                  <a:srgbClr val="163447"/>
                </a:solidFill>
                <a:latin typeface="DejaVu Sans"/>
                <a:ea typeface="DejaVu Sans"/>
                <a:cs typeface="DejaVu Sans"/>
              </a:defRPr>
            </a:lvl6pPr>
            <a:lvl7pPr>
              <a:buNone/>
              <a:defRPr sz="1875" b="1">
                <a:solidFill>
                  <a:srgbClr val="163447"/>
                </a:solidFill>
                <a:latin typeface="DejaVu Sans"/>
                <a:ea typeface="DejaVu Sans"/>
                <a:cs typeface="DejaVu Sans"/>
              </a:defRPr>
            </a:lvl7pPr>
            <a:lvl8pPr>
              <a:buNone/>
              <a:defRPr sz="1875" b="1">
                <a:solidFill>
                  <a:srgbClr val="163447"/>
                </a:solidFill>
                <a:latin typeface="DejaVu Sans"/>
                <a:ea typeface="DejaVu Sans"/>
                <a:cs typeface="DejaVu Sans"/>
              </a:defRPr>
            </a:lvl8pPr>
            <a:lvl9pPr>
              <a:buNone/>
              <a:defRPr sz="1875" b="1">
                <a:solidFill>
                  <a:srgbClr val="163447"/>
                </a:solidFill>
                <a:latin typeface="DejaVu Sans"/>
                <a:ea typeface="DejaVu Sans"/>
                <a:cs typeface="DejaVu Sans"/>
              </a:defRPr>
            </a:lvl9pPr>
          </a:lstStyle>
          <a:p xmlns:a="http://schemas.openxmlformats.org/drawingml/2006/main">
            <a:pPr>
              <a:buNone/>
              <a:defRPr sz="1875" b="1">
                <a:solidFill>
                  <a:srgbClr val="163447"/>
                </a:solidFill>
                <a:latin typeface="DejaVu Sans"/>
                <a:ea typeface="DejaVu Sans"/>
                <a:cs typeface="DejaVu Sans"/>
              </a:defRPr>
            </a:pPr>
            <a:r>
              <a:rPr sz="1875" b="1">
                <a:solidFill>
                  <a:srgbClr val="163447"/>
                </a:solidFill>
                <a:latin typeface="DejaVu Sans"/>
                <a:ea typeface="DejaVu Sans"/>
                <a:cs typeface="DejaVu Sans"/>
              </a:rPr>
              <a:t>Actividad</a:t>
            </a:r>
          </a:p>
        </p:txBody>
      </p:sp>
      <p:sp>
        <p:nvSpPr>
          <p:cNvPr id="9" name="texto-8">
            <a:extLst xmlns:a="http://schemas.openxmlformats.org/drawingml/2006/main">
              <a:ext uri="{FF2B5EF4-FFF2-40B4-BE49-F238E27FC236}">
                <a16:creationId xmlns:a16="http://schemas.microsoft.com/office/drawing/2014/main" id="{916C9F27-F3F5-47E7-AED7-C45504747608}"/>
              </a:ext>
            </a:extLst>
          </p:cNvPr>
          <p:cNvSpPr>
            <a:spLocks xmlns:a="http://schemas.openxmlformats.org/drawingml/2006/main" noGrp="1"/>
          </p:cNvSpPr>
          <p:nvPr/>
        </p:nvSpPr>
        <p:spPr>
          <a:xfrm xmlns:a="http://schemas.openxmlformats.org/drawingml/2006/main">
            <a:off x="7524750" y="1933575"/>
            <a:ext cx="39243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63447"/>
                </a:solidFill>
                <a:latin typeface="DejaVu Sans"/>
                <a:ea typeface="DejaVu Sans"/>
                <a:cs typeface="DejaVu Sans"/>
              </a:defRPr>
            </a:defPPr>
            <a:lvl1pPr>
              <a:buNone/>
              <a:defRPr sz="1650" b="0">
                <a:solidFill>
                  <a:srgbClr val="163447"/>
                </a:solidFill>
                <a:latin typeface="DejaVu Sans"/>
                <a:ea typeface="DejaVu Sans"/>
                <a:cs typeface="DejaVu Sans"/>
              </a:defRPr>
            </a:lvl1pPr>
            <a:lvl2pPr>
              <a:buNone/>
              <a:defRPr sz="1650" b="0">
                <a:solidFill>
                  <a:srgbClr val="163447"/>
                </a:solidFill>
                <a:latin typeface="DejaVu Sans"/>
                <a:ea typeface="DejaVu Sans"/>
                <a:cs typeface="DejaVu Sans"/>
              </a:defRPr>
            </a:lvl2pPr>
            <a:lvl3pPr>
              <a:buNone/>
              <a:defRPr sz="1650" b="0">
                <a:solidFill>
                  <a:srgbClr val="163447"/>
                </a:solidFill>
                <a:latin typeface="DejaVu Sans"/>
                <a:ea typeface="DejaVu Sans"/>
                <a:cs typeface="DejaVu Sans"/>
              </a:defRPr>
            </a:lvl3pPr>
            <a:lvl4pPr>
              <a:buNone/>
              <a:defRPr sz="1650" b="0">
                <a:solidFill>
                  <a:srgbClr val="163447"/>
                </a:solidFill>
                <a:latin typeface="DejaVu Sans"/>
                <a:ea typeface="DejaVu Sans"/>
                <a:cs typeface="DejaVu Sans"/>
              </a:defRPr>
            </a:lvl4pPr>
            <a:lvl5pPr>
              <a:buNone/>
              <a:defRPr sz="1650" b="0">
                <a:solidFill>
                  <a:srgbClr val="163447"/>
                </a:solidFill>
                <a:latin typeface="DejaVu Sans"/>
                <a:ea typeface="DejaVu Sans"/>
                <a:cs typeface="DejaVu Sans"/>
              </a:defRPr>
            </a:lvl5pPr>
            <a:lvl6pPr>
              <a:buNone/>
              <a:defRPr sz="1650" b="0">
                <a:solidFill>
                  <a:srgbClr val="163447"/>
                </a:solidFill>
                <a:latin typeface="DejaVu Sans"/>
                <a:ea typeface="DejaVu Sans"/>
                <a:cs typeface="DejaVu Sans"/>
              </a:defRPr>
            </a:lvl6pPr>
            <a:lvl7pPr>
              <a:buNone/>
              <a:defRPr sz="1650" b="0">
                <a:solidFill>
                  <a:srgbClr val="163447"/>
                </a:solidFill>
                <a:latin typeface="DejaVu Sans"/>
                <a:ea typeface="DejaVu Sans"/>
                <a:cs typeface="DejaVu Sans"/>
              </a:defRPr>
            </a:lvl7pPr>
            <a:lvl8pPr>
              <a:buNone/>
              <a:defRPr sz="1650" b="0">
                <a:solidFill>
                  <a:srgbClr val="163447"/>
                </a:solidFill>
                <a:latin typeface="DejaVu Sans"/>
                <a:ea typeface="DejaVu Sans"/>
                <a:cs typeface="DejaVu Sans"/>
              </a:defRPr>
            </a:lvl8pPr>
            <a:lvl9pPr>
              <a:buNone/>
              <a:defRPr sz="1650" b="0">
                <a:solidFill>
                  <a:srgbClr val="163447"/>
                </a:solidFill>
                <a:latin typeface="DejaVu Sans"/>
                <a:ea typeface="DejaVu Sans"/>
                <a:cs typeface="DejaVu Sans"/>
              </a:defRPr>
            </a:lvl9pPr>
          </a:lstStyle>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duracion, prioridad, personal</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cambiarPrioridad(prioridad)</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puedeIniciar()</a:t>
            </a:r>
          </a:p>
        </p:txBody>
      </p:sp>
      <p:sp>
        <p:nvSpPr>
          <p:cNvPr id="10" name="clase-Trabajador">
            <a:extLst xmlns:a="http://schemas.openxmlformats.org/drawingml/2006/main">
              <a:ext uri="{FF2B5EF4-FFF2-40B4-BE49-F238E27FC236}">
                <a16:creationId xmlns:a16="http://schemas.microsoft.com/office/drawing/2014/main" id="{1C2C715F-8DAF-4818-B8DF-ABD1469ACA3A}"/>
              </a:ext>
            </a:extLst>
          </p:cNvPr>
          <p:cNvSpPr>
            <a:spLocks xmlns:a="http://schemas.openxmlformats.org/drawingml/2006/main" noGrp="1"/>
          </p:cNvSpPr>
          <p:nvPr/>
        </p:nvSpPr>
        <p:spPr>
          <a:xfrm xmlns:a="http://schemas.openxmlformats.org/drawingml/2006/main">
            <a:off x="609600" y="3171825"/>
            <a:ext cx="4191000" cy="1381125"/>
          </a:xfrm>
          <a:prstGeom xmlns:a="http://schemas.openxmlformats.org/drawingml/2006/main" prst="rect">
            <a:avLst/>
          </a:prstGeom>
          <a:solidFill xmlns:a="http://schemas.openxmlformats.org/drawingml/2006/main">
            <a:srgbClr val="EDF4F5"/>
          </a:solidFill>
          <a:ln xmlns:a="http://schemas.openxmlformats.org/drawingml/2006/main" w="9525">
            <a:solidFill>
              <a:srgbClr val="52636D"/>
            </a:solidFill>
            <a:prstDash val="solid"/>
          </a:ln>
        </p:spPr>
      </p:sp>
      <p:sp>
        <p:nvSpPr>
          <p:cNvPr id="11" name="texto-10">
            <a:extLst xmlns:a="http://schemas.openxmlformats.org/drawingml/2006/main">
              <a:ext uri="{FF2B5EF4-FFF2-40B4-BE49-F238E27FC236}">
                <a16:creationId xmlns:a16="http://schemas.microsoft.com/office/drawing/2014/main" id="{80EEFE0A-5F47-4554-B0AD-0CD066600039}"/>
              </a:ext>
            </a:extLst>
          </p:cNvPr>
          <p:cNvSpPr>
            <a:spLocks xmlns:a="http://schemas.openxmlformats.org/drawingml/2006/main" noGrp="1"/>
          </p:cNvSpPr>
          <p:nvPr/>
        </p:nvSpPr>
        <p:spPr>
          <a:xfrm xmlns:a="http://schemas.openxmlformats.org/drawingml/2006/main">
            <a:off x="742950" y="32575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63447"/>
                </a:solidFill>
                <a:latin typeface="DejaVu Sans"/>
                <a:ea typeface="DejaVu Sans"/>
                <a:cs typeface="DejaVu Sans"/>
              </a:defRPr>
            </a:defPPr>
            <a:lvl1pPr>
              <a:buNone/>
              <a:defRPr sz="1875" b="1">
                <a:solidFill>
                  <a:srgbClr val="163447"/>
                </a:solidFill>
                <a:latin typeface="DejaVu Sans"/>
                <a:ea typeface="DejaVu Sans"/>
                <a:cs typeface="DejaVu Sans"/>
              </a:defRPr>
            </a:lvl1pPr>
            <a:lvl2pPr>
              <a:buNone/>
              <a:defRPr sz="1875" b="1">
                <a:solidFill>
                  <a:srgbClr val="163447"/>
                </a:solidFill>
                <a:latin typeface="DejaVu Sans"/>
                <a:ea typeface="DejaVu Sans"/>
                <a:cs typeface="DejaVu Sans"/>
              </a:defRPr>
            </a:lvl2pPr>
            <a:lvl3pPr>
              <a:buNone/>
              <a:defRPr sz="1875" b="1">
                <a:solidFill>
                  <a:srgbClr val="163447"/>
                </a:solidFill>
                <a:latin typeface="DejaVu Sans"/>
                <a:ea typeface="DejaVu Sans"/>
                <a:cs typeface="DejaVu Sans"/>
              </a:defRPr>
            </a:lvl3pPr>
            <a:lvl4pPr>
              <a:buNone/>
              <a:defRPr sz="1875" b="1">
                <a:solidFill>
                  <a:srgbClr val="163447"/>
                </a:solidFill>
                <a:latin typeface="DejaVu Sans"/>
                <a:ea typeface="DejaVu Sans"/>
                <a:cs typeface="DejaVu Sans"/>
              </a:defRPr>
            </a:lvl4pPr>
            <a:lvl5pPr>
              <a:buNone/>
              <a:defRPr sz="1875" b="1">
                <a:solidFill>
                  <a:srgbClr val="163447"/>
                </a:solidFill>
                <a:latin typeface="DejaVu Sans"/>
                <a:ea typeface="DejaVu Sans"/>
                <a:cs typeface="DejaVu Sans"/>
              </a:defRPr>
            </a:lvl5pPr>
            <a:lvl6pPr>
              <a:buNone/>
              <a:defRPr sz="1875" b="1">
                <a:solidFill>
                  <a:srgbClr val="163447"/>
                </a:solidFill>
                <a:latin typeface="DejaVu Sans"/>
                <a:ea typeface="DejaVu Sans"/>
                <a:cs typeface="DejaVu Sans"/>
              </a:defRPr>
            </a:lvl6pPr>
            <a:lvl7pPr>
              <a:buNone/>
              <a:defRPr sz="1875" b="1">
                <a:solidFill>
                  <a:srgbClr val="163447"/>
                </a:solidFill>
                <a:latin typeface="DejaVu Sans"/>
                <a:ea typeface="DejaVu Sans"/>
                <a:cs typeface="DejaVu Sans"/>
              </a:defRPr>
            </a:lvl7pPr>
            <a:lvl8pPr>
              <a:buNone/>
              <a:defRPr sz="1875" b="1">
                <a:solidFill>
                  <a:srgbClr val="163447"/>
                </a:solidFill>
                <a:latin typeface="DejaVu Sans"/>
                <a:ea typeface="DejaVu Sans"/>
                <a:cs typeface="DejaVu Sans"/>
              </a:defRPr>
            </a:lvl8pPr>
            <a:lvl9pPr>
              <a:buNone/>
              <a:defRPr sz="1875" b="1">
                <a:solidFill>
                  <a:srgbClr val="163447"/>
                </a:solidFill>
                <a:latin typeface="DejaVu Sans"/>
                <a:ea typeface="DejaVu Sans"/>
                <a:cs typeface="DejaVu Sans"/>
              </a:defRPr>
            </a:lvl9pPr>
          </a:lstStyle>
          <a:p xmlns:a="http://schemas.openxmlformats.org/drawingml/2006/main">
            <a:pPr>
              <a:buNone/>
              <a:defRPr sz="1875" b="1">
                <a:solidFill>
                  <a:srgbClr val="163447"/>
                </a:solidFill>
                <a:latin typeface="DejaVu Sans"/>
                <a:ea typeface="DejaVu Sans"/>
                <a:cs typeface="DejaVu Sans"/>
              </a:defRPr>
            </a:pPr>
            <a:r>
              <a:rPr sz="1875" b="1">
                <a:solidFill>
                  <a:srgbClr val="163447"/>
                </a:solidFill>
                <a:latin typeface="DejaVu Sans"/>
                <a:ea typeface="DejaVu Sans"/>
                <a:cs typeface="DejaVu Sans"/>
              </a:rPr>
              <a:t>Trabajador</a:t>
            </a:r>
          </a:p>
        </p:txBody>
      </p:sp>
      <p:sp>
        <p:nvSpPr>
          <p:cNvPr id="12" name="texto-11">
            <a:extLst xmlns:a="http://schemas.openxmlformats.org/drawingml/2006/main">
              <a:ext uri="{FF2B5EF4-FFF2-40B4-BE49-F238E27FC236}">
                <a16:creationId xmlns:a16="http://schemas.microsoft.com/office/drawing/2014/main" id="{C932F922-DCD1-460A-950F-62A669076A2F}"/>
              </a:ext>
            </a:extLst>
          </p:cNvPr>
          <p:cNvSpPr>
            <a:spLocks xmlns:a="http://schemas.openxmlformats.org/drawingml/2006/main" noGrp="1"/>
          </p:cNvSpPr>
          <p:nvPr/>
        </p:nvSpPr>
        <p:spPr>
          <a:xfrm xmlns:a="http://schemas.openxmlformats.org/drawingml/2006/main">
            <a:off x="742950" y="3629025"/>
            <a:ext cx="39243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63447"/>
                </a:solidFill>
                <a:latin typeface="DejaVu Sans"/>
                <a:ea typeface="DejaVu Sans"/>
                <a:cs typeface="DejaVu Sans"/>
              </a:defRPr>
            </a:defPPr>
            <a:lvl1pPr>
              <a:buNone/>
              <a:defRPr sz="1650" b="0">
                <a:solidFill>
                  <a:srgbClr val="163447"/>
                </a:solidFill>
                <a:latin typeface="DejaVu Sans"/>
                <a:ea typeface="DejaVu Sans"/>
                <a:cs typeface="DejaVu Sans"/>
              </a:defRPr>
            </a:lvl1pPr>
            <a:lvl2pPr>
              <a:buNone/>
              <a:defRPr sz="1650" b="0">
                <a:solidFill>
                  <a:srgbClr val="163447"/>
                </a:solidFill>
                <a:latin typeface="DejaVu Sans"/>
                <a:ea typeface="DejaVu Sans"/>
                <a:cs typeface="DejaVu Sans"/>
              </a:defRPr>
            </a:lvl2pPr>
            <a:lvl3pPr>
              <a:buNone/>
              <a:defRPr sz="1650" b="0">
                <a:solidFill>
                  <a:srgbClr val="163447"/>
                </a:solidFill>
                <a:latin typeface="DejaVu Sans"/>
                <a:ea typeface="DejaVu Sans"/>
                <a:cs typeface="DejaVu Sans"/>
              </a:defRPr>
            </a:lvl3pPr>
            <a:lvl4pPr>
              <a:buNone/>
              <a:defRPr sz="1650" b="0">
                <a:solidFill>
                  <a:srgbClr val="163447"/>
                </a:solidFill>
                <a:latin typeface="DejaVu Sans"/>
                <a:ea typeface="DejaVu Sans"/>
                <a:cs typeface="DejaVu Sans"/>
              </a:defRPr>
            </a:lvl4pPr>
            <a:lvl5pPr>
              <a:buNone/>
              <a:defRPr sz="1650" b="0">
                <a:solidFill>
                  <a:srgbClr val="163447"/>
                </a:solidFill>
                <a:latin typeface="DejaVu Sans"/>
                <a:ea typeface="DejaVu Sans"/>
                <a:cs typeface="DejaVu Sans"/>
              </a:defRPr>
            </a:lvl5pPr>
            <a:lvl6pPr>
              <a:buNone/>
              <a:defRPr sz="1650" b="0">
                <a:solidFill>
                  <a:srgbClr val="163447"/>
                </a:solidFill>
                <a:latin typeface="DejaVu Sans"/>
                <a:ea typeface="DejaVu Sans"/>
                <a:cs typeface="DejaVu Sans"/>
              </a:defRPr>
            </a:lvl6pPr>
            <a:lvl7pPr>
              <a:buNone/>
              <a:defRPr sz="1650" b="0">
                <a:solidFill>
                  <a:srgbClr val="163447"/>
                </a:solidFill>
                <a:latin typeface="DejaVu Sans"/>
                <a:ea typeface="DejaVu Sans"/>
                <a:cs typeface="DejaVu Sans"/>
              </a:defRPr>
            </a:lvl7pPr>
            <a:lvl8pPr>
              <a:buNone/>
              <a:defRPr sz="1650" b="0">
                <a:solidFill>
                  <a:srgbClr val="163447"/>
                </a:solidFill>
                <a:latin typeface="DejaVu Sans"/>
                <a:ea typeface="DejaVu Sans"/>
                <a:cs typeface="DejaVu Sans"/>
              </a:defRPr>
            </a:lvl8pPr>
            <a:lvl9pPr>
              <a:buNone/>
              <a:defRPr sz="1650" b="0">
                <a:solidFill>
                  <a:srgbClr val="163447"/>
                </a:solidFill>
                <a:latin typeface="DejaVu Sans"/>
                <a:ea typeface="DejaVu Sans"/>
                <a:cs typeface="DejaVu Sans"/>
              </a:defRPr>
            </a:lvl9pPr>
          </a:lstStyle>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codigo, especialidades, activo</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esCompatible(actividad)</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horasAsignadas(semana)</a:t>
            </a:r>
          </a:p>
        </p:txBody>
      </p:sp>
      <p:sp>
        <p:nvSpPr>
          <p:cNvPr id="13" name="clase-Asignacion">
            <a:extLst xmlns:a="http://schemas.openxmlformats.org/drawingml/2006/main">
              <a:ext uri="{FF2B5EF4-FFF2-40B4-BE49-F238E27FC236}">
                <a16:creationId xmlns:a16="http://schemas.microsoft.com/office/drawing/2014/main" id="{9E194623-F0AB-42AB-AF13-89C8F654B564}"/>
              </a:ext>
            </a:extLst>
          </p:cNvPr>
          <p:cNvSpPr>
            <a:spLocks xmlns:a="http://schemas.openxmlformats.org/drawingml/2006/main" noGrp="1"/>
          </p:cNvSpPr>
          <p:nvPr/>
        </p:nvSpPr>
        <p:spPr>
          <a:xfrm xmlns:a="http://schemas.openxmlformats.org/drawingml/2006/main">
            <a:off x="7391400" y="3171825"/>
            <a:ext cx="4191000" cy="1381125"/>
          </a:xfrm>
          <a:prstGeom xmlns:a="http://schemas.openxmlformats.org/drawingml/2006/main" prst="rect">
            <a:avLst/>
          </a:prstGeom>
          <a:solidFill xmlns:a="http://schemas.openxmlformats.org/drawingml/2006/main">
            <a:srgbClr val="EDF4F5"/>
          </a:solidFill>
          <a:ln xmlns:a="http://schemas.openxmlformats.org/drawingml/2006/main" w="9525">
            <a:solidFill>
              <a:srgbClr val="52636D"/>
            </a:solidFill>
            <a:prstDash val="solid"/>
          </a:ln>
        </p:spPr>
      </p:sp>
      <p:sp>
        <p:nvSpPr>
          <p:cNvPr id="14" name="texto-13">
            <a:extLst xmlns:a="http://schemas.openxmlformats.org/drawingml/2006/main">
              <a:ext uri="{FF2B5EF4-FFF2-40B4-BE49-F238E27FC236}">
                <a16:creationId xmlns:a16="http://schemas.microsoft.com/office/drawing/2014/main" id="{9B03A8ED-04D9-4091-9CE0-68BBFE7ED296}"/>
              </a:ext>
            </a:extLst>
          </p:cNvPr>
          <p:cNvSpPr>
            <a:spLocks xmlns:a="http://schemas.openxmlformats.org/drawingml/2006/main" noGrp="1"/>
          </p:cNvSpPr>
          <p:nvPr/>
        </p:nvSpPr>
        <p:spPr>
          <a:xfrm xmlns:a="http://schemas.openxmlformats.org/drawingml/2006/main">
            <a:off x="7524750" y="32575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63447"/>
                </a:solidFill>
                <a:latin typeface="DejaVu Sans"/>
                <a:ea typeface="DejaVu Sans"/>
                <a:cs typeface="DejaVu Sans"/>
              </a:defRPr>
            </a:defPPr>
            <a:lvl1pPr>
              <a:buNone/>
              <a:defRPr sz="1875" b="1">
                <a:solidFill>
                  <a:srgbClr val="163447"/>
                </a:solidFill>
                <a:latin typeface="DejaVu Sans"/>
                <a:ea typeface="DejaVu Sans"/>
                <a:cs typeface="DejaVu Sans"/>
              </a:defRPr>
            </a:lvl1pPr>
            <a:lvl2pPr>
              <a:buNone/>
              <a:defRPr sz="1875" b="1">
                <a:solidFill>
                  <a:srgbClr val="163447"/>
                </a:solidFill>
                <a:latin typeface="DejaVu Sans"/>
                <a:ea typeface="DejaVu Sans"/>
                <a:cs typeface="DejaVu Sans"/>
              </a:defRPr>
            </a:lvl2pPr>
            <a:lvl3pPr>
              <a:buNone/>
              <a:defRPr sz="1875" b="1">
                <a:solidFill>
                  <a:srgbClr val="163447"/>
                </a:solidFill>
                <a:latin typeface="DejaVu Sans"/>
                <a:ea typeface="DejaVu Sans"/>
                <a:cs typeface="DejaVu Sans"/>
              </a:defRPr>
            </a:lvl3pPr>
            <a:lvl4pPr>
              <a:buNone/>
              <a:defRPr sz="1875" b="1">
                <a:solidFill>
                  <a:srgbClr val="163447"/>
                </a:solidFill>
                <a:latin typeface="DejaVu Sans"/>
                <a:ea typeface="DejaVu Sans"/>
                <a:cs typeface="DejaVu Sans"/>
              </a:defRPr>
            </a:lvl4pPr>
            <a:lvl5pPr>
              <a:buNone/>
              <a:defRPr sz="1875" b="1">
                <a:solidFill>
                  <a:srgbClr val="163447"/>
                </a:solidFill>
                <a:latin typeface="DejaVu Sans"/>
                <a:ea typeface="DejaVu Sans"/>
                <a:cs typeface="DejaVu Sans"/>
              </a:defRPr>
            </a:lvl5pPr>
            <a:lvl6pPr>
              <a:buNone/>
              <a:defRPr sz="1875" b="1">
                <a:solidFill>
                  <a:srgbClr val="163447"/>
                </a:solidFill>
                <a:latin typeface="DejaVu Sans"/>
                <a:ea typeface="DejaVu Sans"/>
                <a:cs typeface="DejaVu Sans"/>
              </a:defRPr>
            </a:lvl6pPr>
            <a:lvl7pPr>
              <a:buNone/>
              <a:defRPr sz="1875" b="1">
                <a:solidFill>
                  <a:srgbClr val="163447"/>
                </a:solidFill>
                <a:latin typeface="DejaVu Sans"/>
                <a:ea typeface="DejaVu Sans"/>
                <a:cs typeface="DejaVu Sans"/>
              </a:defRPr>
            </a:lvl7pPr>
            <a:lvl8pPr>
              <a:buNone/>
              <a:defRPr sz="1875" b="1">
                <a:solidFill>
                  <a:srgbClr val="163447"/>
                </a:solidFill>
                <a:latin typeface="DejaVu Sans"/>
                <a:ea typeface="DejaVu Sans"/>
                <a:cs typeface="DejaVu Sans"/>
              </a:defRPr>
            </a:lvl8pPr>
            <a:lvl9pPr>
              <a:buNone/>
              <a:defRPr sz="1875" b="1">
                <a:solidFill>
                  <a:srgbClr val="163447"/>
                </a:solidFill>
                <a:latin typeface="DejaVu Sans"/>
                <a:ea typeface="DejaVu Sans"/>
                <a:cs typeface="DejaVu Sans"/>
              </a:defRPr>
            </a:lvl9pPr>
          </a:lstStyle>
          <a:p xmlns:a="http://schemas.openxmlformats.org/drawingml/2006/main">
            <a:pPr>
              <a:buNone/>
              <a:defRPr sz="1875" b="1">
                <a:solidFill>
                  <a:srgbClr val="163447"/>
                </a:solidFill>
                <a:latin typeface="DejaVu Sans"/>
                <a:ea typeface="DejaVu Sans"/>
                <a:cs typeface="DejaVu Sans"/>
              </a:defRPr>
            </a:pPr>
            <a:r>
              <a:rPr sz="1875" b="1">
                <a:solidFill>
                  <a:srgbClr val="163447"/>
                </a:solidFill>
                <a:latin typeface="DejaVu Sans"/>
                <a:ea typeface="DejaVu Sans"/>
                <a:cs typeface="DejaVu Sans"/>
              </a:rPr>
              <a:t>Asignacion</a:t>
            </a:r>
          </a:p>
        </p:txBody>
      </p:sp>
      <p:sp>
        <p:nvSpPr>
          <p:cNvPr id="15" name="texto-14">
            <a:extLst xmlns:a="http://schemas.openxmlformats.org/drawingml/2006/main">
              <a:ext uri="{FF2B5EF4-FFF2-40B4-BE49-F238E27FC236}">
                <a16:creationId xmlns:a16="http://schemas.microsoft.com/office/drawing/2014/main" id="{B570CCD2-2FA3-4F5D-825D-7EE78267CE39}"/>
              </a:ext>
            </a:extLst>
          </p:cNvPr>
          <p:cNvSpPr>
            <a:spLocks xmlns:a="http://schemas.openxmlformats.org/drawingml/2006/main" noGrp="1"/>
          </p:cNvSpPr>
          <p:nvPr/>
        </p:nvSpPr>
        <p:spPr>
          <a:xfrm xmlns:a="http://schemas.openxmlformats.org/drawingml/2006/main">
            <a:off x="7524750" y="3629025"/>
            <a:ext cx="39243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63447"/>
                </a:solidFill>
                <a:latin typeface="DejaVu Sans"/>
                <a:ea typeface="DejaVu Sans"/>
                <a:cs typeface="DejaVu Sans"/>
              </a:defRPr>
            </a:defPPr>
            <a:lvl1pPr>
              <a:buNone/>
              <a:defRPr sz="1650" b="0">
                <a:solidFill>
                  <a:srgbClr val="163447"/>
                </a:solidFill>
                <a:latin typeface="DejaVu Sans"/>
                <a:ea typeface="DejaVu Sans"/>
                <a:cs typeface="DejaVu Sans"/>
              </a:defRPr>
            </a:lvl1pPr>
            <a:lvl2pPr>
              <a:buNone/>
              <a:defRPr sz="1650" b="0">
                <a:solidFill>
                  <a:srgbClr val="163447"/>
                </a:solidFill>
                <a:latin typeface="DejaVu Sans"/>
                <a:ea typeface="DejaVu Sans"/>
                <a:cs typeface="DejaVu Sans"/>
              </a:defRPr>
            </a:lvl2pPr>
            <a:lvl3pPr>
              <a:buNone/>
              <a:defRPr sz="1650" b="0">
                <a:solidFill>
                  <a:srgbClr val="163447"/>
                </a:solidFill>
                <a:latin typeface="DejaVu Sans"/>
                <a:ea typeface="DejaVu Sans"/>
                <a:cs typeface="DejaVu Sans"/>
              </a:defRPr>
            </a:lvl3pPr>
            <a:lvl4pPr>
              <a:buNone/>
              <a:defRPr sz="1650" b="0">
                <a:solidFill>
                  <a:srgbClr val="163447"/>
                </a:solidFill>
                <a:latin typeface="DejaVu Sans"/>
                <a:ea typeface="DejaVu Sans"/>
                <a:cs typeface="DejaVu Sans"/>
              </a:defRPr>
            </a:lvl4pPr>
            <a:lvl5pPr>
              <a:buNone/>
              <a:defRPr sz="1650" b="0">
                <a:solidFill>
                  <a:srgbClr val="163447"/>
                </a:solidFill>
                <a:latin typeface="DejaVu Sans"/>
                <a:ea typeface="DejaVu Sans"/>
                <a:cs typeface="DejaVu Sans"/>
              </a:defRPr>
            </a:lvl5pPr>
            <a:lvl6pPr>
              <a:buNone/>
              <a:defRPr sz="1650" b="0">
                <a:solidFill>
                  <a:srgbClr val="163447"/>
                </a:solidFill>
                <a:latin typeface="DejaVu Sans"/>
                <a:ea typeface="DejaVu Sans"/>
                <a:cs typeface="DejaVu Sans"/>
              </a:defRPr>
            </a:lvl6pPr>
            <a:lvl7pPr>
              <a:buNone/>
              <a:defRPr sz="1650" b="0">
                <a:solidFill>
                  <a:srgbClr val="163447"/>
                </a:solidFill>
                <a:latin typeface="DejaVu Sans"/>
                <a:ea typeface="DejaVu Sans"/>
                <a:cs typeface="DejaVu Sans"/>
              </a:defRPr>
            </a:lvl7pPr>
            <a:lvl8pPr>
              <a:buNone/>
              <a:defRPr sz="1650" b="0">
                <a:solidFill>
                  <a:srgbClr val="163447"/>
                </a:solidFill>
                <a:latin typeface="DejaVu Sans"/>
                <a:ea typeface="DejaVu Sans"/>
                <a:cs typeface="DejaVu Sans"/>
              </a:defRPr>
            </a:lvl8pPr>
            <a:lvl9pPr>
              <a:buNone/>
              <a:defRPr sz="1650" b="0">
                <a:solidFill>
                  <a:srgbClr val="163447"/>
                </a:solidFill>
                <a:latin typeface="DejaVu Sans"/>
                <a:ea typeface="DejaVu Sans"/>
                <a:cs typeface="DejaVu Sans"/>
              </a:defRPr>
            </a:lvl9pPr>
          </a:lstStyle>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inicio, fin, estado, version</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cancelar(motivo)</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reprogramar(intervalo)</a:t>
            </a:r>
          </a:p>
        </p:txBody>
      </p:sp>
      <p:sp>
        <p:nvSpPr>
          <p:cNvPr id="16" name="clase-Disponibilidad">
            <a:extLst xmlns:a="http://schemas.openxmlformats.org/drawingml/2006/main">
              <a:ext uri="{FF2B5EF4-FFF2-40B4-BE49-F238E27FC236}">
                <a16:creationId xmlns:a16="http://schemas.microsoft.com/office/drawing/2014/main" id="{DD55D610-043A-405F-94ED-D3028BA205CC}"/>
              </a:ext>
            </a:extLst>
          </p:cNvPr>
          <p:cNvSpPr>
            <a:spLocks xmlns:a="http://schemas.openxmlformats.org/drawingml/2006/main" noGrp="1"/>
          </p:cNvSpPr>
          <p:nvPr/>
        </p:nvSpPr>
        <p:spPr>
          <a:xfrm xmlns:a="http://schemas.openxmlformats.org/drawingml/2006/main">
            <a:off x="609600" y="4867275"/>
            <a:ext cx="4191000" cy="1381125"/>
          </a:xfrm>
          <a:prstGeom xmlns:a="http://schemas.openxmlformats.org/drawingml/2006/main" prst="rect">
            <a:avLst/>
          </a:prstGeom>
          <a:solidFill xmlns:a="http://schemas.openxmlformats.org/drawingml/2006/main">
            <a:srgbClr val="EDF4F5"/>
          </a:solidFill>
          <a:ln xmlns:a="http://schemas.openxmlformats.org/drawingml/2006/main" w="9525">
            <a:solidFill>
              <a:srgbClr val="52636D"/>
            </a:solidFill>
            <a:prstDash val="solid"/>
          </a:ln>
        </p:spPr>
      </p:sp>
      <p:sp>
        <p:nvSpPr>
          <p:cNvPr id="17" name="texto-16">
            <a:extLst xmlns:a="http://schemas.openxmlformats.org/drawingml/2006/main">
              <a:ext uri="{FF2B5EF4-FFF2-40B4-BE49-F238E27FC236}">
                <a16:creationId xmlns:a16="http://schemas.microsoft.com/office/drawing/2014/main" id="{F6AC5FD0-828F-43FC-B660-3FBAC93A9384}"/>
              </a:ext>
            </a:extLst>
          </p:cNvPr>
          <p:cNvSpPr>
            <a:spLocks xmlns:a="http://schemas.openxmlformats.org/drawingml/2006/main" noGrp="1"/>
          </p:cNvSpPr>
          <p:nvPr/>
        </p:nvSpPr>
        <p:spPr>
          <a:xfrm xmlns:a="http://schemas.openxmlformats.org/drawingml/2006/main">
            <a:off x="742950" y="495300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63447"/>
                </a:solidFill>
                <a:latin typeface="DejaVu Sans"/>
                <a:ea typeface="DejaVu Sans"/>
                <a:cs typeface="DejaVu Sans"/>
              </a:defRPr>
            </a:defPPr>
            <a:lvl1pPr>
              <a:buNone/>
              <a:defRPr sz="1875" b="1">
                <a:solidFill>
                  <a:srgbClr val="163447"/>
                </a:solidFill>
                <a:latin typeface="DejaVu Sans"/>
                <a:ea typeface="DejaVu Sans"/>
                <a:cs typeface="DejaVu Sans"/>
              </a:defRPr>
            </a:lvl1pPr>
            <a:lvl2pPr>
              <a:buNone/>
              <a:defRPr sz="1875" b="1">
                <a:solidFill>
                  <a:srgbClr val="163447"/>
                </a:solidFill>
                <a:latin typeface="DejaVu Sans"/>
                <a:ea typeface="DejaVu Sans"/>
                <a:cs typeface="DejaVu Sans"/>
              </a:defRPr>
            </a:lvl2pPr>
            <a:lvl3pPr>
              <a:buNone/>
              <a:defRPr sz="1875" b="1">
                <a:solidFill>
                  <a:srgbClr val="163447"/>
                </a:solidFill>
                <a:latin typeface="DejaVu Sans"/>
                <a:ea typeface="DejaVu Sans"/>
                <a:cs typeface="DejaVu Sans"/>
              </a:defRPr>
            </a:lvl3pPr>
            <a:lvl4pPr>
              <a:buNone/>
              <a:defRPr sz="1875" b="1">
                <a:solidFill>
                  <a:srgbClr val="163447"/>
                </a:solidFill>
                <a:latin typeface="DejaVu Sans"/>
                <a:ea typeface="DejaVu Sans"/>
                <a:cs typeface="DejaVu Sans"/>
              </a:defRPr>
            </a:lvl4pPr>
            <a:lvl5pPr>
              <a:buNone/>
              <a:defRPr sz="1875" b="1">
                <a:solidFill>
                  <a:srgbClr val="163447"/>
                </a:solidFill>
                <a:latin typeface="DejaVu Sans"/>
                <a:ea typeface="DejaVu Sans"/>
                <a:cs typeface="DejaVu Sans"/>
              </a:defRPr>
            </a:lvl5pPr>
            <a:lvl6pPr>
              <a:buNone/>
              <a:defRPr sz="1875" b="1">
                <a:solidFill>
                  <a:srgbClr val="163447"/>
                </a:solidFill>
                <a:latin typeface="DejaVu Sans"/>
                <a:ea typeface="DejaVu Sans"/>
                <a:cs typeface="DejaVu Sans"/>
              </a:defRPr>
            </a:lvl6pPr>
            <a:lvl7pPr>
              <a:buNone/>
              <a:defRPr sz="1875" b="1">
                <a:solidFill>
                  <a:srgbClr val="163447"/>
                </a:solidFill>
                <a:latin typeface="DejaVu Sans"/>
                <a:ea typeface="DejaVu Sans"/>
                <a:cs typeface="DejaVu Sans"/>
              </a:defRPr>
            </a:lvl7pPr>
            <a:lvl8pPr>
              <a:buNone/>
              <a:defRPr sz="1875" b="1">
                <a:solidFill>
                  <a:srgbClr val="163447"/>
                </a:solidFill>
                <a:latin typeface="DejaVu Sans"/>
                <a:ea typeface="DejaVu Sans"/>
                <a:cs typeface="DejaVu Sans"/>
              </a:defRPr>
            </a:lvl8pPr>
            <a:lvl9pPr>
              <a:buNone/>
              <a:defRPr sz="1875" b="1">
                <a:solidFill>
                  <a:srgbClr val="163447"/>
                </a:solidFill>
                <a:latin typeface="DejaVu Sans"/>
                <a:ea typeface="DejaVu Sans"/>
                <a:cs typeface="DejaVu Sans"/>
              </a:defRPr>
            </a:lvl9pPr>
          </a:lstStyle>
          <a:p xmlns:a="http://schemas.openxmlformats.org/drawingml/2006/main">
            <a:pPr>
              <a:buNone/>
              <a:defRPr sz="1875" b="1">
                <a:solidFill>
                  <a:srgbClr val="163447"/>
                </a:solidFill>
                <a:latin typeface="DejaVu Sans"/>
                <a:ea typeface="DejaVu Sans"/>
                <a:cs typeface="DejaVu Sans"/>
              </a:defRPr>
            </a:pPr>
            <a:r>
              <a:rPr sz="1875" b="1">
                <a:solidFill>
                  <a:srgbClr val="163447"/>
                </a:solidFill>
                <a:latin typeface="DejaVu Sans"/>
                <a:ea typeface="DejaVu Sans"/>
                <a:cs typeface="DejaVu Sans"/>
              </a:rPr>
              <a:t>Disponibilidad</a:t>
            </a:r>
          </a:p>
        </p:txBody>
      </p:sp>
      <p:sp>
        <p:nvSpPr>
          <p:cNvPr id="18" name="texto-17">
            <a:extLst xmlns:a="http://schemas.openxmlformats.org/drawingml/2006/main">
              <a:ext uri="{FF2B5EF4-FFF2-40B4-BE49-F238E27FC236}">
                <a16:creationId xmlns:a16="http://schemas.microsoft.com/office/drawing/2014/main" id="{1EB7A850-AF72-494C-A9F8-9BF2308BE3F4}"/>
              </a:ext>
            </a:extLst>
          </p:cNvPr>
          <p:cNvSpPr>
            <a:spLocks xmlns:a="http://schemas.openxmlformats.org/drawingml/2006/main" noGrp="1"/>
          </p:cNvSpPr>
          <p:nvPr/>
        </p:nvSpPr>
        <p:spPr>
          <a:xfrm xmlns:a="http://schemas.openxmlformats.org/drawingml/2006/main">
            <a:off x="742950" y="5324475"/>
            <a:ext cx="39243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63447"/>
                </a:solidFill>
                <a:latin typeface="DejaVu Sans"/>
                <a:ea typeface="DejaVu Sans"/>
                <a:cs typeface="DejaVu Sans"/>
              </a:defRPr>
            </a:defPPr>
            <a:lvl1pPr>
              <a:buNone/>
              <a:defRPr sz="1650" b="0">
                <a:solidFill>
                  <a:srgbClr val="163447"/>
                </a:solidFill>
                <a:latin typeface="DejaVu Sans"/>
                <a:ea typeface="DejaVu Sans"/>
                <a:cs typeface="DejaVu Sans"/>
              </a:defRPr>
            </a:lvl1pPr>
            <a:lvl2pPr>
              <a:buNone/>
              <a:defRPr sz="1650" b="0">
                <a:solidFill>
                  <a:srgbClr val="163447"/>
                </a:solidFill>
                <a:latin typeface="DejaVu Sans"/>
                <a:ea typeface="DejaVu Sans"/>
                <a:cs typeface="DejaVu Sans"/>
              </a:defRPr>
            </a:lvl2pPr>
            <a:lvl3pPr>
              <a:buNone/>
              <a:defRPr sz="1650" b="0">
                <a:solidFill>
                  <a:srgbClr val="163447"/>
                </a:solidFill>
                <a:latin typeface="DejaVu Sans"/>
                <a:ea typeface="DejaVu Sans"/>
                <a:cs typeface="DejaVu Sans"/>
              </a:defRPr>
            </a:lvl3pPr>
            <a:lvl4pPr>
              <a:buNone/>
              <a:defRPr sz="1650" b="0">
                <a:solidFill>
                  <a:srgbClr val="163447"/>
                </a:solidFill>
                <a:latin typeface="DejaVu Sans"/>
                <a:ea typeface="DejaVu Sans"/>
                <a:cs typeface="DejaVu Sans"/>
              </a:defRPr>
            </a:lvl4pPr>
            <a:lvl5pPr>
              <a:buNone/>
              <a:defRPr sz="1650" b="0">
                <a:solidFill>
                  <a:srgbClr val="163447"/>
                </a:solidFill>
                <a:latin typeface="DejaVu Sans"/>
                <a:ea typeface="DejaVu Sans"/>
                <a:cs typeface="DejaVu Sans"/>
              </a:defRPr>
            </a:lvl5pPr>
            <a:lvl6pPr>
              <a:buNone/>
              <a:defRPr sz="1650" b="0">
                <a:solidFill>
                  <a:srgbClr val="163447"/>
                </a:solidFill>
                <a:latin typeface="DejaVu Sans"/>
                <a:ea typeface="DejaVu Sans"/>
                <a:cs typeface="DejaVu Sans"/>
              </a:defRPr>
            </a:lvl6pPr>
            <a:lvl7pPr>
              <a:buNone/>
              <a:defRPr sz="1650" b="0">
                <a:solidFill>
                  <a:srgbClr val="163447"/>
                </a:solidFill>
                <a:latin typeface="DejaVu Sans"/>
                <a:ea typeface="DejaVu Sans"/>
                <a:cs typeface="DejaVu Sans"/>
              </a:defRPr>
            </a:lvl7pPr>
            <a:lvl8pPr>
              <a:buNone/>
              <a:defRPr sz="1650" b="0">
                <a:solidFill>
                  <a:srgbClr val="163447"/>
                </a:solidFill>
                <a:latin typeface="DejaVu Sans"/>
                <a:ea typeface="DejaVu Sans"/>
                <a:cs typeface="DejaVu Sans"/>
              </a:defRPr>
            </a:lvl8pPr>
            <a:lvl9pPr>
              <a:buNone/>
              <a:defRPr sz="1650" b="0">
                <a:solidFill>
                  <a:srgbClr val="163447"/>
                </a:solidFill>
                <a:latin typeface="DejaVu Sans"/>
                <a:ea typeface="DejaVu Sans"/>
                <a:cs typeface="DejaVu Sans"/>
              </a:defRPr>
            </a:lvl9pPr>
          </a:lstStyle>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inicio, fin, tipo, validada</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contiene(intervalo)</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solapa(intervalo)</a:t>
            </a:r>
          </a:p>
        </p:txBody>
      </p:sp>
      <p:sp>
        <p:nvSpPr>
          <p:cNvPr id="19" name="clase-Usuario">
            <a:extLst xmlns:a="http://schemas.openxmlformats.org/drawingml/2006/main">
              <a:ext uri="{FF2B5EF4-FFF2-40B4-BE49-F238E27FC236}">
                <a16:creationId xmlns:a16="http://schemas.microsoft.com/office/drawing/2014/main" id="{FF540922-EAE7-48DF-B5E3-503C463D71DE}"/>
              </a:ext>
            </a:extLst>
          </p:cNvPr>
          <p:cNvSpPr>
            <a:spLocks xmlns:a="http://schemas.openxmlformats.org/drawingml/2006/main" noGrp="1"/>
          </p:cNvSpPr>
          <p:nvPr/>
        </p:nvSpPr>
        <p:spPr>
          <a:xfrm xmlns:a="http://schemas.openxmlformats.org/drawingml/2006/main">
            <a:off x="7391400" y="4867275"/>
            <a:ext cx="4191000" cy="1381125"/>
          </a:xfrm>
          <a:prstGeom xmlns:a="http://schemas.openxmlformats.org/drawingml/2006/main" prst="rect">
            <a:avLst/>
          </a:prstGeom>
          <a:solidFill xmlns:a="http://schemas.openxmlformats.org/drawingml/2006/main">
            <a:srgbClr val="EDF4F5"/>
          </a:solidFill>
          <a:ln xmlns:a="http://schemas.openxmlformats.org/drawingml/2006/main" w="9525">
            <a:solidFill>
              <a:srgbClr val="52636D"/>
            </a:solidFill>
            <a:prstDash val="solid"/>
          </a:ln>
        </p:spPr>
      </p:sp>
      <p:sp>
        <p:nvSpPr>
          <p:cNvPr id="20" name="texto-19">
            <a:extLst xmlns:a="http://schemas.openxmlformats.org/drawingml/2006/main">
              <a:ext uri="{FF2B5EF4-FFF2-40B4-BE49-F238E27FC236}">
                <a16:creationId xmlns:a16="http://schemas.microsoft.com/office/drawing/2014/main" id="{07B93A35-6C57-4C7B-B02F-F6BF0F1978FD}"/>
              </a:ext>
            </a:extLst>
          </p:cNvPr>
          <p:cNvSpPr>
            <a:spLocks xmlns:a="http://schemas.openxmlformats.org/drawingml/2006/main" noGrp="1"/>
          </p:cNvSpPr>
          <p:nvPr/>
        </p:nvSpPr>
        <p:spPr>
          <a:xfrm xmlns:a="http://schemas.openxmlformats.org/drawingml/2006/main">
            <a:off x="7524750" y="495300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63447"/>
                </a:solidFill>
                <a:latin typeface="DejaVu Sans"/>
                <a:ea typeface="DejaVu Sans"/>
                <a:cs typeface="DejaVu Sans"/>
              </a:defRPr>
            </a:defPPr>
            <a:lvl1pPr>
              <a:buNone/>
              <a:defRPr sz="1875" b="1">
                <a:solidFill>
                  <a:srgbClr val="163447"/>
                </a:solidFill>
                <a:latin typeface="DejaVu Sans"/>
                <a:ea typeface="DejaVu Sans"/>
                <a:cs typeface="DejaVu Sans"/>
              </a:defRPr>
            </a:lvl1pPr>
            <a:lvl2pPr>
              <a:buNone/>
              <a:defRPr sz="1875" b="1">
                <a:solidFill>
                  <a:srgbClr val="163447"/>
                </a:solidFill>
                <a:latin typeface="DejaVu Sans"/>
                <a:ea typeface="DejaVu Sans"/>
                <a:cs typeface="DejaVu Sans"/>
              </a:defRPr>
            </a:lvl2pPr>
            <a:lvl3pPr>
              <a:buNone/>
              <a:defRPr sz="1875" b="1">
                <a:solidFill>
                  <a:srgbClr val="163447"/>
                </a:solidFill>
                <a:latin typeface="DejaVu Sans"/>
                <a:ea typeface="DejaVu Sans"/>
                <a:cs typeface="DejaVu Sans"/>
              </a:defRPr>
            </a:lvl3pPr>
            <a:lvl4pPr>
              <a:buNone/>
              <a:defRPr sz="1875" b="1">
                <a:solidFill>
                  <a:srgbClr val="163447"/>
                </a:solidFill>
                <a:latin typeface="DejaVu Sans"/>
                <a:ea typeface="DejaVu Sans"/>
                <a:cs typeface="DejaVu Sans"/>
              </a:defRPr>
            </a:lvl4pPr>
            <a:lvl5pPr>
              <a:buNone/>
              <a:defRPr sz="1875" b="1">
                <a:solidFill>
                  <a:srgbClr val="163447"/>
                </a:solidFill>
                <a:latin typeface="DejaVu Sans"/>
                <a:ea typeface="DejaVu Sans"/>
                <a:cs typeface="DejaVu Sans"/>
              </a:defRPr>
            </a:lvl5pPr>
            <a:lvl6pPr>
              <a:buNone/>
              <a:defRPr sz="1875" b="1">
                <a:solidFill>
                  <a:srgbClr val="163447"/>
                </a:solidFill>
                <a:latin typeface="DejaVu Sans"/>
                <a:ea typeface="DejaVu Sans"/>
                <a:cs typeface="DejaVu Sans"/>
              </a:defRPr>
            </a:lvl6pPr>
            <a:lvl7pPr>
              <a:buNone/>
              <a:defRPr sz="1875" b="1">
                <a:solidFill>
                  <a:srgbClr val="163447"/>
                </a:solidFill>
                <a:latin typeface="DejaVu Sans"/>
                <a:ea typeface="DejaVu Sans"/>
                <a:cs typeface="DejaVu Sans"/>
              </a:defRPr>
            </a:lvl7pPr>
            <a:lvl8pPr>
              <a:buNone/>
              <a:defRPr sz="1875" b="1">
                <a:solidFill>
                  <a:srgbClr val="163447"/>
                </a:solidFill>
                <a:latin typeface="DejaVu Sans"/>
                <a:ea typeface="DejaVu Sans"/>
                <a:cs typeface="DejaVu Sans"/>
              </a:defRPr>
            </a:lvl8pPr>
            <a:lvl9pPr>
              <a:buNone/>
              <a:defRPr sz="1875" b="1">
                <a:solidFill>
                  <a:srgbClr val="163447"/>
                </a:solidFill>
                <a:latin typeface="DejaVu Sans"/>
                <a:ea typeface="DejaVu Sans"/>
                <a:cs typeface="DejaVu Sans"/>
              </a:defRPr>
            </a:lvl9pPr>
          </a:lstStyle>
          <a:p xmlns:a="http://schemas.openxmlformats.org/drawingml/2006/main">
            <a:pPr>
              <a:buNone/>
              <a:defRPr sz="1875" b="1">
                <a:solidFill>
                  <a:srgbClr val="163447"/>
                </a:solidFill>
                <a:latin typeface="DejaVu Sans"/>
                <a:ea typeface="DejaVu Sans"/>
                <a:cs typeface="DejaVu Sans"/>
              </a:defRPr>
            </a:pPr>
            <a:r>
              <a:rPr sz="1875" b="1">
                <a:solidFill>
                  <a:srgbClr val="163447"/>
                </a:solidFill>
                <a:latin typeface="DejaVu Sans"/>
                <a:ea typeface="DejaVu Sans"/>
                <a:cs typeface="DejaVu Sans"/>
              </a:rPr>
              <a:t>Usuario</a:t>
            </a:r>
          </a:p>
        </p:txBody>
      </p:sp>
      <p:sp>
        <p:nvSpPr>
          <p:cNvPr id="21" name="texto-20">
            <a:extLst xmlns:a="http://schemas.openxmlformats.org/drawingml/2006/main">
              <a:ext uri="{FF2B5EF4-FFF2-40B4-BE49-F238E27FC236}">
                <a16:creationId xmlns:a16="http://schemas.microsoft.com/office/drawing/2014/main" id="{71DC4B19-7693-4CA8-BB68-44D2C27E1B76}"/>
              </a:ext>
            </a:extLst>
          </p:cNvPr>
          <p:cNvSpPr>
            <a:spLocks xmlns:a="http://schemas.openxmlformats.org/drawingml/2006/main" noGrp="1"/>
          </p:cNvSpPr>
          <p:nvPr/>
        </p:nvSpPr>
        <p:spPr>
          <a:xfrm xmlns:a="http://schemas.openxmlformats.org/drawingml/2006/main">
            <a:off x="7524750" y="5324475"/>
            <a:ext cx="39243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63447"/>
                </a:solidFill>
                <a:latin typeface="DejaVu Sans"/>
                <a:ea typeface="DejaVu Sans"/>
                <a:cs typeface="DejaVu Sans"/>
              </a:defRPr>
            </a:defPPr>
            <a:lvl1pPr>
              <a:buNone/>
              <a:defRPr sz="1650" b="0">
                <a:solidFill>
                  <a:srgbClr val="163447"/>
                </a:solidFill>
                <a:latin typeface="DejaVu Sans"/>
                <a:ea typeface="DejaVu Sans"/>
                <a:cs typeface="DejaVu Sans"/>
              </a:defRPr>
            </a:lvl1pPr>
            <a:lvl2pPr>
              <a:buNone/>
              <a:defRPr sz="1650" b="0">
                <a:solidFill>
                  <a:srgbClr val="163447"/>
                </a:solidFill>
                <a:latin typeface="DejaVu Sans"/>
                <a:ea typeface="DejaVu Sans"/>
                <a:cs typeface="DejaVu Sans"/>
              </a:defRPr>
            </a:lvl2pPr>
            <a:lvl3pPr>
              <a:buNone/>
              <a:defRPr sz="1650" b="0">
                <a:solidFill>
                  <a:srgbClr val="163447"/>
                </a:solidFill>
                <a:latin typeface="DejaVu Sans"/>
                <a:ea typeface="DejaVu Sans"/>
                <a:cs typeface="DejaVu Sans"/>
              </a:defRPr>
            </a:lvl3pPr>
            <a:lvl4pPr>
              <a:buNone/>
              <a:defRPr sz="1650" b="0">
                <a:solidFill>
                  <a:srgbClr val="163447"/>
                </a:solidFill>
                <a:latin typeface="DejaVu Sans"/>
                <a:ea typeface="DejaVu Sans"/>
                <a:cs typeface="DejaVu Sans"/>
              </a:defRPr>
            </a:lvl4pPr>
            <a:lvl5pPr>
              <a:buNone/>
              <a:defRPr sz="1650" b="0">
                <a:solidFill>
                  <a:srgbClr val="163447"/>
                </a:solidFill>
                <a:latin typeface="DejaVu Sans"/>
                <a:ea typeface="DejaVu Sans"/>
                <a:cs typeface="DejaVu Sans"/>
              </a:defRPr>
            </a:lvl5pPr>
            <a:lvl6pPr>
              <a:buNone/>
              <a:defRPr sz="1650" b="0">
                <a:solidFill>
                  <a:srgbClr val="163447"/>
                </a:solidFill>
                <a:latin typeface="DejaVu Sans"/>
                <a:ea typeface="DejaVu Sans"/>
                <a:cs typeface="DejaVu Sans"/>
              </a:defRPr>
            </a:lvl6pPr>
            <a:lvl7pPr>
              <a:buNone/>
              <a:defRPr sz="1650" b="0">
                <a:solidFill>
                  <a:srgbClr val="163447"/>
                </a:solidFill>
                <a:latin typeface="DejaVu Sans"/>
                <a:ea typeface="DejaVu Sans"/>
                <a:cs typeface="DejaVu Sans"/>
              </a:defRPr>
            </a:lvl7pPr>
            <a:lvl8pPr>
              <a:buNone/>
              <a:defRPr sz="1650" b="0">
                <a:solidFill>
                  <a:srgbClr val="163447"/>
                </a:solidFill>
                <a:latin typeface="DejaVu Sans"/>
                <a:ea typeface="DejaVu Sans"/>
                <a:cs typeface="DejaVu Sans"/>
              </a:defRPr>
            </a:lvl8pPr>
            <a:lvl9pPr>
              <a:buNone/>
              <a:defRPr sz="1650" b="0">
                <a:solidFill>
                  <a:srgbClr val="163447"/>
                </a:solidFill>
                <a:latin typeface="DejaVu Sans"/>
                <a:ea typeface="DejaVu Sans"/>
                <a:cs typeface="DejaVu Sans"/>
              </a:defRPr>
            </a:lvl9pPr>
          </a:lstStyle>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id, rol, credencialHash</a:t>
            </a:r>
          </a:p>
          <a:p xmlns:a="http://schemas.openxmlformats.org/drawingml/2006/main">
            <a:pPr>
              <a:buNone/>
              <a:defRPr sz="1650" b="0">
                <a:solidFill>
                  <a:srgbClr val="163447"/>
                </a:solidFill>
                <a:latin typeface="DejaVu Sans"/>
                <a:ea typeface="DejaVu Sans"/>
                <a:cs typeface="DejaVu Sans"/>
              </a:defRPr>
            </a:pPr>
            <a:r>
              <a:rPr sz="1650" b="0">
                <a:solidFill>
                  <a:srgbClr val="163447"/>
                </a:solidFill>
                <a:latin typeface="DejaVu Sans"/>
                <a:ea typeface="DejaVu Sans"/>
                <a:cs typeface="DejaVu Sans"/>
              </a:rPr>
              <a:t>tienePermiso(accion)</a:t>
            </a:r>
          </a:p>
        </p:txBody>
      </p:sp>
      <p:sp>
        <p:nvSpPr>
          <p:cNvPr id="23" name="texto-22">
            <a:extLst xmlns:a="http://schemas.openxmlformats.org/drawingml/2006/main">
              <a:ext uri="{FF2B5EF4-FFF2-40B4-BE49-F238E27FC236}">
                <a16:creationId xmlns:a16="http://schemas.microsoft.com/office/drawing/2014/main" id="{970F3EC9-F038-4352-BD3B-637315E6BF6F}"/>
              </a:ext>
            </a:extLst>
          </p:cNvPr>
          <p:cNvSpPr>
            <a:spLocks xmlns:a="http://schemas.openxmlformats.org/drawingml/2006/main" noGrp="1"/>
          </p:cNvSpPr>
          <p:nvPr/>
        </p:nvSpPr>
        <p:spPr>
          <a:xfrm xmlns:a="http://schemas.openxmlformats.org/drawingml/2006/main">
            <a:off x="5057775" y="1809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163447"/>
                </a:solidFill>
                <a:latin typeface="DejaVu Sans"/>
                <a:ea typeface="DejaVu Sans"/>
                <a:cs typeface="DejaVu Sans"/>
              </a:defRPr>
            </a:defPPr>
            <a:lvl1pPr>
              <a:buNone/>
              <a:defRPr sz="1500" b="0">
                <a:solidFill>
                  <a:srgbClr val="163447"/>
                </a:solidFill>
                <a:latin typeface="DejaVu Sans"/>
                <a:ea typeface="DejaVu Sans"/>
                <a:cs typeface="DejaVu Sans"/>
              </a:defRPr>
            </a:lvl1pPr>
            <a:lvl2pPr>
              <a:buNone/>
              <a:defRPr sz="1500" b="0">
                <a:solidFill>
                  <a:srgbClr val="163447"/>
                </a:solidFill>
                <a:latin typeface="DejaVu Sans"/>
                <a:ea typeface="DejaVu Sans"/>
                <a:cs typeface="DejaVu Sans"/>
              </a:defRPr>
            </a:lvl2pPr>
            <a:lvl3pPr>
              <a:buNone/>
              <a:defRPr sz="1500" b="0">
                <a:solidFill>
                  <a:srgbClr val="163447"/>
                </a:solidFill>
                <a:latin typeface="DejaVu Sans"/>
                <a:ea typeface="DejaVu Sans"/>
                <a:cs typeface="DejaVu Sans"/>
              </a:defRPr>
            </a:lvl3pPr>
            <a:lvl4pPr>
              <a:buNone/>
              <a:defRPr sz="1500" b="0">
                <a:solidFill>
                  <a:srgbClr val="163447"/>
                </a:solidFill>
                <a:latin typeface="DejaVu Sans"/>
                <a:ea typeface="DejaVu Sans"/>
                <a:cs typeface="DejaVu Sans"/>
              </a:defRPr>
            </a:lvl4pPr>
            <a:lvl5pPr>
              <a:buNone/>
              <a:defRPr sz="1500" b="0">
                <a:solidFill>
                  <a:srgbClr val="163447"/>
                </a:solidFill>
                <a:latin typeface="DejaVu Sans"/>
                <a:ea typeface="DejaVu Sans"/>
                <a:cs typeface="DejaVu Sans"/>
              </a:defRPr>
            </a:lvl5pPr>
            <a:lvl6pPr>
              <a:buNone/>
              <a:defRPr sz="1500" b="0">
                <a:solidFill>
                  <a:srgbClr val="163447"/>
                </a:solidFill>
                <a:latin typeface="DejaVu Sans"/>
                <a:ea typeface="DejaVu Sans"/>
                <a:cs typeface="DejaVu Sans"/>
              </a:defRPr>
            </a:lvl6pPr>
            <a:lvl7pPr>
              <a:buNone/>
              <a:defRPr sz="1500" b="0">
                <a:solidFill>
                  <a:srgbClr val="163447"/>
                </a:solidFill>
                <a:latin typeface="DejaVu Sans"/>
                <a:ea typeface="DejaVu Sans"/>
                <a:cs typeface="DejaVu Sans"/>
              </a:defRPr>
            </a:lvl7pPr>
            <a:lvl8pPr>
              <a:buNone/>
              <a:defRPr sz="1500" b="0">
                <a:solidFill>
                  <a:srgbClr val="163447"/>
                </a:solidFill>
                <a:latin typeface="DejaVu Sans"/>
                <a:ea typeface="DejaVu Sans"/>
                <a:cs typeface="DejaVu Sans"/>
              </a:defRPr>
            </a:lvl8pPr>
            <a:lvl9pPr>
              <a:buNone/>
              <a:defRPr sz="1500" b="0">
                <a:solidFill>
                  <a:srgbClr val="163447"/>
                </a:solidFill>
                <a:latin typeface="DejaVu Sans"/>
                <a:ea typeface="DejaVu Sans"/>
                <a:cs typeface="DejaVu Sans"/>
              </a:defRPr>
            </a:lvl9pPr>
          </a:lstStyle>
          <a:p xmlns:a="http://schemas.openxmlformats.org/drawingml/2006/main">
            <a:pPr>
              <a:buNone/>
              <a:defRPr sz="1500" b="0">
                <a:solidFill>
                  <a:srgbClr val="163447"/>
                </a:solidFill>
                <a:latin typeface="DejaVu Sans"/>
                <a:ea typeface="DejaVu Sans"/>
                <a:cs typeface="DejaVu Sans"/>
              </a:defRPr>
            </a:pPr>
            <a:r>
              <a:rPr sz="1500" b="0">
                <a:solidFill>
                  <a:srgbClr val="163447"/>
                </a:solidFill>
                <a:latin typeface="DejaVu Sans"/>
                <a:ea typeface="DejaVu Sans"/>
                <a:cs typeface="DejaVu Sans"/>
              </a:rPr>
              <a:t>1 contiene 0..*</a:t>
            </a:r>
          </a:p>
        </p:txBody>
      </p:sp>
      <p:sp>
        <p:nvSpPr>
          <p:cNvPr id="25" name="texto-24">
            <a:extLst xmlns:a="http://schemas.openxmlformats.org/drawingml/2006/main">
              <a:ext uri="{FF2B5EF4-FFF2-40B4-BE49-F238E27FC236}">
                <a16:creationId xmlns:a16="http://schemas.microsoft.com/office/drawing/2014/main" id="{E51FEBB6-D71D-44FB-9657-1A93D121A45E}"/>
              </a:ext>
            </a:extLst>
          </p:cNvPr>
          <p:cNvSpPr>
            <a:spLocks xmlns:a="http://schemas.openxmlformats.org/drawingml/2006/main" noGrp="1"/>
          </p:cNvSpPr>
          <p:nvPr/>
        </p:nvSpPr>
        <p:spPr>
          <a:xfrm xmlns:a="http://schemas.openxmlformats.org/drawingml/2006/main">
            <a:off x="9515475" y="289560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163447"/>
                </a:solidFill>
                <a:latin typeface="DejaVu Sans"/>
                <a:ea typeface="DejaVu Sans"/>
                <a:cs typeface="DejaVu Sans"/>
              </a:defRPr>
            </a:defPPr>
            <a:lvl1pPr>
              <a:buNone/>
              <a:defRPr sz="1350" b="0">
                <a:solidFill>
                  <a:srgbClr val="163447"/>
                </a:solidFill>
                <a:latin typeface="DejaVu Sans"/>
                <a:ea typeface="DejaVu Sans"/>
                <a:cs typeface="DejaVu Sans"/>
              </a:defRPr>
            </a:lvl1pPr>
            <a:lvl2pPr>
              <a:buNone/>
              <a:defRPr sz="1350" b="0">
                <a:solidFill>
                  <a:srgbClr val="163447"/>
                </a:solidFill>
                <a:latin typeface="DejaVu Sans"/>
                <a:ea typeface="DejaVu Sans"/>
                <a:cs typeface="DejaVu Sans"/>
              </a:defRPr>
            </a:lvl2pPr>
            <a:lvl3pPr>
              <a:buNone/>
              <a:defRPr sz="1350" b="0">
                <a:solidFill>
                  <a:srgbClr val="163447"/>
                </a:solidFill>
                <a:latin typeface="DejaVu Sans"/>
                <a:ea typeface="DejaVu Sans"/>
                <a:cs typeface="DejaVu Sans"/>
              </a:defRPr>
            </a:lvl3pPr>
            <a:lvl4pPr>
              <a:buNone/>
              <a:defRPr sz="1350" b="0">
                <a:solidFill>
                  <a:srgbClr val="163447"/>
                </a:solidFill>
                <a:latin typeface="DejaVu Sans"/>
                <a:ea typeface="DejaVu Sans"/>
                <a:cs typeface="DejaVu Sans"/>
              </a:defRPr>
            </a:lvl4pPr>
            <a:lvl5pPr>
              <a:buNone/>
              <a:defRPr sz="1350" b="0">
                <a:solidFill>
                  <a:srgbClr val="163447"/>
                </a:solidFill>
                <a:latin typeface="DejaVu Sans"/>
                <a:ea typeface="DejaVu Sans"/>
                <a:cs typeface="DejaVu Sans"/>
              </a:defRPr>
            </a:lvl5pPr>
            <a:lvl6pPr>
              <a:buNone/>
              <a:defRPr sz="1350" b="0">
                <a:solidFill>
                  <a:srgbClr val="163447"/>
                </a:solidFill>
                <a:latin typeface="DejaVu Sans"/>
                <a:ea typeface="DejaVu Sans"/>
                <a:cs typeface="DejaVu Sans"/>
              </a:defRPr>
            </a:lvl6pPr>
            <a:lvl7pPr>
              <a:buNone/>
              <a:defRPr sz="1350" b="0">
                <a:solidFill>
                  <a:srgbClr val="163447"/>
                </a:solidFill>
                <a:latin typeface="DejaVu Sans"/>
                <a:ea typeface="DejaVu Sans"/>
                <a:cs typeface="DejaVu Sans"/>
              </a:defRPr>
            </a:lvl7pPr>
            <a:lvl8pPr>
              <a:buNone/>
              <a:defRPr sz="1350" b="0">
                <a:solidFill>
                  <a:srgbClr val="163447"/>
                </a:solidFill>
                <a:latin typeface="DejaVu Sans"/>
                <a:ea typeface="DejaVu Sans"/>
                <a:cs typeface="DejaVu Sans"/>
              </a:defRPr>
            </a:lvl8pPr>
            <a:lvl9pPr>
              <a:buNone/>
              <a:defRPr sz="1350" b="0">
                <a:solidFill>
                  <a:srgbClr val="163447"/>
                </a:solidFill>
                <a:latin typeface="DejaVu Sans"/>
                <a:ea typeface="DejaVu Sans"/>
                <a:cs typeface="DejaVu Sans"/>
              </a:defRPr>
            </a:lvl9pPr>
          </a:lstStyle>
          <a:p xmlns:a="http://schemas.openxmlformats.org/drawingml/2006/main">
            <a:pPr>
              <a:buNone/>
              <a:defRPr sz="1350" b="0">
                <a:solidFill>
                  <a:srgbClr val="163447"/>
                </a:solidFill>
                <a:latin typeface="DejaVu Sans"/>
                <a:ea typeface="DejaVu Sans"/>
                <a:cs typeface="DejaVu Sans"/>
              </a:defRPr>
            </a:pPr>
            <a:r>
              <a:rPr sz="1350" b="0">
                <a:solidFill>
                  <a:srgbClr val="163447"/>
                </a:solidFill>
                <a:latin typeface="DejaVu Sans"/>
                <a:ea typeface="DejaVu Sans"/>
                <a:cs typeface="DejaVu Sans"/>
              </a:rPr>
              <a:t>1 / 0..*</a:t>
            </a:r>
          </a:p>
        </p:txBody>
      </p:sp>
      <p:sp>
        <p:nvSpPr>
          <p:cNvPr id="27" name="texto-26">
            <a:extLst xmlns:a="http://schemas.openxmlformats.org/drawingml/2006/main">
              <a:ext uri="{FF2B5EF4-FFF2-40B4-BE49-F238E27FC236}">
                <a16:creationId xmlns:a16="http://schemas.microsoft.com/office/drawing/2014/main" id="{6A65C751-542A-4689-8050-00E6156CE952}"/>
              </a:ext>
            </a:extLst>
          </p:cNvPr>
          <p:cNvSpPr>
            <a:spLocks xmlns:a="http://schemas.openxmlformats.org/drawingml/2006/main" noGrp="1"/>
          </p:cNvSpPr>
          <p:nvPr/>
        </p:nvSpPr>
        <p:spPr>
          <a:xfrm xmlns:a="http://schemas.openxmlformats.org/drawingml/2006/main">
            <a:off x="5219700" y="35052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163447"/>
                </a:solidFill>
                <a:latin typeface="DejaVu Sans"/>
                <a:ea typeface="DejaVu Sans"/>
                <a:cs typeface="DejaVu Sans"/>
              </a:defRPr>
            </a:defPPr>
            <a:lvl1pPr>
              <a:buNone/>
              <a:defRPr sz="1500" b="0">
                <a:solidFill>
                  <a:srgbClr val="163447"/>
                </a:solidFill>
                <a:latin typeface="DejaVu Sans"/>
                <a:ea typeface="DejaVu Sans"/>
                <a:cs typeface="DejaVu Sans"/>
              </a:defRPr>
            </a:lvl1pPr>
            <a:lvl2pPr>
              <a:buNone/>
              <a:defRPr sz="1500" b="0">
                <a:solidFill>
                  <a:srgbClr val="163447"/>
                </a:solidFill>
                <a:latin typeface="DejaVu Sans"/>
                <a:ea typeface="DejaVu Sans"/>
                <a:cs typeface="DejaVu Sans"/>
              </a:defRPr>
            </a:lvl2pPr>
            <a:lvl3pPr>
              <a:buNone/>
              <a:defRPr sz="1500" b="0">
                <a:solidFill>
                  <a:srgbClr val="163447"/>
                </a:solidFill>
                <a:latin typeface="DejaVu Sans"/>
                <a:ea typeface="DejaVu Sans"/>
                <a:cs typeface="DejaVu Sans"/>
              </a:defRPr>
            </a:lvl3pPr>
            <a:lvl4pPr>
              <a:buNone/>
              <a:defRPr sz="1500" b="0">
                <a:solidFill>
                  <a:srgbClr val="163447"/>
                </a:solidFill>
                <a:latin typeface="DejaVu Sans"/>
                <a:ea typeface="DejaVu Sans"/>
                <a:cs typeface="DejaVu Sans"/>
              </a:defRPr>
            </a:lvl4pPr>
            <a:lvl5pPr>
              <a:buNone/>
              <a:defRPr sz="1500" b="0">
                <a:solidFill>
                  <a:srgbClr val="163447"/>
                </a:solidFill>
                <a:latin typeface="DejaVu Sans"/>
                <a:ea typeface="DejaVu Sans"/>
                <a:cs typeface="DejaVu Sans"/>
              </a:defRPr>
            </a:lvl5pPr>
            <a:lvl6pPr>
              <a:buNone/>
              <a:defRPr sz="1500" b="0">
                <a:solidFill>
                  <a:srgbClr val="163447"/>
                </a:solidFill>
                <a:latin typeface="DejaVu Sans"/>
                <a:ea typeface="DejaVu Sans"/>
                <a:cs typeface="DejaVu Sans"/>
              </a:defRPr>
            </a:lvl6pPr>
            <a:lvl7pPr>
              <a:buNone/>
              <a:defRPr sz="1500" b="0">
                <a:solidFill>
                  <a:srgbClr val="163447"/>
                </a:solidFill>
                <a:latin typeface="DejaVu Sans"/>
                <a:ea typeface="DejaVu Sans"/>
                <a:cs typeface="DejaVu Sans"/>
              </a:defRPr>
            </a:lvl7pPr>
            <a:lvl8pPr>
              <a:buNone/>
              <a:defRPr sz="1500" b="0">
                <a:solidFill>
                  <a:srgbClr val="163447"/>
                </a:solidFill>
                <a:latin typeface="DejaVu Sans"/>
                <a:ea typeface="DejaVu Sans"/>
                <a:cs typeface="DejaVu Sans"/>
              </a:defRPr>
            </a:lvl8pPr>
            <a:lvl9pPr>
              <a:buNone/>
              <a:defRPr sz="1500" b="0">
                <a:solidFill>
                  <a:srgbClr val="163447"/>
                </a:solidFill>
                <a:latin typeface="DejaVu Sans"/>
                <a:ea typeface="DejaVu Sans"/>
                <a:cs typeface="DejaVu Sans"/>
              </a:defRPr>
            </a:lvl9pPr>
          </a:lstStyle>
          <a:p xmlns:a="http://schemas.openxmlformats.org/drawingml/2006/main">
            <a:pPr>
              <a:buNone/>
              <a:defRPr sz="1500" b="0">
                <a:solidFill>
                  <a:srgbClr val="163447"/>
                </a:solidFill>
                <a:latin typeface="DejaVu Sans"/>
                <a:ea typeface="DejaVu Sans"/>
                <a:cs typeface="DejaVu Sans"/>
              </a:defRPr>
            </a:pPr>
            <a:r>
              <a:rPr sz="1500" b="0">
                <a:solidFill>
                  <a:srgbClr val="163447"/>
                </a:solidFill>
                <a:latin typeface="DejaVu Sans"/>
                <a:ea typeface="DejaVu Sans"/>
                <a:cs typeface="DejaVu Sans"/>
              </a:rPr>
              <a:t>1..* / 0..*</a:t>
            </a:r>
          </a:p>
        </p:txBody>
      </p:sp>
      <p:sp>
        <p:nvSpPr>
          <p:cNvPr id="29" name="texto-28">
            <a:extLst xmlns:a="http://schemas.openxmlformats.org/drawingml/2006/main">
              <a:ext uri="{FF2B5EF4-FFF2-40B4-BE49-F238E27FC236}">
                <a16:creationId xmlns:a16="http://schemas.microsoft.com/office/drawing/2014/main" id="{772A7525-516E-4107-9979-D3562C607515}"/>
              </a:ext>
            </a:extLst>
          </p:cNvPr>
          <p:cNvSpPr>
            <a:spLocks xmlns:a="http://schemas.openxmlformats.org/drawingml/2006/main" noGrp="1"/>
          </p:cNvSpPr>
          <p:nvPr/>
        </p:nvSpPr>
        <p:spPr>
          <a:xfrm xmlns:a="http://schemas.openxmlformats.org/drawingml/2006/main">
            <a:off x="2714625" y="458152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163447"/>
                </a:solidFill>
                <a:latin typeface="DejaVu Sans"/>
                <a:ea typeface="DejaVu Sans"/>
                <a:cs typeface="DejaVu Sans"/>
              </a:defRPr>
            </a:defPPr>
            <a:lvl1pPr>
              <a:buNone/>
              <a:defRPr sz="1350" b="0">
                <a:solidFill>
                  <a:srgbClr val="163447"/>
                </a:solidFill>
                <a:latin typeface="DejaVu Sans"/>
                <a:ea typeface="DejaVu Sans"/>
                <a:cs typeface="DejaVu Sans"/>
              </a:defRPr>
            </a:lvl1pPr>
            <a:lvl2pPr>
              <a:buNone/>
              <a:defRPr sz="1350" b="0">
                <a:solidFill>
                  <a:srgbClr val="163447"/>
                </a:solidFill>
                <a:latin typeface="DejaVu Sans"/>
                <a:ea typeface="DejaVu Sans"/>
                <a:cs typeface="DejaVu Sans"/>
              </a:defRPr>
            </a:lvl2pPr>
            <a:lvl3pPr>
              <a:buNone/>
              <a:defRPr sz="1350" b="0">
                <a:solidFill>
                  <a:srgbClr val="163447"/>
                </a:solidFill>
                <a:latin typeface="DejaVu Sans"/>
                <a:ea typeface="DejaVu Sans"/>
                <a:cs typeface="DejaVu Sans"/>
              </a:defRPr>
            </a:lvl3pPr>
            <a:lvl4pPr>
              <a:buNone/>
              <a:defRPr sz="1350" b="0">
                <a:solidFill>
                  <a:srgbClr val="163447"/>
                </a:solidFill>
                <a:latin typeface="DejaVu Sans"/>
                <a:ea typeface="DejaVu Sans"/>
                <a:cs typeface="DejaVu Sans"/>
              </a:defRPr>
            </a:lvl4pPr>
            <a:lvl5pPr>
              <a:buNone/>
              <a:defRPr sz="1350" b="0">
                <a:solidFill>
                  <a:srgbClr val="163447"/>
                </a:solidFill>
                <a:latin typeface="DejaVu Sans"/>
                <a:ea typeface="DejaVu Sans"/>
                <a:cs typeface="DejaVu Sans"/>
              </a:defRPr>
            </a:lvl5pPr>
            <a:lvl6pPr>
              <a:buNone/>
              <a:defRPr sz="1350" b="0">
                <a:solidFill>
                  <a:srgbClr val="163447"/>
                </a:solidFill>
                <a:latin typeface="DejaVu Sans"/>
                <a:ea typeface="DejaVu Sans"/>
                <a:cs typeface="DejaVu Sans"/>
              </a:defRPr>
            </a:lvl6pPr>
            <a:lvl7pPr>
              <a:buNone/>
              <a:defRPr sz="1350" b="0">
                <a:solidFill>
                  <a:srgbClr val="163447"/>
                </a:solidFill>
                <a:latin typeface="DejaVu Sans"/>
                <a:ea typeface="DejaVu Sans"/>
                <a:cs typeface="DejaVu Sans"/>
              </a:defRPr>
            </a:lvl7pPr>
            <a:lvl8pPr>
              <a:buNone/>
              <a:defRPr sz="1350" b="0">
                <a:solidFill>
                  <a:srgbClr val="163447"/>
                </a:solidFill>
                <a:latin typeface="DejaVu Sans"/>
                <a:ea typeface="DejaVu Sans"/>
                <a:cs typeface="DejaVu Sans"/>
              </a:defRPr>
            </a:lvl8pPr>
            <a:lvl9pPr>
              <a:buNone/>
              <a:defRPr sz="1350" b="0">
                <a:solidFill>
                  <a:srgbClr val="163447"/>
                </a:solidFill>
                <a:latin typeface="DejaVu Sans"/>
                <a:ea typeface="DejaVu Sans"/>
                <a:cs typeface="DejaVu Sans"/>
              </a:defRPr>
            </a:lvl9pPr>
          </a:lstStyle>
          <a:p xmlns:a="http://schemas.openxmlformats.org/drawingml/2006/main">
            <a:pPr>
              <a:buNone/>
              <a:defRPr sz="1350" b="0">
                <a:solidFill>
                  <a:srgbClr val="163447"/>
                </a:solidFill>
                <a:latin typeface="DejaVu Sans"/>
                <a:ea typeface="DejaVu Sans"/>
                <a:cs typeface="DejaVu Sans"/>
              </a:defRPr>
            </a:pPr>
            <a:r>
              <a:rPr sz="1350" b="0">
                <a:solidFill>
                  <a:srgbClr val="163447"/>
                </a:solidFill>
                <a:latin typeface="DejaVu Sans"/>
                <a:ea typeface="DejaVu Sans"/>
                <a:cs typeface="DejaVu Sans"/>
              </a:rPr>
              <a:t>1 / 0..*</a:t>
            </a:r>
          </a:p>
        </p:txBody>
      </p:sp>
    </p:spTree>
    <p:extLst>
      <p:ext uri="{BB962C8B-B14F-4D97-AF65-F5344CB8AC3E}">
        <p14:creationId xmlns:p14="http://schemas.microsoft.com/office/powerpoint/2010/main" val="1565887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o-0">
            <a:extLst xmlns:a="http://schemas.openxmlformats.org/drawingml/2006/main">
              <a:ext uri="{FF2B5EF4-FFF2-40B4-BE49-F238E27FC236}">
                <a16:creationId xmlns:a16="http://schemas.microsoft.com/office/drawing/2014/main" id="{A0B56775-C39A-46BC-B203-B968ED956968}"/>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Alternativas de estructuras y algoritmos</a:t>
            </a:r>
          </a:p>
        </p:txBody>
      </p:sp>
      <p:sp>
        <p:nvSpPr>
          <p:cNvPr id="2" name="texto-1">
            <a:extLst xmlns:a="http://schemas.openxmlformats.org/drawingml/2006/main">
              <a:ext uri="{FF2B5EF4-FFF2-40B4-BE49-F238E27FC236}">
                <a16:creationId xmlns:a16="http://schemas.microsoft.com/office/drawing/2014/main" id="{4EBDD488-A343-4595-BDE7-2D2FE13FF878}"/>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8D5CCB55-3A8E-41F8-965A-0845FD74D166}"/>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6</a:t>
            </a:r>
          </a:p>
        </p:txBody>
      </p:sp>
      <p:graphicFrame>
        <p:nvGraphicFramePr>
          <p:cNvPr id="4" name="">
            <a:extLst xmlns:a="http://schemas.openxmlformats.org/drawingml/2006/main">
              <a:ext uri="{FF2B5EF4-FFF2-40B4-BE49-F238E27FC236}">
                <a16:creationId xmlns:a16="http://schemas.microsoft.com/office/drawing/2014/main" id="{950936E1-02A1-4DBE-929D-1293097E88D8}"/>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table">
            <a:tbl>
              <a:tblPr/>
              <a:tblGrid>
                <a:gridCol w="2286000"/>
                <a:gridCol w="4343400"/>
                <a:gridCol w="4343400"/>
              </a:tblGrid>
              <a:tr h="928688">
                <a:tc>
                  <a:txBody>
                    <a:bodyPr wrap="square" lIns="123825" tIns="85725" rIns="123825" bIns="85725">
                      <a:noAutofit/>
                    </a:bodyPr>
                    <a:lstStyle/>
                    <a:p>
                      <a:r>
                        <a:rPr sz="1875" b="1">
                          <a:solidFill>
                            <a:srgbClr val="FFFFFF"/>
                          </a:solidFill>
                          <a:latin typeface="DejaVu Sans"/>
                          <a:ea typeface="DejaVu Sans"/>
                          <a:cs typeface="DejaVu Sans"/>
                        </a:rPr>
                        <a:t>Componente</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875" b="1">
                          <a:solidFill>
                            <a:srgbClr val="FFFFFF"/>
                          </a:solidFill>
                          <a:latin typeface="DejaVu Sans"/>
                          <a:ea typeface="DejaVu Sans"/>
                          <a:cs typeface="DejaVu Sans"/>
                        </a:rPr>
                        <a:t>A   Listas y matriz</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875" b="1">
                          <a:solidFill>
                            <a:srgbClr val="FFFFFF"/>
                          </a:solidFill>
                          <a:latin typeface="DejaVu Sans"/>
                          <a:ea typeface="DejaVu Sans"/>
                          <a:cs typeface="DejaVu Sans"/>
                        </a:rPr>
                        <a:t>B   Índices y grafo disperso</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928688">
                <a:tc>
                  <a:txBody>
                    <a:bodyPr wrap="square" lIns="123825" tIns="85725" rIns="123825" bIns="85725">
                      <a:noAutofit/>
                    </a:bodyPr>
                    <a:lstStyle/>
                    <a:p>
                      <a:r>
                        <a:rPr sz="1875" b="0">
                          <a:solidFill>
                            <a:srgbClr val="163447"/>
                          </a:solidFill>
                          <a:latin typeface="DejaVu Sans"/>
                          <a:ea typeface="DejaVu Sans"/>
                          <a:cs typeface="DejaVu Sans"/>
                        </a:rPr>
                        <a:t>Identidad y agenda</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75" b="0">
                          <a:solidFill>
                            <a:srgbClr val="163447"/>
                          </a:solidFill>
                          <a:latin typeface="DejaVu Sans"/>
                          <a:ea typeface="DejaVu Sans"/>
                          <a:cs typeface="DejaVu Sans"/>
                        </a:rPr>
                        <a:t>ArrayList y búsqueda lineal.</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75" b="0">
                          <a:solidFill>
                            <a:srgbClr val="163447"/>
                          </a:solidFill>
                          <a:latin typeface="DejaVu Sans"/>
                          <a:ea typeface="DejaVu Sans"/>
                          <a:cs typeface="DejaVu Sans"/>
                        </a:rPr>
                        <a:t>HashMap por código y TreeMap por inicio.</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928688">
                <a:tc>
                  <a:txBody>
                    <a:bodyPr wrap="square" lIns="123825" tIns="85725" rIns="123825" bIns="85725">
                      <a:noAutofit/>
                    </a:bodyPr>
                    <a:lstStyle/>
                    <a:p>
                      <a:r>
                        <a:rPr sz="1875" b="0">
                          <a:solidFill>
                            <a:srgbClr val="163447"/>
                          </a:solidFill>
                          <a:latin typeface="DejaVu Sans"/>
                          <a:ea typeface="DejaVu Sans"/>
                          <a:cs typeface="DejaVu Sans"/>
                        </a:rPr>
                        <a:t>Prioridades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875" b="0">
                          <a:solidFill>
                            <a:srgbClr val="163447"/>
                          </a:solidFill>
                          <a:latin typeface="DejaVu Sans"/>
                          <a:ea typeface="DejaVu Sans"/>
                          <a:cs typeface="DejaVu Sans"/>
                        </a:rPr>
                        <a:t>Recorrido para el mínimo y ordenamiento de una copia.</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875" b="0">
                          <a:solidFill>
                            <a:srgbClr val="163447"/>
                          </a:solidFill>
                          <a:latin typeface="DejaVu Sans"/>
                          <a:ea typeface="DejaVu Sans"/>
                          <a:cs typeface="DejaVu Sans"/>
                        </a:rPr>
                        <a:t>PriorityQueue con prioridad, fecha y código.</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928688">
                <a:tc>
                  <a:txBody>
                    <a:bodyPr wrap="square" lIns="123825" tIns="85725" rIns="123825" bIns="85725">
                      <a:noAutofit/>
                    </a:bodyPr>
                    <a:lstStyle/>
                    <a:p>
                      <a:r>
                        <a:rPr sz="1875" b="0">
                          <a:solidFill>
                            <a:srgbClr val="163447"/>
                          </a:solidFill>
                          <a:latin typeface="DejaVu Sans"/>
                          <a:ea typeface="DejaVu Sans"/>
                          <a:cs typeface="DejaVu Sans"/>
                        </a:rPr>
                        <a:t>Dependencias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75" b="0">
                          <a:solidFill>
                            <a:srgbClr val="163447"/>
                          </a:solidFill>
                          <a:latin typeface="DejaVu Sans"/>
                          <a:ea typeface="DejaVu Sans"/>
                          <a:cs typeface="DejaVu Sans"/>
                        </a:rPr>
                        <a:t>Matriz de adyacencia y DFS.</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75" b="0">
                          <a:solidFill>
                            <a:srgbClr val="163447"/>
                          </a:solidFill>
                          <a:latin typeface="DejaVu Sans"/>
                          <a:ea typeface="DejaVu Sans"/>
                          <a:cs typeface="DejaVu Sans"/>
                        </a:rPr>
                        <a:t>Listas de adyacencia y algoritmo de Kahn.</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bl>
          </a:graphicData>
        </a:graphic>
      </p:graphicFrame>
      <p:sp>
        <p:nvSpPr>
          <p:cNvPr id="5" name="texto-3">
            <a:extLst xmlns:a="http://schemas.openxmlformats.org/drawingml/2006/main">
              <a:ext uri="{FF2B5EF4-FFF2-40B4-BE49-F238E27FC236}">
                <a16:creationId xmlns:a16="http://schemas.microsoft.com/office/drawing/2014/main" id="{DEAFFA6A-0B51-4BD2-A9BF-C0576442BF33}"/>
              </a:ext>
            </a:extLst>
          </p:cNvPr>
          <p:cNvSpPr>
            <a:spLocks xmlns:a="http://schemas.openxmlformats.org/drawingml/2006/main" noGrp="1"/>
          </p:cNvSpPr>
          <p:nvPr/>
        </p:nvSpPr>
        <p:spPr>
          <a:xfrm xmlns:a="http://schemas.openxmlformats.org/drawingml/2006/main">
            <a:off x="609600" y="55721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36D"/>
                </a:solidFill>
                <a:latin typeface="DejaVu Sans"/>
                <a:ea typeface="DejaVu Sans"/>
                <a:cs typeface="DejaVu Sans"/>
              </a:defRPr>
            </a:defPPr>
            <a:lvl1pPr>
              <a:buNone/>
              <a:defRPr sz="1950" b="0">
                <a:solidFill>
                  <a:srgbClr val="52636D"/>
                </a:solidFill>
                <a:latin typeface="DejaVu Sans"/>
                <a:ea typeface="DejaVu Sans"/>
                <a:cs typeface="DejaVu Sans"/>
              </a:defRPr>
            </a:lvl1pPr>
            <a:lvl2pPr>
              <a:buNone/>
              <a:defRPr sz="1950" b="0">
                <a:solidFill>
                  <a:srgbClr val="52636D"/>
                </a:solidFill>
                <a:latin typeface="DejaVu Sans"/>
                <a:ea typeface="DejaVu Sans"/>
                <a:cs typeface="DejaVu Sans"/>
              </a:defRPr>
            </a:lvl2pPr>
            <a:lvl3pPr>
              <a:buNone/>
              <a:defRPr sz="1950" b="0">
                <a:solidFill>
                  <a:srgbClr val="52636D"/>
                </a:solidFill>
                <a:latin typeface="DejaVu Sans"/>
                <a:ea typeface="DejaVu Sans"/>
                <a:cs typeface="DejaVu Sans"/>
              </a:defRPr>
            </a:lvl3pPr>
            <a:lvl4pPr>
              <a:buNone/>
              <a:defRPr sz="1950" b="0">
                <a:solidFill>
                  <a:srgbClr val="52636D"/>
                </a:solidFill>
                <a:latin typeface="DejaVu Sans"/>
                <a:ea typeface="DejaVu Sans"/>
                <a:cs typeface="DejaVu Sans"/>
              </a:defRPr>
            </a:lvl4pPr>
            <a:lvl5pPr>
              <a:buNone/>
              <a:defRPr sz="1950" b="0">
                <a:solidFill>
                  <a:srgbClr val="52636D"/>
                </a:solidFill>
                <a:latin typeface="DejaVu Sans"/>
                <a:ea typeface="DejaVu Sans"/>
                <a:cs typeface="DejaVu Sans"/>
              </a:defRPr>
            </a:lvl5pPr>
            <a:lvl6pPr>
              <a:buNone/>
              <a:defRPr sz="1950" b="0">
                <a:solidFill>
                  <a:srgbClr val="52636D"/>
                </a:solidFill>
                <a:latin typeface="DejaVu Sans"/>
                <a:ea typeface="DejaVu Sans"/>
                <a:cs typeface="DejaVu Sans"/>
              </a:defRPr>
            </a:lvl6pPr>
            <a:lvl7pPr>
              <a:buNone/>
              <a:defRPr sz="1950" b="0">
                <a:solidFill>
                  <a:srgbClr val="52636D"/>
                </a:solidFill>
                <a:latin typeface="DejaVu Sans"/>
                <a:ea typeface="DejaVu Sans"/>
                <a:cs typeface="DejaVu Sans"/>
              </a:defRPr>
            </a:lvl7pPr>
            <a:lvl8pPr>
              <a:buNone/>
              <a:defRPr sz="1950" b="0">
                <a:solidFill>
                  <a:srgbClr val="52636D"/>
                </a:solidFill>
                <a:latin typeface="DejaVu Sans"/>
                <a:ea typeface="DejaVu Sans"/>
                <a:cs typeface="DejaVu Sans"/>
              </a:defRPr>
            </a:lvl8pPr>
            <a:lvl9pPr>
              <a:buNone/>
              <a:defRPr sz="1950" b="0">
                <a:solidFill>
                  <a:srgbClr val="52636D"/>
                </a:solidFill>
                <a:latin typeface="DejaVu Sans"/>
                <a:ea typeface="DejaVu Sans"/>
                <a:cs typeface="DejaVu Sans"/>
              </a:defRPr>
            </a:lvl9pPr>
          </a:lstStyle>
          <a:p xmlns:a="http://schemas.openxmlformats.org/drawingml/2006/main">
            <a:pPr>
              <a:buNone/>
              <a:defRPr sz="1950" b="0">
                <a:solidFill>
                  <a:srgbClr val="52636D"/>
                </a:solidFill>
                <a:latin typeface="DejaVu Sans"/>
                <a:ea typeface="DejaVu Sans"/>
                <a:cs typeface="DejaVu Sans"/>
              </a:defRPr>
            </a:pPr>
            <a:r>
              <a:rPr sz="1950" b="0">
                <a:solidFill>
                  <a:srgbClr val="52636D"/>
                </a:solidFill>
                <a:latin typeface="DejaVu Sans"/>
                <a:ea typeface="DejaVu Sans"/>
                <a:cs typeface="DejaVu Sans"/>
              </a:rPr>
              <a:t>Ambas alternativas respetan las mismas reglas de negocio. La comparación se concentra en las operaciones en memoria.</a:t>
            </a:r>
          </a:p>
        </p:txBody>
      </p:sp>
    </p:spTree>
    <p:extLst>
      <p:ext uri="{BB962C8B-B14F-4D97-AF65-F5344CB8AC3E}">
        <p14:creationId xmlns:p14="http://schemas.microsoft.com/office/powerpoint/2010/main" val="171135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o-0">
            <a:extLst xmlns:a="http://schemas.openxmlformats.org/drawingml/2006/main">
              <a:ext uri="{FF2B5EF4-FFF2-40B4-BE49-F238E27FC236}">
                <a16:creationId xmlns:a16="http://schemas.microsoft.com/office/drawing/2014/main" id="{A25A9200-5B35-4BD6-A683-3C9B5300E4D3}"/>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Comparación de complejidad</a:t>
            </a:r>
          </a:p>
        </p:txBody>
      </p:sp>
      <p:sp>
        <p:nvSpPr>
          <p:cNvPr id="2" name="texto-1">
            <a:extLst xmlns:a="http://schemas.openxmlformats.org/drawingml/2006/main">
              <a:ext uri="{FF2B5EF4-FFF2-40B4-BE49-F238E27FC236}">
                <a16:creationId xmlns:a16="http://schemas.microsoft.com/office/drawing/2014/main" id="{EF318D2D-02F8-4110-8B54-1C3991408958}"/>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272DF786-811E-4972-8A2F-E96063B1B92D}"/>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7</a:t>
            </a:r>
          </a:p>
        </p:txBody>
      </p:sp>
      <p:graphicFrame>
        <p:nvGraphicFramePr>
          <p:cNvPr id="4" name="">
            <a:extLst xmlns:a="http://schemas.openxmlformats.org/drawingml/2006/main">
              <a:ext uri="{FF2B5EF4-FFF2-40B4-BE49-F238E27FC236}">
                <a16:creationId xmlns:a16="http://schemas.microsoft.com/office/drawing/2014/main" id="{89355E4E-D7F2-41E7-B880-1AA0C1CD7D00}"/>
              </a:ext>
            </a:extLst>
          </p:cNvPr>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5619750"/>
                <a:gridCol w="2676525"/>
                <a:gridCol w="2676525"/>
              </a:tblGrid>
              <a:tr h="742950">
                <a:tc>
                  <a:txBody>
                    <a:bodyPr wrap="square" lIns="123825" tIns="85725" rIns="123825" bIns="85725">
                      <a:noAutofit/>
                    </a:bodyPr>
                    <a:lstStyle/>
                    <a:p>
                      <a:r>
                        <a:rPr sz="1950" b="1">
                          <a:solidFill>
                            <a:srgbClr val="FFFFFF"/>
                          </a:solidFill>
                          <a:latin typeface="DejaVu Sans"/>
                          <a:ea typeface="DejaVu Sans"/>
                          <a:cs typeface="DejaVu Sans"/>
                        </a:rPr>
                        <a:t>Operación</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950" b="1">
                          <a:solidFill>
                            <a:srgbClr val="FFFFFF"/>
                          </a:solidFill>
                          <a:latin typeface="DejaVu Sans"/>
                          <a:ea typeface="DejaVu Sans"/>
                          <a:cs typeface="DejaVu Sans"/>
                        </a:rPr>
                        <a:t>Alternativa A</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950" b="1">
                          <a:solidFill>
                            <a:srgbClr val="FFFFFF"/>
                          </a:solidFill>
                          <a:latin typeface="DejaVu Sans"/>
                          <a:ea typeface="DejaVu Sans"/>
                          <a:cs typeface="DejaVu Sans"/>
                        </a:rPr>
                        <a:t>Alternativa B</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742950">
                <a:tc>
                  <a:txBody>
                    <a:bodyPr wrap="square" lIns="123825" tIns="85725" rIns="123825" bIns="85725">
                      <a:noAutofit/>
                    </a:bodyPr>
                    <a:lstStyle/>
                    <a:p>
                      <a:r>
                        <a:rPr sz="1950" b="0">
                          <a:solidFill>
                            <a:srgbClr val="163447"/>
                          </a:solidFill>
                          <a:latin typeface="DejaVu Sans"/>
                          <a:ea typeface="DejaVu Sans"/>
                          <a:cs typeface="DejaVu Sans"/>
                        </a:rPr>
                        <a:t>Comprobar cruce en una agenda</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950" b="0">
                          <a:solidFill>
                            <a:srgbClr val="163447"/>
                          </a:solidFill>
                          <a:latin typeface="DejaVu Sans"/>
                          <a:ea typeface="DejaVu Sans"/>
                          <a:cs typeface="DejaVu Sans"/>
                        </a:rPr>
                        <a:t>O(k)</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950" b="0">
                          <a:solidFill>
                            <a:srgbClr val="163447"/>
                          </a:solidFill>
                          <a:latin typeface="DejaVu Sans"/>
                          <a:ea typeface="DejaVu Sans"/>
                          <a:cs typeface="DejaVu Sans"/>
                        </a:rPr>
                        <a:t>O(log k)</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742950">
                <a:tc>
                  <a:txBody>
                    <a:bodyPr wrap="square" lIns="123825" tIns="85725" rIns="123825" bIns="85725">
                      <a:noAutofit/>
                    </a:bodyPr>
                    <a:lstStyle/>
                    <a:p>
                      <a:r>
                        <a:rPr sz="1950" b="0">
                          <a:solidFill>
                            <a:srgbClr val="163447"/>
                          </a:solidFill>
                          <a:latin typeface="DejaVu Sans"/>
                          <a:ea typeface="DejaVu Sans"/>
                          <a:cs typeface="DejaVu Sans"/>
                        </a:rPr>
                        <a:t>Detectar ciclos</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950" b="0">
                          <a:solidFill>
                            <a:srgbClr val="163447"/>
                          </a:solidFill>
                          <a:latin typeface="DejaVu Sans"/>
                          <a:ea typeface="DejaVu Sans"/>
                          <a:cs typeface="DejaVu Sans"/>
                        </a:rPr>
                        <a:t>O(V²)</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950" b="0">
                          <a:solidFill>
                            <a:srgbClr val="163447"/>
                          </a:solidFill>
                          <a:latin typeface="DejaVu Sans"/>
                          <a:ea typeface="DejaVu Sans"/>
                          <a:cs typeface="DejaVu Sans"/>
                        </a:rPr>
                        <a:t>O(V + E)</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742950">
                <a:tc>
                  <a:txBody>
                    <a:bodyPr wrap="square" lIns="123825" tIns="85725" rIns="123825" bIns="85725">
                      <a:noAutofit/>
                    </a:bodyPr>
                    <a:lstStyle/>
                    <a:p>
                      <a:r>
                        <a:rPr sz="1950" b="0">
                          <a:solidFill>
                            <a:srgbClr val="163447"/>
                          </a:solidFill>
                          <a:latin typeface="DejaVu Sans"/>
                          <a:ea typeface="DejaVu Sans"/>
                          <a:cs typeface="DejaVu Sans"/>
                        </a:rPr>
                        <a:t>Elegir y retirar la próxima elegible</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950" b="0">
                          <a:solidFill>
                            <a:srgbClr val="163447"/>
                          </a:solidFill>
                          <a:latin typeface="DejaVu Sans"/>
                          <a:ea typeface="DejaVu Sans"/>
                          <a:cs typeface="DejaVu Sans"/>
                        </a:rPr>
                        <a:t>O(q)</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950" b="0">
                          <a:solidFill>
                            <a:srgbClr val="163447"/>
                          </a:solidFill>
                          <a:latin typeface="DejaVu Sans"/>
                          <a:ea typeface="DejaVu Sans"/>
                          <a:cs typeface="DejaVu Sans"/>
                        </a:rPr>
                        <a:t>O(log q)</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742950">
                <a:tc>
                  <a:txBody>
                    <a:bodyPr wrap="square" lIns="123825" tIns="85725" rIns="123825" bIns="85725">
                      <a:noAutofit/>
                    </a:bodyPr>
                    <a:lstStyle/>
                    <a:p>
                      <a:r>
                        <a:rPr sz="1950" b="0">
                          <a:solidFill>
                            <a:srgbClr val="163447"/>
                          </a:solidFill>
                          <a:latin typeface="DejaVu Sans"/>
                          <a:ea typeface="DejaVu Sans"/>
                          <a:cs typeface="DejaVu Sans"/>
                        </a:rPr>
                        <a:t>Mostrar todo el orden de prioridad</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950" b="0">
                          <a:solidFill>
                            <a:srgbClr val="163447"/>
                          </a:solidFill>
                          <a:latin typeface="DejaVu Sans"/>
                          <a:ea typeface="DejaVu Sans"/>
                          <a:cs typeface="DejaVu Sans"/>
                        </a:rPr>
                        <a:t>O(q log q)</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950" b="0">
                          <a:solidFill>
                            <a:srgbClr val="163447"/>
                          </a:solidFill>
                          <a:latin typeface="DejaVu Sans"/>
                          <a:ea typeface="DejaVu Sans"/>
                          <a:cs typeface="DejaVu Sans"/>
                        </a:rPr>
                        <a:t>O(q log q)</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bl>
          </a:graphicData>
        </a:graphic>
      </p:graphicFrame>
      <p:sp>
        <p:nvSpPr>
          <p:cNvPr id="5" name="texto-3">
            <a:extLst xmlns:a="http://schemas.openxmlformats.org/drawingml/2006/main">
              <a:ext uri="{FF2B5EF4-FFF2-40B4-BE49-F238E27FC236}">
                <a16:creationId xmlns:a16="http://schemas.microsoft.com/office/drawing/2014/main" id="{769F4B15-3957-4A5F-97EB-A5903D2C61A0}"/>
              </a:ext>
            </a:extLst>
          </p:cNvPr>
          <p:cNvSpPr>
            <a:spLocks xmlns:a="http://schemas.openxmlformats.org/drawingml/2006/main" noGrp="1"/>
          </p:cNvSpPr>
          <p:nvPr/>
        </p:nvSpPr>
        <p:spPr>
          <a:xfrm xmlns:a="http://schemas.openxmlformats.org/drawingml/2006/main">
            <a:off x="609600" y="542925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36D"/>
                </a:solidFill>
                <a:latin typeface="DejaVu Sans"/>
                <a:ea typeface="DejaVu Sans"/>
                <a:cs typeface="DejaVu Sans"/>
              </a:defRPr>
            </a:defPPr>
            <a:lvl1pPr>
              <a:buNone/>
              <a:defRPr sz="1650" b="0">
                <a:solidFill>
                  <a:srgbClr val="52636D"/>
                </a:solidFill>
                <a:latin typeface="DejaVu Sans"/>
                <a:ea typeface="DejaVu Sans"/>
                <a:cs typeface="DejaVu Sans"/>
              </a:defRPr>
            </a:lvl1pPr>
            <a:lvl2pPr>
              <a:buNone/>
              <a:defRPr sz="1650" b="0">
                <a:solidFill>
                  <a:srgbClr val="52636D"/>
                </a:solidFill>
                <a:latin typeface="DejaVu Sans"/>
                <a:ea typeface="DejaVu Sans"/>
                <a:cs typeface="DejaVu Sans"/>
              </a:defRPr>
            </a:lvl2pPr>
            <a:lvl3pPr>
              <a:buNone/>
              <a:defRPr sz="1650" b="0">
                <a:solidFill>
                  <a:srgbClr val="52636D"/>
                </a:solidFill>
                <a:latin typeface="DejaVu Sans"/>
                <a:ea typeface="DejaVu Sans"/>
                <a:cs typeface="DejaVu Sans"/>
              </a:defRPr>
            </a:lvl3pPr>
            <a:lvl4pPr>
              <a:buNone/>
              <a:defRPr sz="1650" b="0">
                <a:solidFill>
                  <a:srgbClr val="52636D"/>
                </a:solidFill>
                <a:latin typeface="DejaVu Sans"/>
                <a:ea typeface="DejaVu Sans"/>
                <a:cs typeface="DejaVu Sans"/>
              </a:defRPr>
            </a:lvl4pPr>
            <a:lvl5pPr>
              <a:buNone/>
              <a:defRPr sz="1650" b="0">
                <a:solidFill>
                  <a:srgbClr val="52636D"/>
                </a:solidFill>
                <a:latin typeface="DejaVu Sans"/>
                <a:ea typeface="DejaVu Sans"/>
                <a:cs typeface="DejaVu Sans"/>
              </a:defRPr>
            </a:lvl5pPr>
            <a:lvl6pPr>
              <a:buNone/>
              <a:defRPr sz="1650" b="0">
                <a:solidFill>
                  <a:srgbClr val="52636D"/>
                </a:solidFill>
                <a:latin typeface="DejaVu Sans"/>
                <a:ea typeface="DejaVu Sans"/>
                <a:cs typeface="DejaVu Sans"/>
              </a:defRPr>
            </a:lvl6pPr>
            <a:lvl7pPr>
              <a:buNone/>
              <a:defRPr sz="1650" b="0">
                <a:solidFill>
                  <a:srgbClr val="52636D"/>
                </a:solidFill>
                <a:latin typeface="DejaVu Sans"/>
                <a:ea typeface="DejaVu Sans"/>
                <a:cs typeface="DejaVu Sans"/>
              </a:defRPr>
            </a:lvl7pPr>
            <a:lvl8pPr>
              <a:buNone/>
              <a:defRPr sz="1650" b="0">
                <a:solidFill>
                  <a:srgbClr val="52636D"/>
                </a:solidFill>
                <a:latin typeface="DejaVu Sans"/>
                <a:ea typeface="DejaVu Sans"/>
                <a:cs typeface="DejaVu Sans"/>
              </a:defRPr>
            </a:lvl8pPr>
            <a:lvl9pPr>
              <a:buNone/>
              <a:defRPr sz="1650" b="0">
                <a:solidFill>
                  <a:srgbClr val="52636D"/>
                </a:solidFill>
                <a:latin typeface="DejaVu Sans"/>
                <a:ea typeface="DejaVu Sans"/>
                <a:cs typeface="DejaVu Sans"/>
              </a:defRPr>
            </a:lvl9pPr>
          </a:lstStyle>
          <a:p xmlns:a="http://schemas.openxmlformats.org/drawingml/2006/main">
            <a:pPr>
              <a:buNone/>
              <a:defRPr sz="1650" b="0">
                <a:solidFill>
                  <a:srgbClr val="52636D"/>
                </a:solidFill>
                <a:latin typeface="DejaVu Sans"/>
                <a:ea typeface="DejaVu Sans"/>
                <a:cs typeface="DejaVu Sans"/>
              </a:defRPr>
            </a:pPr>
            <a:r>
              <a:rPr sz="1650" b="0">
                <a:solidFill>
                  <a:srgbClr val="52636D"/>
                </a:solidFill>
                <a:latin typeface="DejaVu Sans"/>
                <a:ea typeface="DejaVu Sans"/>
                <a:cs typeface="DejaVu Sans"/>
              </a:rPr>
              <a:t>k: intervalos por trabajador. V: actividades. E: dependencias. q: tareas elegibles.</a:t>
            </a:r>
          </a:p>
        </p:txBody>
      </p:sp>
      <p:sp>
        <p:nvSpPr>
          <p:cNvPr id="6" name="texto-4">
            <a:extLst xmlns:a="http://schemas.openxmlformats.org/drawingml/2006/main">
              <a:ext uri="{FF2B5EF4-FFF2-40B4-BE49-F238E27FC236}">
                <a16:creationId xmlns:a16="http://schemas.microsoft.com/office/drawing/2014/main" id="{3AF7FEFC-AF66-4D53-97B1-43E75C082C17}"/>
              </a:ext>
            </a:extLst>
          </p:cNvPr>
          <p:cNvSpPr>
            <a:spLocks xmlns:a="http://schemas.openxmlformats.org/drawingml/2006/main" noGrp="1"/>
          </p:cNvSpPr>
          <p:nvPr/>
        </p:nvSpPr>
        <p:spPr>
          <a:xfrm xmlns:a="http://schemas.openxmlformats.org/drawingml/2006/main">
            <a:off x="609600" y="59055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36D"/>
                </a:solidFill>
                <a:latin typeface="DejaVu Sans"/>
                <a:ea typeface="DejaVu Sans"/>
                <a:cs typeface="DejaVu Sans"/>
              </a:defRPr>
            </a:defPPr>
            <a:lvl1pPr>
              <a:buNone/>
              <a:defRPr sz="1650" b="0">
                <a:solidFill>
                  <a:srgbClr val="52636D"/>
                </a:solidFill>
                <a:latin typeface="DejaVu Sans"/>
                <a:ea typeface="DejaVu Sans"/>
                <a:cs typeface="DejaVu Sans"/>
              </a:defRPr>
            </a:lvl1pPr>
            <a:lvl2pPr>
              <a:buNone/>
              <a:defRPr sz="1650" b="0">
                <a:solidFill>
                  <a:srgbClr val="52636D"/>
                </a:solidFill>
                <a:latin typeface="DejaVu Sans"/>
                <a:ea typeface="DejaVu Sans"/>
                <a:cs typeface="DejaVu Sans"/>
              </a:defRPr>
            </a:lvl2pPr>
            <a:lvl3pPr>
              <a:buNone/>
              <a:defRPr sz="1650" b="0">
                <a:solidFill>
                  <a:srgbClr val="52636D"/>
                </a:solidFill>
                <a:latin typeface="DejaVu Sans"/>
                <a:ea typeface="DejaVu Sans"/>
                <a:cs typeface="DejaVu Sans"/>
              </a:defRPr>
            </a:lvl3pPr>
            <a:lvl4pPr>
              <a:buNone/>
              <a:defRPr sz="1650" b="0">
                <a:solidFill>
                  <a:srgbClr val="52636D"/>
                </a:solidFill>
                <a:latin typeface="DejaVu Sans"/>
                <a:ea typeface="DejaVu Sans"/>
                <a:cs typeface="DejaVu Sans"/>
              </a:defRPr>
            </a:lvl4pPr>
            <a:lvl5pPr>
              <a:buNone/>
              <a:defRPr sz="1650" b="0">
                <a:solidFill>
                  <a:srgbClr val="52636D"/>
                </a:solidFill>
                <a:latin typeface="DejaVu Sans"/>
                <a:ea typeface="DejaVu Sans"/>
                <a:cs typeface="DejaVu Sans"/>
              </a:defRPr>
            </a:lvl5pPr>
            <a:lvl6pPr>
              <a:buNone/>
              <a:defRPr sz="1650" b="0">
                <a:solidFill>
                  <a:srgbClr val="52636D"/>
                </a:solidFill>
                <a:latin typeface="DejaVu Sans"/>
                <a:ea typeface="DejaVu Sans"/>
                <a:cs typeface="DejaVu Sans"/>
              </a:defRPr>
            </a:lvl6pPr>
            <a:lvl7pPr>
              <a:buNone/>
              <a:defRPr sz="1650" b="0">
                <a:solidFill>
                  <a:srgbClr val="52636D"/>
                </a:solidFill>
                <a:latin typeface="DejaVu Sans"/>
                <a:ea typeface="DejaVu Sans"/>
                <a:cs typeface="DejaVu Sans"/>
              </a:defRPr>
            </a:lvl7pPr>
            <a:lvl8pPr>
              <a:buNone/>
              <a:defRPr sz="1650" b="0">
                <a:solidFill>
                  <a:srgbClr val="52636D"/>
                </a:solidFill>
                <a:latin typeface="DejaVu Sans"/>
                <a:ea typeface="DejaVu Sans"/>
                <a:cs typeface="DejaVu Sans"/>
              </a:defRPr>
            </a:lvl8pPr>
            <a:lvl9pPr>
              <a:buNone/>
              <a:defRPr sz="1650" b="0">
                <a:solidFill>
                  <a:srgbClr val="52636D"/>
                </a:solidFill>
                <a:latin typeface="DejaVu Sans"/>
                <a:ea typeface="DejaVu Sans"/>
                <a:cs typeface="DejaVu Sans"/>
              </a:defRPr>
            </a:lvl9pPr>
          </a:lstStyle>
          <a:p xmlns:a="http://schemas.openxmlformats.org/drawingml/2006/main">
            <a:pPr>
              <a:buNone/>
              <a:defRPr sz="1650" b="0">
                <a:solidFill>
                  <a:srgbClr val="52636D"/>
                </a:solidFill>
                <a:latin typeface="DejaVu Sans"/>
                <a:ea typeface="DejaVu Sans"/>
                <a:cs typeface="DejaVu Sans"/>
              </a:defRPr>
            </a:pPr>
            <a:r>
              <a:rPr sz="1650" b="0">
                <a:solidFill>
                  <a:srgbClr val="52636D"/>
                </a:solidFill>
                <a:latin typeface="DejaVu Sans"/>
                <a:ea typeface="DejaVu Sans"/>
                <a:cs typeface="DejaVu Sans"/>
              </a:rPr>
              <a:t>La consulta de vecinos exige una agenda sin solapamientos. Las cotas no incluyen red, base de datos ni bloqueos.</a:t>
            </a:r>
          </a:p>
        </p:txBody>
      </p:sp>
    </p:spTree>
    <p:extLst>
      <p:ext uri="{BB962C8B-B14F-4D97-AF65-F5344CB8AC3E}">
        <p14:creationId xmlns:p14="http://schemas.microsoft.com/office/powerpoint/2010/main" val="20988644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o-0">
            <a:extLst xmlns:a="http://schemas.openxmlformats.org/drawingml/2006/main">
              <a:ext uri="{FF2B5EF4-FFF2-40B4-BE49-F238E27FC236}">
                <a16:creationId xmlns:a16="http://schemas.microsoft.com/office/drawing/2014/main" id="{EA3DEC7E-64B5-405F-81AF-BB8EA60E28F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Selección de la alternativa B</a:t>
            </a:r>
          </a:p>
        </p:txBody>
      </p:sp>
      <p:sp>
        <p:nvSpPr>
          <p:cNvPr id="2" name="texto-1">
            <a:extLst xmlns:a="http://schemas.openxmlformats.org/drawingml/2006/main">
              <a:ext uri="{FF2B5EF4-FFF2-40B4-BE49-F238E27FC236}">
                <a16:creationId xmlns:a16="http://schemas.microsoft.com/office/drawing/2014/main" id="{316BE95F-16F8-4AA9-9360-1BAAA02CD863}"/>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4C0FA560-0FFF-4A6A-939F-2886E568212C}"/>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8</a:t>
            </a:r>
          </a:p>
        </p:txBody>
      </p:sp>
      <p:graphicFrame>
        <p:nvGraphicFramePr>
          <p:cNvPr id="4" name="">
            <a:extLst xmlns:a="http://schemas.openxmlformats.org/drawingml/2006/main">
              <a:ext uri="{FF2B5EF4-FFF2-40B4-BE49-F238E27FC236}">
                <a16:creationId xmlns:a16="http://schemas.microsoft.com/office/drawing/2014/main" id="{8C08446A-F2F1-445E-9AFE-30ABAC24B216}"/>
              </a:ext>
            </a:extLst>
          </p:cNvPr>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3048000"/>
                <a:gridCol w="7924800"/>
              </a:tblGrid>
              <a:tr h="742950">
                <a:tc>
                  <a:txBody>
                    <a:bodyPr wrap="square" lIns="123825" tIns="85725" rIns="123825" bIns="85725">
                      <a:noAutofit/>
                    </a:bodyPr>
                    <a:lstStyle/>
                    <a:p>
                      <a:r>
                        <a:rPr sz="1875" b="1">
                          <a:solidFill>
                            <a:srgbClr val="FFFFFF"/>
                          </a:solidFill>
                          <a:latin typeface="DejaVu Sans"/>
                          <a:ea typeface="DejaVu Sans"/>
                          <a:cs typeface="DejaVu Sans"/>
                        </a:rPr>
                        <a:t>Criterio</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875" b="1">
                          <a:solidFill>
                            <a:srgbClr val="FFFFFF"/>
                          </a:solidFill>
                          <a:latin typeface="DejaVu Sans"/>
                          <a:ea typeface="DejaVu Sans"/>
                          <a:cs typeface="DejaVu Sans"/>
                        </a:rPr>
                        <a:t>Fundamento de la decisión</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742950">
                <a:tc>
                  <a:txBody>
                    <a:bodyPr wrap="square" lIns="123825" tIns="85725" rIns="123825" bIns="85725">
                      <a:noAutofit/>
                    </a:bodyPr>
                    <a:lstStyle/>
                    <a:p>
                      <a:r>
                        <a:rPr sz="1875" b="0">
                          <a:solidFill>
                            <a:srgbClr val="163447"/>
                          </a:solidFill>
                          <a:latin typeface="DejaVu Sans"/>
                          <a:ea typeface="DejaVu Sans"/>
                          <a:cs typeface="DejaVu Sans"/>
                        </a:rPr>
                        <a:t>Adecuación</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75" b="0">
                          <a:solidFill>
                            <a:srgbClr val="163447"/>
                          </a:solidFill>
                          <a:latin typeface="DejaVu Sans"/>
                          <a:ea typeface="DejaVu Sans"/>
                          <a:cs typeface="DejaVu Sans"/>
                        </a:rPr>
                        <a:t>Separa identidad, disponibilidad, prioridad y precedencia.</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742950">
                <a:tc>
                  <a:txBody>
                    <a:bodyPr wrap="square" lIns="123825" tIns="85725" rIns="123825" bIns="85725">
                      <a:noAutofit/>
                    </a:bodyPr>
                    <a:lstStyle/>
                    <a:p>
                      <a:r>
                        <a:rPr sz="1875" b="0">
                          <a:solidFill>
                            <a:srgbClr val="163447"/>
                          </a:solidFill>
                          <a:latin typeface="DejaVu Sans"/>
                          <a:ea typeface="DejaVu Sans"/>
                          <a:cs typeface="DejaVu Sans"/>
                        </a:rPr>
                        <a:t>Memoria y escala</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875" b="0">
                          <a:solidFill>
                            <a:srgbClr val="163447"/>
                          </a:solidFill>
                          <a:latin typeface="DejaVu Sans"/>
                          <a:ea typeface="DejaVu Sans"/>
                          <a:cs typeface="DejaVu Sans"/>
                        </a:rPr>
                        <a:t>El grafo ocupa O(V + E), frente a O(V²) de la matriz.</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742950">
                <a:tc>
                  <a:txBody>
                    <a:bodyPr wrap="square" lIns="123825" tIns="85725" rIns="123825" bIns="85725">
                      <a:noAutofit/>
                    </a:bodyPr>
                    <a:lstStyle/>
                    <a:p>
                      <a:r>
                        <a:rPr sz="1875" b="0">
                          <a:solidFill>
                            <a:srgbClr val="163447"/>
                          </a:solidFill>
                          <a:latin typeface="DejaVu Sans"/>
                          <a:ea typeface="DejaVu Sans"/>
                          <a:cs typeface="DejaVu Sans"/>
                        </a:rPr>
                        <a:t>Mantenibilidad</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75" b="0">
                          <a:solidFill>
                            <a:srgbClr val="163447"/>
                          </a:solidFill>
                          <a:latin typeface="DejaVu Sans"/>
                          <a:ea typeface="DejaVu Sans"/>
                          <a:cs typeface="DejaVu Sans"/>
                        </a:rPr>
                        <a:t>Encapsular índices y mantener PostgreSQL como fuente persistente.</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742950">
                <a:tc>
                  <a:txBody>
                    <a:bodyPr wrap="square" lIns="123825" tIns="85725" rIns="123825" bIns="85725">
                      <a:noAutofit/>
                    </a:bodyPr>
                    <a:lstStyle/>
                    <a:p>
                      <a:r>
                        <a:rPr sz="1875" b="0">
                          <a:solidFill>
                            <a:srgbClr val="163447"/>
                          </a:solidFill>
                          <a:latin typeface="DejaVu Sans"/>
                          <a:ea typeface="DejaVu Sans"/>
                          <a:cs typeface="DejaVu Sans"/>
                        </a:rPr>
                        <a:t>Implementación</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875" b="0">
                          <a:solidFill>
                            <a:srgbClr val="163447"/>
                          </a:solidFill>
                          <a:latin typeface="DejaVu Sans"/>
                          <a:ea typeface="DejaVu Sans"/>
                          <a:cs typeface="DejaVu Sans"/>
                        </a:rPr>
                        <a:t>Colecciones estándar y algoritmos comprensibles para el equipo.</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bl>
          </a:graphicData>
        </a:graphic>
      </p:graphicFrame>
      <p:sp>
        <p:nvSpPr>
          <p:cNvPr id="5" name="texto-3">
            <a:extLst xmlns:a="http://schemas.openxmlformats.org/drawingml/2006/main">
              <a:ext uri="{FF2B5EF4-FFF2-40B4-BE49-F238E27FC236}">
                <a16:creationId xmlns:a16="http://schemas.microsoft.com/office/drawing/2014/main" id="{1099F4D9-C496-49E0-8117-DBBA5041DD0F}"/>
              </a:ext>
            </a:extLst>
          </p:cNvPr>
          <p:cNvSpPr>
            <a:spLocks xmlns:a="http://schemas.openxmlformats.org/drawingml/2006/main" noGrp="1"/>
          </p:cNvSpPr>
          <p:nvPr/>
        </p:nvSpPr>
        <p:spPr>
          <a:xfrm xmlns:a="http://schemas.openxmlformats.org/drawingml/2006/main">
            <a:off x="609600" y="55245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007D87"/>
                </a:solidFill>
                <a:latin typeface="DejaVu Sans"/>
                <a:ea typeface="DejaVu Sans"/>
                <a:cs typeface="DejaVu Sans"/>
              </a:defRPr>
            </a:defPPr>
            <a:lvl1pPr>
              <a:buNone/>
              <a:defRPr sz="2025" b="0">
                <a:solidFill>
                  <a:srgbClr val="007D87"/>
                </a:solidFill>
                <a:latin typeface="DejaVu Sans"/>
                <a:ea typeface="DejaVu Sans"/>
                <a:cs typeface="DejaVu Sans"/>
              </a:defRPr>
            </a:lvl1pPr>
            <a:lvl2pPr>
              <a:buNone/>
              <a:defRPr sz="2025" b="0">
                <a:solidFill>
                  <a:srgbClr val="007D87"/>
                </a:solidFill>
                <a:latin typeface="DejaVu Sans"/>
                <a:ea typeface="DejaVu Sans"/>
                <a:cs typeface="DejaVu Sans"/>
              </a:defRPr>
            </a:lvl2pPr>
            <a:lvl3pPr>
              <a:buNone/>
              <a:defRPr sz="2025" b="0">
                <a:solidFill>
                  <a:srgbClr val="007D87"/>
                </a:solidFill>
                <a:latin typeface="DejaVu Sans"/>
                <a:ea typeface="DejaVu Sans"/>
                <a:cs typeface="DejaVu Sans"/>
              </a:defRPr>
            </a:lvl3pPr>
            <a:lvl4pPr>
              <a:buNone/>
              <a:defRPr sz="2025" b="0">
                <a:solidFill>
                  <a:srgbClr val="007D87"/>
                </a:solidFill>
                <a:latin typeface="DejaVu Sans"/>
                <a:ea typeface="DejaVu Sans"/>
                <a:cs typeface="DejaVu Sans"/>
              </a:defRPr>
            </a:lvl4pPr>
            <a:lvl5pPr>
              <a:buNone/>
              <a:defRPr sz="2025" b="0">
                <a:solidFill>
                  <a:srgbClr val="007D87"/>
                </a:solidFill>
                <a:latin typeface="DejaVu Sans"/>
                <a:ea typeface="DejaVu Sans"/>
                <a:cs typeface="DejaVu Sans"/>
              </a:defRPr>
            </a:lvl5pPr>
            <a:lvl6pPr>
              <a:buNone/>
              <a:defRPr sz="2025" b="0">
                <a:solidFill>
                  <a:srgbClr val="007D87"/>
                </a:solidFill>
                <a:latin typeface="DejaVu Sans"/>
                <a:ea typeface="DejaVu Sans"/>
                <a:cs typeface="DejaVu Sans"/>
              </a:defRPr>
            </a:lvl6pPr>
            <a:lvl7pPr>
              <a:buNone/>
              <a:defRPr sz="2025" b="0">
                <a:solidFill>
                  <a:srgbClr val="007D87"/>
                </a:solidFill>
                <a:latin typeface="DejaVu Sans"/>
                <a:ea typeface="DejaVu Sans"/>
                <a:cs typeface="DejaVu Sans"/>
              </a:defRPr>
            </a:lvl7pPr>
            <a:lvl8pPr>
              <a:buNone/>
              <a:defRPr sz="2025" b="0">
                <a:solidFill>
                  <a:srgbClr val="007D87"/>
                </a:solidFill>
                <a:latin typeface="DejaVu Sans"/>
                <a:ea typeface="DejaVu Sans"/>
                <a:cs typeface="DejaVu Sans"/>
              </a:defRPr>
            </a:lvl8pPr>
            <a:lvl9pPr>
              <a:buNone/>
              <a:defRPr sz="2025" b="0">
                <a:solidFill>
                  <a:srgbClr val="007D87"/>
                </a:solidFill>
                <a:latin typeface="DejaVu Sans"/>
                <a:ea typeface="DejaVu Sans"/>
                <a:cs typeface="DejaVu Sans"/>
              </a:defRPr>
            </a:lvl9pPr>
          </a:lstStyle>
          <a:p xmlns:a="http://schemas.openxmlformats.org/drawingml/2006/main">
            <a:pPr>
              <a:buNone/>
              <a:defRPr sz="2025" b="0">
                <a:solidFill>
                  <a:srgbClr val="007D87"/>
                </a:solidFill>
                <a:latin typeface="DejaVu Sans"/>
                <a:ea typeface="DejaVu Sans"/>
                <a:cs typeface="DejaVu Sans"/>
              </a:defRPr>
            </a:pPr>
            <a:r>
              <a:rPr sz="2025" b="0">
                <a:solidFill>
                  <a:srgbClr val="007D87"/>
                </a:solidFill>
                <a:latin typeface="DejaVu Sans"/>
                <a:ea typeface="DejaVu Sans"/>
                <a:cs typeface="DejaVu Sans"/>
              </a:rPr>
              <a:t>El supervisor decide. La sugerencia por menor carga semanal es una heurística y requiere validar el equipo completo.</a:t>
            </a:r>
          </a:p>
        </p:txBody>
      </p:sp>
    </p:spTree>
    <p:extLst>
      <p:ext uri="{BB962C8B-B14F-4D97-AF65-F5344CB8AC3E}">
        <p14:creationId xmlns:p14="http://schemas.microsoft.com/office/powerpoint/2010/main" val="1794513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o-0">
            <a:extLst xmlns:a="http://schemas.openxmlformats.org/drawingml/2006/main">
              <a:ext uri="{FF2B5EF4-FFF2-40B4-BE49-F238E27FC236}">
                <a16:creationId xmlns:a16="http://schemas.microsoft.com/office/drawing/2014/main" id="{C71527F2-2F6F-4CF9-A4D3-C2F790D4F10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Caso de asignación con traslado</a:t>
            </a:r>
          </a:p>
        </p:txBody>
      </p:sp>
      <p:sp>
        <p:nvSpPr>
          <p:cNvPr id="2" name="texto-1">
            <a:extLst xmlns:a="http://schemas.openxmlformats.org/drawingml/2006/main">
              <a:ext uri="{FF2B5EF4-FFF2-40B4-BE49-F238E27FC236}">
                <a16:creationId xmlns:a16="http://schemas.microsoft.com/office/drawing/2014/main" id="{DA32AA22-A317-4944-A176-CFFC8F981F4D}"/>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600E204F-D5CA-4D54-8AC1-600068120CC1}"/>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9</a:t>
            </a:r>
          </a:p>
        </p:txBody>
      </p:sp>
      <p:sp>
        <p:nvSpPr>
          <p:cNvPr id="4" name="texto-3">
            <a:extLst xmlns:a="http://schemas.openxmlformats.org/drawingml/2006/main">
              <a:ext uri="{FF2B5EF4-FFF2-40B4-BE49-F238E27FC236}">
                <a16:creationId xmlns:a16="http://schemas.microsoft.com/office/drawing/2014/main" id="{E2312056-CFF0-46E8-88CA-EBCE2768BB6C}"/>
              </a:ext>
            </a:extLst>
          </p:cNvPr>
          <p:cNvSpPr>
            <a:spLocks xmlns:a="http://schemas.openxmlformats.org/drawingml/2006/main" noGrp="1"/>
          </p:cNvSpPr>
          <p:nvPr/>
        </p:nvSpPr>
        <p:spPr>
          <a:xfrm xmlns:a="http://schemas.openxmlformats.org/drawingml/2006/main">
            <a:off x="609600" y="1381125"/>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63447"/>
                </a:solidFill>
                <a:latin typeface="DejaVu Sans"/>
                <a:ea typeface="DejaVu Sans"/>
                <a:cs typeface="DejaVu Sans"/>
              </a:defRPr>
            </a:defPPr>
            <a:lvl1pPr>
              <a:buNone/>
              <a:defRPr sz="2175" b="0">
                <a:solidFill>
                  <a:srgbClr val="163447"/>
                </a:solidFill>
                <a:latin typeface="DejaVu Sans"/>
                <a:ea typeface="DejaVu Sans"/>
                <a:cs typeface="DejaVu Sans"/>
              </a:defRPr>
            </a:lvl1pPr>
            <a:lvl2pPr>
              <a:buNone/>
              <a:defRPr sz="2175" b="0">
                <a:solidFill>
                  <a:srgbClr val="163447"/>
                </a:solidFill>
                <a:latin typeface="DejaVu Sans"/>
                <a:ea typeface="DejaVu Sans"/>
                <a:cs typeface="DejaVu Sans"/>
              </a:defRPr>
            </a:lvl2pPr>
            <a:lvl3pPr>
              <a:buNone/>
              <a:defRPr sz="2175" b="0">
                <a:solidFill>
                  <a:srgbClr val="163447"/>
                </a:solidFill>
                <a:latin typeface="DejaVu Sans"/>
                <a:ea typeface="DejaVu Sans"/>
                <a:cs typeface="DejaVu Sans"/>
              </a:defRPr>
            </a:lvl3pPr>
            <a:lvl4pPr>
              <a:buNone/>
              <a:defRPr sz="2175" b="0">
                <a:solidFill>
                  <a:srgbClr val="163447"/>
                </a:solidFill>
                <a:latin typeface="DejaVu Sans"/>
                <a:ea typeface="DejaVu Sans"/>
                <a:cs typeface="DejaVu Sans"/>
              </a:defRPr>
            </a:lvl4pPr>
            <a:lvl5pPr>
              <a:buNone/>
              <a:defRPr sz="2175" b="0">
                <a:solidFill>
                  <a:srgbClr val="163447"/>
                </a:solidFill>
                <a:latin typeface="DejaVu Sans"/>
                <a:ea typeface="DejaVu Sans"/>
                <a:cs typeface="DejaVu Sans"/>
              </a:defRPr>
            </a:lvl5pPr>
            <a:lvl6pPr>
              <a:buNone/>
              <a:defRPr sz="2175" b="0">
                <a:solidFill>
                  <a:srgbClr val="163447"/>
                </a:solidFill>
                <a:latin typeface="DejaVu Sans"/>
                <a:ea typeface="DejaVu Sans"/>
                <a:cs typeface="DejaVu Sans"/>
              </a:defRPr>
            </a:lvl6pPr>
            <a:lvl7pPr>
              <a:buNone/>
              <a:defRPr sz="2175" b="0">
                <a:solidFill>
                  <a:srgbClr val="163447"/>
                </a:solidFill>
                <a:latin typeface="DejaVu Sans"/>
                <a:ea typeface="DejaVu Sans"/>
                <a:cs typeface="DejaVu Sans"/>
              </a:defRPr>
            </a:lvl7pPr>
            <a:lvl8pPr>
              <a:buNone/>
              <a:defRPr sz="2175" b="0">
                <a:solidFill>
                  <a:srgbClr val="163447"/>
                </a:solidFill>
                <a:latin typeface="DejaVu Sans"/>
                <a:ea typeface="DejaVu Sans"/>
                <a:cs typeface="DejaVu Sans"/>
              </a:defRPr>
            </a:lvl8pPr>
            <a:lvl9pPr>
              <a:buNone/>
              <a:defRPr sz="2175" b="0">
                <a:solidFill>
                  <a:srgbClr val="163447"/>
                </a:solidFill>
                <a:latin typeface="DejaVu Sans"/>
                <a:ea typeface="DejaVu Sans"/>
                <a:cs typeface="DejaVu Sans"/>
              </a:defRPr>
            </a:lvl9pPr>
          </a:lstStyle>
          <a:p xmlns:a="http://schemas.openxmlformats.org/drawingml/2006/main">
            <a:pPr>
              <a:buNone/>
              <a:defRPr sz="2175" b="0">
                <a:solidFill>
                  <a:srgbClr val="163447"/>
                </a:solidFill>
                <a:latin typeface="DejaVu Sans"/>
                <a:ea typeface="DejaVu Sans"/>
                <a:cs typeface="DejaVu Sans"/>
              </a:defRPr>
            </a:pPr>
            <a:r>
              <a:rPr sz="2175" b="0">
                <a:solidFill>
                  <a:srgbClr val="163447"/>
                </a:solidFill>
                <a:latin typeface="DejaVu Sans"/>
                <a:ea typeface="DejaVu Sans"/>
                <a:cs typeface="DejaVu Sans"/>
              </a:rPr>
              <a:t>T01 tiene ambas especialidades y jornada de 08:00 a 17:00. Traslado registrado entre A y B: 30 minutos.</a:t>
            </a:r>
          </a:p>
        </p:txBody>
      </p:sp>
      <p:graphicFrame>
        <p:nvGraphicFramePr>
          <p:cNvPr id="5" name="">
            <a:extLst xmlns:a="http://schemas.openxmlformats.org/drawingml/2006/main">
              <a:ext uri="{FF2B5EF4-FFF2-40B4-BE49-F238E27FC236}">
                <a16:creationId xmlns:a16="http://schemas.microsoft.com/office/drawing/2014/main" id="{C036030C-48DB-4BEA-A876-1A00E4812F7B}"/>
              </a:ext>
            </a:extLst>
          </p:cNvPr>
          <p:cNvGraphicFramePr/>
          <p:nvPr/>
        </p:nvGraphicFramePr>
        <p:xfrm>
          <a:off xmlns:a="http://schemas.openxmlformats.org/drawingml/2006/main" x="609600" y="2381250"/>
          <a:ext xmlns:a="http://schemas.openxmlformats.org/drawingml/2006/main" cx="10972800" cy="3238500"/>
        </p:xfrm>
        <a:graphic xmlns:a="http://schemas.openxmlformats.org/drawingml/2006/main">
          <a:graphicData uri="http://schemas.openxmlformats.org/drawingml/2006/table">
            <a:tbl>
              <a:tblPr/>
              <a:tblGrid>
                <a:gridCol w="4095750"/>
                <a:gridCol w="3238500"/>
                <a:gridCol w="3638550"/>
              </a:tblGrid>
              <a:tr h="647700">
                <a:tc>
                  <a:txBody>
                    <a:bodyPr wrap="square" lIns="123825" tIns="85725" rIns="123825" bIns="85725">
                      <a:noAutofit/>
                    </a:bodyPr>
                    <a:lstStyle/>
                    <a:p>
                      <a:r>
                        <a:rPr sz="1725" b="1">
                          <a:solidFill>
                            <a:srgbClr val="FFFFFF"/>
                          </a:solidFill>
                          <a:latin typeface="DejaVu Sans"/>
                          <a:ea typeface="DejaVu Sans"/>
                          <a:cs typeface="DejaVu Sans"/>
                        </a:rPr>
                        <a:t>Propuesta para T01</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725" b="1">
                          <a:solidFill>
                            <a:srgbClr val="FFFFFF"/>
                          </a:solidFill>
                          <a:latin typeface="DejaVu Sans"/>
                          <a:ea typeface="DejaVu Sans"/>
                          <a:cs typeface="DejaVu Sans"/>
                        </a:rPr>
                        <a:t>Resultado esperado</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725" b="1">
                          <a:solidFill>
                            <a:srgbClr val="FFFFFF"/>
                          </a:solidFill>
                          <a:latin typeface="DejaVu Sans"/>
                          <a:ea typeface="DejaVu Sans"/>
                          <a:cs typeface="DejaVu Sans"/>
                        </a:rPr>
                        <a:t>Motivo</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647700">
                <a:tc>
                  <a:txBody>
                    <a:bodyPr wrap="square" lIns="123825" tIns="85725" rIns="123825" bIns="85725">
                      <a:noAutofit/>
                    </a:bodyPr>
                    <a:lstStyle/>
                    <a:p>
                      <a:r>
                        <a:rPr sz="1725" b="0">
                          <a:solidFill>
                            <a:srgbClr val="163447"/>
                          </a:solidFill>
                          <a:latin typeface="DejaVu Sans"/>
                          <a:ea typeface="DejaVu Sans"/>
                          <a:cs typeface="DejaVu Sans"/>
                        </a:rPr>
                        <a:t>Obra A   08:00–12:00</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Aceptar</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Intervalo disponible.</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647700">
                <a:tc>
                  <a:txBody>
                    <a:bodyPr wrap="square" lIns="123825" tIns="85725" rIns="123825" bIns="85725">
                      <a:noAutofit/>
                    </a:bodyPr>
                    <a:lstStyle/>
                    <a:p>
                      <a:r>
                        <a:rPr sz="1725" b="0">
                          <a:solidFill>
                            <a:srgbClr val="163447"/>
                          </a:solidFill>
                          <a:latin typeface="DejaVu Sans"/>
                          <a:ea typeface="DejaVu Sans"/>
                          <a:cs typeface="DejaVu Sans"/>
                        </a:rPr>
                        <a:t>Obra B   11:00–15:00</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Rechazar</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Cruce con la obra A.</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647700">
                <a:tc>
                  <a:txBody>
                    <a:bodyPr wrap="square" lIns="123825" tIns="85725" rIns="123825" bIns="85725">
                      <a:noAutofit/>
                    </a:bodyPr>
                    <a:lstStyle/>
                    <a:p>
                      <a:r>
                        <a:rPr sz="1725" b="0">
                          <a:solidFill>
                            <a:srgbClr val="163447"/>
                          </a:solidFill>
                          <a:latin typeface="DejaVu Sans"/>
                          <a:ea typeface="DejaVu Sans"/>
                          <a:cs typeface="DejaVu Sans"/>
                        </a:rPr>
                        <a:t>Obra B   12:00–15:00</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Rechazar</a:t>
                      </a:r>
                    </a:p>
                  </a:txBody>
                  <a:tcPr marL="91440" marR="91440" marT="45720" marB="45720" anchor="ctr">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725" b="0">
                          <a:solidFill>
                            <a:srgbClr val="163447"/>
                          </a:solidFill>
                          <a:latin typeface="DejaVu Sans"/>
                          <a:ea typeface="DejaVu Sans"/>
                          <a:cs typeface="DejaVu Sans"/>
                        </a:rPr>
                        <a:t>No deja tiempo de traslado.</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647700">
                <a:tc>
                  <a:txBody>
                    <a:bodyPr wrap="square" lIns="123825" tIns="85725" rIns="123825" bIns="85725">
                      <a:noAutofit/>
                    </a:bodyPr>
                    <a:lstStyle/>
                    <a:p>
                      <a:r>
                        <a:rPr sz="1725" b="0">
                          <a:solidFill>
                            <a:srgbClr val="163447"/>
                          </a:solidFill>
                          <a:latin typeface="DejaVu Sans"/>
                          <a:ea typeface="DejaVu Sans"/>
                          <a:cs typeface="DejaVu Sans"/>
                        </a:rPr>
                        <a:t>Obra B   12:30–16:00</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Aceptar si cumple las demás reglas</a:t>
                      </a:r>
                    </a:p>
                  </a:txBody>
                  <a:tcPr marL="91440" marR="91440" marT="45720" marB="45720" anchor="ctr">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725" b="0">
                          <a:solidFill>
                            <a:srgbClr val="163447"/>
                          </a:solidFill>
                          <a:latin typeface="DejaVu Sans"/>
                          <a:ea typeface="DejaVu Sans"/>
                          <a:cs typeface="DejaVu Sans"/>
                        </a:rPr>
                        <a:t>Respeta el traslado y las predecesoras.</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bl>
          </a:graphicData>
        </a:graphic>
      </p:graphicFrame>
      <p:sp>
        <p:nvSpPr>
          <p:cNvPr id="6" name="texto-4">
            <a:extLst xmlns:a="http://schemas.openxmlformats.org/drawingml/2006/main">
              <a:ext uri="{FF2B5EF4-FFF2-40B4-BE49-F238E27FC236}">
                <a16:creationId xmlns:a16="http://schemas.microsoft.com/office/drawing/2014/main" id="{ED5A1067-ECA5-42EC-8B60-953F7FF1B86A}"/>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36D"/>
                </a:solidFill>
                <a:latin typeface="DejaVu Sans"/>
                <a:ea typeface="DejaVu Sans"/>
                <a:cs typeface="DejaVu Sans"/>
              </a:defRPr>
            </a:defPPr>
            <a:lvl1pPr>
              <a:buNone/>
              <a:defRPr sz="1650" b="0">
                <a:solidFill>
                  <a:srgbClr val="52636D"/>
                </a:solidFill>
                <a:latin typeface="DejaVu Sans"/>
                <a:ea typeface="DejaVu Sans"/>
                <a:cs typeface="DejaVu Sans"/>
              </a:defRPr>
            </a:lvl1pPr>
            <a:lvl2pPr>
              <a:buNone/>
              <a:defRPr sz="1650" b="0">
                <a:solidFill>
                  <a:srgbClr val="52636D"/>
                </a:solidFill>
                <a:latin typeface="DejaVu Sans"/>
                <a:ea typeface="DejaVu Sans"/>
                <a:cs typeface="DejaVu Sans"/>
              </a:defRPr>
            </a:lvl2pPr>
            <a:lvl3pPr>
              <a:buNone/>
              <a:defRPr sz="1650" b="0">
                <a:solidFill>
                  <a:srgbClr val="52636D"/>
                </a:solidFill>
                <a:latin typeface="DejaVu Sans"/>
                <a:ea typeface="DejaVu Sans"/>
                <a:cs typeface="DejaVu Sans"/>
              </a:defRPr>
            </a:lvl3pPr>
            <a:lvl4pPr>
              <a:buNone/>
              <a:defRPr sz="1650" b="0">
                <a:solidFill>
                  <a:srgbClr val="52636D"/>
                </a:solidFill>
                <a:latin typeface="DejaVu Sans"/>
                <a:ea typeface="DejaVu Sans"/>
                <a:cs typeface="DejaVu Sans"/>
              </a:defRPr>
            </a:lvl4pPr>
            <a:lvl5pPr>
              <a:buNone/>
              <a:defRPr sz="1650" b="0">
                <a:solidFill>
                  <a:srgbClr val="52636D"/>
                </a:solidFill>
                <a:latin typeface="DejaVu Sans"/>
                <a:ea typeface="DejaVu Sans"/>
                <a:cs typeface="DejaVu Sans"/>
              </a:defRPr>
            </a:lvl5pPr>
            <a:lvl6pPr>
              <a:buNone/>
              <a:defRPr sz="1650" b="0">
                <a:solidFill>
                  <a:srgbClr val="52636D"/>
                </a:solidFill>
                <a:latin typeface="DejaVu Sans"/>
                <a:ea typeface="DejaVu Sans"/>
                <a:cs typeface="DejaVu Sans"/>
              </a:defRPr>
            </a:lvl6pPr>
            <a:lvl7pPr>
              <a:buNone/>
              <a:defRPr sz="1650" b="0">
                <a:solidFill>
                  <a:srgbClr val="52636D"/>
                </a:solidFill>
                <a:latin typeface="DejaVu Sans"/>
                <a:ea typeface="DejaVu Sans"/>
                <a:cs typeface="DejaVu Sans"/>
              </a:defRPr>
            </a:lvl7pPr>
            <a:lvl8pPr>
              <a:buNone/>
              <a:defRPr sz="1650" b="0">
                <a:solidFill>
                  <a:srgbClr val="52636D"/>
                </a:solidFill>
                <a:latin typeface="DejaVu Sans"/>
                <a:ea typeface="DejaVu Sans"/>
                <a:cs typeface="DejaVu Sans"/>
              </a:defRPr>
            </a:lvl8pPr>
            <a:lvl9pPr>
              <a:buNone/>
              <a:defRPr sz="1650" b="0">
                <a:solidFill>
                  <a:srgbClr val="52636D"/>
                </a:solidFill>
                <a:latin typeface="DejaVu Sans"/>
                <a:ea typeface="DejaVu Sans"/>
                <a:cs typeface="DejaVu Sans"/>
              </a:defRPr>
            </a:lvl9pPr>
          </a:lstStyle>
          <a:p xmlns:a="http://schemas.openxmlformats.org/drawingml/2006/main">
            <a:pPr>
              <a:buNone/>
              <a:defRPr sz="1650" b="0">
                <a:solidFill>
                  <a:srgbClr val="52636D"/>
                </a:solidFill>
                <a:latin typeface="DejaVu Sans"/>
                <a:ea typeface="DejaVu Sans"/>
                <a:cs typeface="DejaVu Sans"/>
              </a:defRPr>
            </a:pPr>
            <a:r>
              <a:rPr sz="1650" b="0">
                <a:solidFill>
                  <a:srgbClr val="52636D"/>
                </a:solidFill>
                <a:latin typeface="DejaVu Sans"/>
                <a:ea typeface="DejaVu Sans"/>
                <a:cs typeface="DejaVu Sans"/>
              </a:rPr>
              <a:t>Ejemplo de diseño con datos ficticios. No representa una prueba ejecutada ni datos reales de Dizeo.</a:t>
            </a:r>
          </a:p>
        </p:txBody>
      </p:sp>
    </p:spTree>
    <p:extLst>
      <p:ext uri="{BB962C8B-B14F-4D97-AF65-F5344CB8AC3E}">
        <p14:creationId xmlns:p14="http://schemas.microsoft.com/office/powerpoint/2010/main" val="1534097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o-0">
            <a:extLst xmlns:a="http://schemas.openxmlformats.org/drawingml/2006/main">
              <a:ext uri="{FF2B5EF4-FFF2-40B4-BE49-F238E27FC236}">
                <a16:creationId xmlns:a16="http://schemas.microsoft.com/office/drawing/2014/main" id="{41599428-C095-4530-9CB8-0D03E4D3354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63447"/>
                </a:solidFill>
                <a:latin typeface="DejaVu Sans"/>
                <a:ea typeface="DejaVu Sans"/>
                <a:cs typeface="DejaVu Sans"/>
              </a:defRPr>
            </a:defPPr>
            <a:lvl1pPr>
              <a:buNone/>
              <a:defRPr sz="3300" b="1">
                <a:solidFill>
                  <a:srgbClr val="163447"/>
                </a:solidFill>
                <a:latin typeface="DejaVu Sans"/>
                <a:ea typeface="DejaVu Sans"/>
                <a:cs typeface="DejaVu Sans"/>
              </a:defRPr>
            </a:lvl1pPr>
            <a:lvl2pPr>
              <a:buNone/>
              <a:defRPr sz="3300" b="1">
                <a:solidFill>
                  <a:srgbClr val="163447"/>
                </a:solidFill>
                <a:latin typeface="DejaVu Sans"/>
                <a:ea typeface="DejaVu Sans"/>
                <a:cs typeface="DejaVu Sans"/>
              </a:defRPr>
            </a:lvl2pPr>
            <a:lvl3pPr>
              <a:buNone/>
              <a:defRPr sz="3300" b="1">
                <a:solidFill>
                  <a:srgbClr val="163447"/>
                </a:solidFill>
                <a:latin typeface="DejaVu Sans"/>
                <a:ea typeface="DejaVu Sans"/>
                <a:cs typeface="DejaVu Sans"/>
              </a:defRPr>
            </a:lvl3pPr>
            <a:lvl4pPr>
              <a:buNone/>
              <a:defRPr sz="3300" b="1">
                <a:solidFill>
                  <a:srgbClr val="163447"/>
                </a:solidFill>
                <a:latin typeface="DejaVu Sans"/>
                <a:ea typeface="DejaVu Sans"/>
                <a:cs typeface="DejaVu Sans"/>
              </a:defRPr>
            </a:lvl4pPr>
            <a:lvl5pPr>
              <a:buNone/>
              <a:defRPr sz="3300" b="1">
                <a:solidFill>
                  <a:srgbClr val="163447"/>
                </a:solidFill>
                <a:latin typeface="DejaVu Sans"/>
                <a:ea typeface="DejaVu Sans"/>
                <a:cs typeface="DejaVu Sans"/>
              </a:defRPr>
            </a:lvl5pPr>
            <a:lvl6pPr>
              <a:buNone/>
              <a:defRPr sz="3300" b="1">
                <a:solidFill>
                  <a:srgbClr val="163447"/>
                </a:solidFill>
                <a:latin typeface="DejaVu Sans"/>
                <a:ea typeface="DejaVu Sans"/>
                <a:cs typeface="DejaVu Sans"/>
              </a:defRPr>
            </a:lvl6pPr>
            <a:lvl7pPr>
              <a:buNone/>
              <a:defRPr sz="3300" b="1">
                <a:solidFill>
                  <a:srgbClr val="163447"/>
                </a:solidFill>
                <a:latin typeface="DejaVu Sans"/>
                <a:ea typeface="DejaVu Sans"/>
                <a:cs typeface="DejaVu Sans"/>
              </a:defRPr>
            </a:lvl7pPr>
            <a:lvl8pPr>
              <a:buNone/>
              <a:defRPr sz="3300" b="1">
                <a:solidFill>
                  <a:srgbClr val="163447"/>
                </a:solidFill>
                <a:latin typeface="DejaVu Sans"/>
                <a:ea typeface="DejaVu Sans"/>
                <a:cs typeface="DejaVu Sans"/>
              </a:defRPr>
            </a:lvl8pPr>
            <a:lvl9pPr>
              <a:buNone/>
              <a:defRPr sz="3300" b="1">
                <a:solidFill>
                  <a:srgbClr val="163447"/>
                </a:solidFill>
                <a:latin typeface="DejaVu Sans"/>
                <a:ea typeface="DejaVu Sans"/>
                <a:cs typeface="DejaVu Sans"/>
              </a:defRPr>
            </a:lvl9pPr>
          </a:lstStyle>
          <a:p xmlns:a="http://schemas.openxmlformats.org/drawingml/2006/main">
            <a:pPr>
              <a:buNone/>
              <a:defRPr sz="3300" b="1">
                <a:solidFill>
                  <a:srgbClr val="163447"/>
                </a:solidFill>
                <a:latin typeface="DejaVu Sans"/>
                <a:ea typeface="DejaVu Sans"/>
                <a:cs typeface="DejaVu Sans"/>
              </a:defRPr>
            </a:pPr>
            <a:r>
              <a:rPr sz="3300" b="1">
                <a:solidFill>
                  <a:srgbClr val="163447"/>
                </a:solidFill>
                <a:latin typeface="DejaVu Sans"/>
                <a:ea typeface="DejaVu Sans"/>
                <a:cs typeface="DejaVu Sans"/>
              </a:rPr>
              <a:t>Plan preliminar para Progreso 2</a:t>
            </a:r>
          </a:p>
        </p:txBody>
      </p:sp>
      <p:sp>
        <p:nvSpPr>
          <p:cNvPr id="2" name="texto-1">
            <a:extLst xmlns:a="http://schemas.openxmlformats.org/drawingml/2006/main">
              <a:ext uri="{FF2B5EF4-FFF2-40B4-BE49-F238E27FC236}">
                <a16:creationId xmlns:a16="http://schemas.microsoft.com/office/drawing/2014/main" id="{C38DE34B-E339-4BE4-84B9-869900124AFB}"/>
              </a:ext>
            </a:extLst>
          </p:cNvPr>
          <p:cNvSpPr>
            <a:spLocks xmlns:a="http://schemas.openxmlformats.org/drawingml/2006/main" noGrp="1"/>
          </p:cNvSpPr>
          <p:nvPr/>
        </p:nvSpPr>
        <p:spPr>
          <a:xfrm xmlns:a="http://schemas.openxmlformats.org/drawingml/2006/main">
            <a:off x="609600" y="64960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Dizeo   Programación III   Progreso 1</a:t>
            </a:r>
          </a:p>
        </p:txBody>
      </p:sp>
      <p:sp>
        <p:nvSpPr>
          <p:cNvPr id="3" name="texto-2">
            <a:extLst xmlns:a="http://schemas.openxmlformats.org/drawingml/2006/main">
              <a:ext uri="{FF2B5EF4-FFF2-40B4-BE49-F238E27FC236}">
                <a16:creationId xmlns:a16="http://schemas.microsoft.com/office/drawing/2014/main" id="{09690E3E-02BA-4102-836F-B56504E18253}"/>
              </a:ext>
            </a:extLst>
          </p:cNvPr>
          <p:cNvSpPr>
            <a:spLocks xmlns:a="http://schemas.openxmlformats.org/drawingml/2006/main" noGrp="1"/>
          </p:cNvSpPr>
          <p:nvPr/>
        </p:nvSpPr>
        <p:spPr>
          <a:xfrm xmlns:a="http://schemas.openxmlformats.org/drawingml/2006/main">
            <a:off x="11239500" y="6496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2636D"/>
                </a:solidFill>
                <a:latin typeface="DejaVu Sans"/>
                <a:ea typeface="DejaVu Sans"/>
                <a:cs typeface="DejaVu Sans"/>
              </a:defRPr>
            </a:defPPr>
            <a:lvl1pPr>
              <a:buNone/>
              <a:defRPr sz="1125" b="0">
                <a:solidFill>
                  <a:srgbClr val="52636D"/>
                </a:solidFill>
                <a:latin typeface="DejaVu Sans"/>
                <a:ea typeface="DejaVu Sans"/>
                <a:cs typeface="DejaVu Sans"/>
              </a:defRPr>
            </a:lvl1pPr>
            <a:lvl2pPr>
              <a:buNone/>
              <a:defRPr sz="1125" b="0">
                <a:solidFill>
                  <a:srgbClr val="52636D"/>
                </a:solidFill>
                <a:latin typeface="DejaVu Sans"/>
                <a:ea typeface="DejaVu Sans"/>
                <a:cs typeface="DejaVu Sans"/>
              </a:defRPr>
            </a:lvl2pPr>
            <a:lvl3pPr>
              <a:buNone/>
              <a:defRPr sz="1125" b="0">
                <a:solidFill>
                  <a:srgbClr val="52636D"/>
                </a:solidFill>
                <a:latin typeface="DejaVu Sans"/>
                <a:ea typeface="DejaVu Sans"/>
                <a:cs typeface="DejaVu Sans"/>
              </a:defRPr>
            </a:lvl3pPr>
            <a:lvl4pPr>
              <a:buNone/>
              <a:defRPr sz="1125" b="0">
                <a:solidFill>
                  <a:srgbClr val="52636D"/>
                </a:solidFill>
                <a:latin typeface="DejaVu Sans"/>
                <a:ea typeface="DejaVu Sans"/>
                <a:cs typeface="DejaVu Sans"/>
              </a:defRPr>
            </a:lvl4pPr>
            <a:lvl5pPr>
              <a:buNone/>
              <a:defRPr sz="1125" b="0">
                <a:solidFill>
                  <a:srgbClr val="52636D"/>
                </a:solidFill>
                <a:latin typeface="DejaVu Sans"/>
                <a:ea typeface="DejaVu Sans"/>
                <a:cs typeface="DejaVu Sans"/>
              </a:defRPr>
            </a:lvl5pPr>
            <a:lvl6pPr>
              <a:buNone/>
              <a:defRPr sz="1125" b="0">
                <a:solidFill>
                  <a:srgbClr val="52636D"/>
                </a:solidFill>
                <a:latin typeface="DejaVu Sans"/>
                <a:ea typeface="DejaVu Sans"/>
                <a:cs typeface="DejaVu Sans"/>
              </a:defRPr>
            </a:lvl6pPr>
            <a:lvl7pPr>
              <a:buNone/>
              <a:defRPr sz="1125" b="0">
                <a:solidFill>
                  <a:srgbClr val="52636D"/>
                </a:solidFill>
                <a:latin typeface="DejaVu Sans"/>
                <a:ea typeface="DejaVu Sans"/>
                <a:cs typeface="DejaVu Sans"/>
              </a:defRPr>
            </a:lvl7pPr>
            <a:lvl8pPr>
              <a:buNone/>
              <a:defRPr sz="1125" b="0">
                <a:solidFill>
                  <a:srgbClr val="52636D"/>
                </a:solidFill>
                <a:latin typeface="DejaVu Sans"/>
                <a:ea typeface="DejaVu Sans"/>
                <a:cs typeface="DejaVu Sans"/>
              </a:defRPr>
            </a:lvl8pPr>
            <a:lvl9pPr>
              <a:buNone/>
              <a:defRPr sz="1125" b="0">
                <a:solidFill>
                  <a:srgbClr val="52636D"/>
                </a:solidFill>
                <a:latin typeface="DejaVu Sans"/>
                <a:ea typeface="DejaVu Sans"/>
                <a:cs typeface="DejaVu Sans"/>
              </a:defRPr>
            </a:lvl9pPr>
          </a:lstStyle>
          <a:p xmlns:a="http://schemas.openxmlformats.org/drawingml/2006/main">
            <a:pPr>
              <a:buNone/>
              <a:defRPr sz="1125" b="0">
                <a:solidFill>
                  <a:srgbClr val="52636D"/>
                </a:solidFill>
                <a:latin typeface="DejaVu Sans"/>
                <a:ea typeface="DejaVu Sans"/>
                <a:cs typeface="DejaVu Sans"/>
              </a:defRPr>
            </a:pPr>
            <a:r>
              <a:rPr sz="1125" b="0">
                <a:solidFill>
                  <a:srgbClr val="52636D"/>
                </a:solidFill>
                <a:latin typeface="DejaVu Sans"/>
                <a:ea typeface="DejaVu Sans"/>
                <a:cs typeface="DejaVu Sans"/>
              </a:rPr>
              <a:t>10</a:t>
            </a:r>
          </a:p>
        </p:txBody>
      </p:sp>
      <p:graphicFrame>
        <p:nvGraphicFramePr>
          <p:cNvPr id="4" name="">
            <a:extLst xmlns:a="http://schemas.openxmlformats.org/drawingml/2006/main">
              <a:ext uri="{FF2B5EF4-FFF2-40B4-BE49-F238E27FC236}">
                <a16:creationId xmlns:a16="http://schemas.microsoft.com/office/drawing/2014/main" id="{B2293756-4384-4EED-9EB3-7B1A8567834A}"/>
              </a:ext>
            </a:extLst>
          </p:cNvPr>
          <p:cNvGraphicFramePr/>
          <p:nvPr/>
        </p:nvGraphicFramePr>
        <p:xfrm>
          <a:off xmlns:a="http://schemas.openxmlformats.org/drawingml/2006/main" x="609600" y="1428750"/>
          <a:ext xmlns:a="http://schemas.openxmlformats.org/drawingml/2006/main" cx="10972800" cy="2438400"/>
        </p:xfrm>
        <a:graphic xmlns:a="http://schemas.openxmlformats.org/drawingml/2006/main">
          <a:graphicData uri="http://schemas.openxmlformats.org/drawingml/2006/table">
            <a:tbl>
              <a:tblPr/>
              <a:tblGrid>
                <a:gridCol w="3810000"/>
                <a:gridCol w="7162800"/>
              </a:tblGrid>
              <a:tr h="609600">
                <a:tc>
                  <a:txBody>
                    <a:bodyPr wrap="square" lIns="123825" tIns="85725" rIns="123825" bIns="85725">
                      <a:noAutofit/>
                    </a:bodyPr>
                    <a:lstStyle/>
                    <a:p>
                      <a:r>
                        <a:rPr sz="1800" b="1">
                          <a:solidFill>
                            <a:srgbClr val="FFFFFF"/>
                          </a:solidFill>
                          <a:latin typeface="DejaVu Sans"/>
                          <a:ea typeface="DejaVu Sans"/>
                          <a:cs typeface="DejaVu Sans"/>
                        </a:rPr>
                        <a:t>Integrante</a:t>
                      </a:r>
                    </a:p>
                  </a:txBody>
                  <a:tcPr marL="91440" marR="91440" marT="45720" marB="45720" anchor="ctr">
                    <a:lnL w="9525">
                      <a:solidFill>
                        <a:srgbClr val="B9CCD1"/>
                      </a:solidFill>
                      <a:prstDash val="solid"/>
                    </a:lnL>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c>
                  <a:txBody>
                    <a:bodyPr wrap="square" lIns="123825" tIns="85725" rIns="123825" bIns="85725">
                      <a:noAutofit/>
                    </a:bodyPr>
                    <a:lstStyle/>
                    <a:p>
                      <a:r>
                        <a:rPr sz="1800" b="1">
                          <a:solidFill>
                            <a:srgbClr val="FFFFFF"/>
                          </a:solidFill>
                          <a:latin typeface="DejaVu Sans"/>
                          <a:ea typeface="DejaVu Sans"/>
                          <a:cs typeface="DejaVu Sans"/>
                        </a:rPr>
                        <a:t>Componentes previstos</a:t>
                      </a:r>
                    </a:p>
                  </a:txBody>
                  <a:tcPr marL="91440" marR="91440" marT="45720" marB="45720" anchor="ctr">
                    <a:lnR w="9525">
                      <a:solidFill>
                        <a:srgbClr val="B9CCD1"/>
                      </a:solidFill>
                      <a:prstDash val="solid"/>
                    </a:lnR>
                    <a:lnT w="9525">
                      <a:solidFill>
                        <a:srgbClr val="B9CCD1"/>
                      </a:solidFill>
                      <a:prstDash val="solid"/>
                    </a:lnT>
                    <a:lnB w="9525">
                      <a:solidFill>
                        <a:srgbClr val="B9CCD1"/>
                      </a:solidFill>
                      <a:prstDash val="solid"/>
                    </a:lnB>
                    <a:solidFill>
                      <a:srgbClr val="163447"/>
                    </a:solidFill>
                  </a:tcPr>
                </a:tc>
              </a:tr>
              <a:tr h="609600">
                <a:tc>
                  <a:txBody>
                    <a:bodyPr wrap="square" lIns="123825" tIns="85725" rIns="123825" bIns="85725">
                      <a:noAutofit/>
                    </a:bodyPr>
                    <a:lstStyle/>
                    <a:p>
                      <a:r>
                        <a:rPr sz="1800" b="0">
                          <a:solidFill>
                            <a:srgbClr val="163447"/>
                          </a:solidFill>
                          <a:latin typeface="DejaVu Sans"/>
                          <a:ea typeface="DejaVu Sans"/>
                          <a:cs typeface="DejaVu Sans"/>
                        </a:rPr>
                        <a:t>Daniel Valarezo</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00" b="0">
                          <a:solidFill>
                            <a:srgbClr val="163447"/>
                          </a:solidFill>
                          <a:latin typeface="DejaVu Sans"/>
                          <a:ea typeface="DejaVu Sans"/>
                          <a:cs typeface="DejaVu Sans"/>
                        </a:rPr>
                        <a:t>Obras y seguimiento. Formulación y documentación.</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r h="609600">
                <a:tc>
                  <a:txBody>
                    <a:bodyPr wrap="square" lIns="123825" tIns="85725" rIns="123825" bIns="85725">
                      <a:noAutofit/>
                    </a:bodyPr>
                    <a:lstStyle/>
                    <a:p>
                      <a:r>
                        <a:rPr sz="1800" b="0">
                          <a:solidFill>
                            <a:srgbClr val="163447"/>
                          </a:solidFill>
                          <a:latin typeface="DejaVu Sans"/>
                          <a:ea typeface="DejaVu Sans"/>
                          <a:cs typeface="DejaVu Sans"/>
                        </a:rPr>
                        <a:t>Esteban Figueroa</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EDF4F5"/>
                    </a:solidFill>
                  </a:tcPr>
                </a:tc>
                <a:tc>
                  <a:txBody>
                    <a:bodyPr wrap="square" lIns="123825" tIns="85725" rIns="123825" bIns="85725">
                      <a:noAutofit/>
                    </a:bodyPr>
                    <a:lstStyle/>
                    <a:p>
                      <a:r>
                        <a:rPr sz="1800" b="0">
                          <a:solidFill>
                            <a:srgbClr val="163447"/>
                          </a:solidFill>
                          <a:latin typeface="DejaVu Sans"/>
                          <a:ea typeface="DejaVu Sans"/>
                          <a:cs typeface="DejaVu Sans"/>
                        </a:rPr>
                        <a:t>Trabajadores, planificación, asignación y persistencia.</a:t>
                      </a:r>
                    </a:p>
                  </a:txBody>
                  <a:tcPr marL="91440" marR="91440" marT="45720" marB="45720" anchor="ctr">
                    <a:lnR w="9525">
                      <a:solidFill>
                        <a:srgbClr val="B9CCD1"/>
                      </a:solidFill>
                      <a:prstDash val="solid"/>
                    </a:lnR>
                    <a:lnB w="9525">
                      <a:solidFill>
                        <a:srgbClr val="B9CCD1"/>
                      </a:solidFill>
                      <a:prstDash val="solid"/>
                    </a:lnB>
                    <a:solidFill>
                      <a:srgbClr val="EDF4F5"/>
                    </a:solidFill>
                  </a:tcPr>
                </a:tc>
              </a:tr>
              <a:tr h="609600">
                <a:tc>
                  <a:txBody>
                    <a:bodyPr wrap="square" lIns="123825" tIns="85725" rIns="123825" bIns="85725">
                      <a:noAutofit/>
                    </a:bodyPr>
                    <a:lstStyle/>
                    <a:p>
                      <a:r>
                        <a:rPr sz="1800" b="0">
                          <a:solidFill>
                            <a:srgbClr val="163447"/>
                          </a:solidFill>
                          <a:latin typeface="DejaVu Sans"/>
                          <a:ea typeface="DejaVu Sans"/>
                          <a:cs typeface="DejaVu Sans"/>
                        </a:rPr>
                        <a:t>Julián Jiménez</a:t>
                      </a:r>
                    </a:p>
                  </a:txBody>
                  <a:tcPr marL="91440" marR="91440" marT="45720" marB="45720" anchor="ctr">
                    <a:lnL w="9525">
                      <a:solidFill>
                        <a:srgbClr val="B9CCD1"/>
                      </a:solidFill>
                      <a:prstDash val="solid"/>
                    </a:lnL>
                    <a:lnR w="9525">
                      <a:solidFill>
                        <a:srgbClr val="B9CCD1"/>
                      </a:solidFill>
                      <a:prstDash val="solid"/>
                    </a:lnR>
                    <a:lnB w="9525">
                      <a:solidFill>
                        <a:srgbClr val="B9CCD1"/>
                      </a:solidFill>
                      <a:prstDash val="solid"/>
                    </a:lnB>
                    <a:solidFill>
                      <a:srgbClr val="FFFFFF"/>
                    </a:solidFill>
                  </a:tcPr>
                </a:tc>
                <a:tc>
                  <a:txBody>
                    <a:bodyPr wrap="square" lIns="123825" tIns="85725" rIns="123825" bIns="85725">
                      <a:noAutofit/>
                    </a:bodyPr>
                    <a:lstStyle/>
                    <a:p>
                      <a:r>
                        <a:rPr sz="1800" b="0">
                          <a:solidFill>
                            <a:srgbClr val="163447"/>
                          </a:solidFill>
                          <a:latin typeface="DejaVu Sans"/>
                          <a:ea typeface="DejaVu Sans"/>
                          <a:cs typeface="DejaVu Sans"/>
                        </a:rPr>
                        <a:t>Actividades, prioridades, dependencias, UML y comparación.</a:t>
                      </a:r>
                    </a:p>
                  </a:txBody>
                  <a:tcPr marL="91440" marR="91440" marT="45720" marB="45720" anchor="ctr">
                    <a:lnR w="9525">
                      <a:solidFill>
                        <a:srgbClr val="B9CCD1"/>
                      </a:solidFill>
                      <a:prstDash val="solid"/>
                    </a:lnR>
                    <a:lnB w="9525">
                      <a:solidFill>
                        <a:srgbClr val="B9CCD1"/>
                      </a:solidFill>
                      <a:prstDash val="solid"/>
                    </a:lnB>
                    <a:solidFill>
                      <a:srgbClr val="FFFFFF"/>
                    </a:solidFill>
                  </a:tcPr>
                </a:tc>
              </a:tr>
            </a:tbl>
          </a:graphicData>
        </a:graphic>
      </p:graphicFrame>
      <p:sp>
        <p:nvSpPr>
          <p:cNvPr id="5" name="texto-3">
            <a:extLst xmlns:a="http://schemas.openxmlformats.org/drawingml/2006/main">
              <a:ext uri="{FF2B5EF4-FFF2-40B4-BE49-F238E27FC236}">
                <a16:creationId xmlns:a16="http://schemas.microsoft.com/office/drawing/2014/main" id="{105FE16C-D235-4FFA-92AB-3EBE8F2DCE4E}"/>
              </a:ext>
            </a:extLst>
          </p:cNvPr>
          <p:cNvSpPr>
            <a:spLocks xmlns:a="http://schemas.openxmlformats.org/drawingml/2006/main" noGrp="1"/>
          </p:cNvSpPr>
          <p:nvPr/>
        </p:nvSpPr>
        <p:spPr>
          <a:xfrm xmlns:a="http://schemas.openxmlformats.org/drawingml/2006/main">
            <a:off x="609600" y="485775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007D87"/>
                </a:solidFill>
                <a:latin typeface="DejaVu Sans"/>
                <a:ea typeface="DejaVu Sans"/>
                <a:cs typeface="DejaVu Sans"/>
              </a:defRPr>
            </a:defPPr>
            <a:lvl1pPr>
              <a:buNone/>
              <a:defRPr sz="2100" b="1">
                <a:solidFill>
                  <a:srgbClr val="007D87"/>
                </a:solidFill>
                <a:latin typeface="DejaVu Sans"/>
                <a:ea typeface="DejaVu Sans"/>
                <a:cs typeface="DejaVu Sans"/>
              </a:defRPr>
            </a:lvl1pPr>
            <a:lvl2pPr>
              <a:buNone/>
              <a:defRPr sz="2100" b="1">
                <a:solidFill>
                  <a:srgbClr val="007D87"/>
                </a:solidFill>
                <a:latin typeface="DejaVu Sans"/>
                <a:ea typeface="DejaVu Sans"/>
                <a:cs typeface="DejaVu Sans"/>
              </a:defRPr>
            </a:lvl2pPr>
            <a:lvl3pPr>
              <a:buNone/>
              <a:defRPr sz="2100" b="1">
                <a:solidFill>
                  <a:srgbClr val="007D87"/>
                </a:solidFill>
                <a:latin typeface="DejaVu Sans"/>
                <a:ea typeface="DejaVu Sans"/>
                <a:cs typeface="DejaVu Sans"/>
              </a:defRPr>
            </a:lvl3pPr>
            <a:lvl4pPr>
              <a:buNone/>
              <a:defRPr sz="2100" b="1">
                <a:solidFill>
                  <a:srgbClr val="007D87"/>
                </a:solidFill>
                <a:latin typeface="DejaVu Sans"/>
                <a:ea typeface="DejaVu Sans"/>
                <a:cs typeface="DejaVu Sans"/>
              </a:defRPr>
            </a:lvl4pPr>
            <a:lvl5pPr>
              <a:buNone/>
              <a:defRPr sz="2100" b="1">
                <a:solidFill>
                  <a:srgbClr val="007D87"/>
                </a:solidFill>
                <a:latin typeface="DejaVu Sans"/>
                <a:ea typeface="DejaVu Sans"/>
                <a:cs typeface="DejaVu Sans"/>
              </a:defRPr>
            </a:lvl5pPr>
            <a:lvl6pPr>
              <a:buNone/>
              <a:defRPr sz="2100" b="1">
                <a:solidFill>
                  <a:srgbClr val="007D87"/>
                </a:solidFill>
                <a:latin typeface="DejaVu Sans"/>
                <a:ea typeface="DejaVu Sans"/>
                <a:cs typeface="DejaVu Sans"/>
              </a:defRPr>
            </a:lvl6pPr>
            <a:lvl7pPr>
              <a:buNone/>
              <a:defRPr sz="2100" b="1">
                <a:solidFill>
                  <a:srgbClr val="007D87"/>
                </a:solidFill>
                <a:latin typeface="DejaVu Sans"/>
                <a:ea typeface="DejaVu Sans"/>
                <a:cs typeface="DejaVu Sans"/>
              </a:defRPr>
            </a:lvl7pPr>
            <a:lvl8pPr>
              <a:buNone/>
              <a:defRPr sz="2100" b="1">
                <a:solidFill>
                  <a:srgbClr val="007D87"/>
                </a:solidFill>
                <a:latin typeface="DejaVu Sans"/>
                <a:ea typeface="DejaVu Sans"/>
                <a:cs typeface="DejaVu Sans"/>
              </a:defRPr>
            </a:lvl8pPr>
            <a:lvl9pPr>
              <a:buNone/>
              <a:defRPr sz="2100" b="1">
                <a:solidFill>
                  <a:srgbClr val="007D87"/>
                </a:solidFill>
                <a:latin typeface="DejaVu Sans"/>
                <a:ea typeface="DejaVu Sans"/>
                <a:cs typeface="DejaVu Sans"/>
              </a:defRPr>
            </a:lvl9pPr>
          </a:lstStyle>
          <a:p xmlns:a="http://schemas.openxmlformats.org/drawingml/2006/main">
            <a:pPr>
              <a:buNone/>
              <a:defRPr sz="2100" b="1">
                <a:solidFill>
                  <a:srgbClr val="007D87"/>
                </a:solidFill>
                <a:latin typeface="DejaVu Sans"/>
                <a:ea typeface="DejaVu Sans"/>
                <a:cs typeface="DejaVu Sans"/>
              </a:defRPr>
            </a:pPr>
            <a:r>
              <a:rPr sz="2100" b="1">
                <a:solidFill>
                  <a:srgbClr val="007D87"/>
                </a:solidFill>
                <a:latin typeface="DejaVu Sans"/>
                <a:ea typeface="DejaVu Sans"/>
                <a:cs typeface="DejaVu Sans"/>
              </a:rPr>
              <a:t>Secuencia</a:t>
            </a:r>
          </a:p>
        </p:txBody>
      </p:sp>
      <p:sp>
        <p:nvSpPr>
          <p:cNvPr id="6" name="texto-4">
            <a:extLst xmlns:a="http://schemas.openxmlformats.org/drawingml/2006/main">
              <a:ext uri="{FF2B5EF4-FFF2-40B4-BE49-F238E27FC236}">
                <a16:creationId xmlns:a16="http://schemas.microsoft.com/office/drawing/2014/main" id="{803AB092-CA02-44DA-B27C-7B07215798BB}"/>
              </a:ext>
            </a:extLst>
          </p:cNvPr>
          <p:cNvSpPr>
            <a:spLocks xmlns:a="http://schemas.openxmlformats.org/drawingml/2006/main" noGrp="1"/>
          </p:cNvSpPr>
          <p:nvPr/>
        </p:nvSpPr>
        <p:spPr>
          <a:xfrm xmlns:a="http://schemas.openxmlformats.org/drawingml/2006/main">
            <a:off x="3238500" y="4857750"/>
            <a:ext cx="828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63447"/>
                </a:solidFill>
                <a:latin typeface="DejaVu Sans"/>
                <a:ea typeface="DejaVu Sans"/>
                <a:cs typeface="DejaVu Sans"/>
              </a:defRPr>
            </a:defPPr>
            <a:lvl1pPr>
              <a:buNone/>
              <a:defRPr sz="2025" b="0">
                <a:solidFill>
                  <a:srgbClr val="163447"/>
                </a:solidFill>
                <a:latin typeface="DejaVu Sans"/>
                <a:ea typeface="DejaVu Sans"/>
                <a:cs typeface="DejaVu Sans"/>
              </a:defRPr>
            </a:lvl1pPr>
            <a:lvl2pPr>
              <a:buNone/>
              <a:defRPr sz="2025" b="0">
                <a:solidFill>
                  <a:srgbClr val="163447"/>
                </a:solidFill>
                <a:latin typeface="DejaVu Sans"/>
                <a:ea typeface="DejaVu Sans"/>
                <a:cs typeface="DejaVu Sans"/>
              </a:defRPr>
            </a:lvl2pPr>
            <a:lvl3pPr>
              <a:buNone/>
              <a:defRPr sz="2025" b="0">
                <a:solidFill>
                  <a:srgbClr val="163447"/>
                </a:solidFill>
                <a:latin typeface="DejaVu Sans"/>
                <a:ea typeface="DejaVu Sans"/>
                <a:cs typeface="DejaVu Sans"/>
              </a:defRPr>
            </a:lvl3pPr>
            <a:lvl4pPr>
              <a:buNone/>
              <a:defRPr sz="2025" b="0">
                <a:solidFill>
                  <a:srgbClr val="163447"/>
                </a:solidFill>
                <a:latin typeface="DejaVu Sans"/>
                <a:ea typeface="DejaVu Sans"/>
                <a:cs typeface="DejaVu Sans"/>
              </a:defRPr>
            </a:lvl4pPr>
            <a:lvl5pPr>
              <a:buNone/>
              <a:defRPr sz="2025" b="0">
                <a:solidFill>
                  <a:srgbClr val="163447"/>
                </a:solidFill>
                <a:latin typeface="DejaVu Sans"/>
                <a:ea typeface="DejaVu Sans"/>
                <a:cs typeface="DejaVu Sans"/>
              </a:defRPr>
            </a:lvl5pPr>
            <a:lvl6pPr>
              <a:buNone/>
              <a:defRPr sz="2025" b="0">
                <a:solidFill>
                  <a:srgbClr val="163447"/>
                </a:solidFill>
                <a:latin typeface="DejaVu Sans"/>
                <a:ea typeface="DejaVu Sans"/>
                <a:cs typeface="DejaVu Sans"/>
              </a:defRPr>
            </a:lvl6pPr>
            <a:lvl7pPr>
              <a:buNone/>
              <a:defRPr sz="2025" b="0">
                <a:solidFill>
                  <a:srgbClr val="163447"/>
                </a:solidFill>
                <a:latin typeface="DejaVu Sans"/>
                <a:ea typeface="DejaVu Sans"/>
                <a:cs typeface="DejaVu Sans"/>
              </a:defRPr>
            </a:lvl7pPr>
            <a:lvl8pPr>
              <a:buNone/>
              <a:defRPr sz="2025" b="0">
                <a:solidFill>
                  <a:srgbClr val="163447"/>
                </a:solidFill>
                <a:latin typeface="DejaVu Sans"/>
                <a:ea typeface="DejaVu Sans"/>
                <a:cs typeface="DejaVu Sans"/>
              </a:defRPr>
            </a:lvl8pPr>
            <a:lvl9pPr>
              <a:buNone/>
              <a:defRPr sz="2025" b="0">
                <a:solidFill>
                  <a:srgbClr val="163447"/>
                </a:solidFill>
                <a:latin typeface="DejaVu Sans"/>
                <a:ea typeface="DejaVu Sans"/>
                <a:cs typeface="DejaVu Sans"/>
              </a:defRPr>
            </a:lvl9pPr>
          </a:lstStyle>
          <a:p xmlns:a="http://schemas.openxmlformats.org/drawingml/2006/main">
            <a:pPr>
              <a:buNone/>
              <a:defRPr sz="2025" b="0">
                <a:solidFill>
                  <a:srgbClr val="163447"/>
                </a:solidFill>
                <a:latin typeface="DejaVu Sans"/>
                <a:ea typeface="DejaVu Sans"/>
                <a:cs typeface="DejaVu Sans"/>
              </a:defRPr>
            </a:pPr>
            <a:r>
              <a:rPr sz="2025" b="0">
                <a:solidFill>
                  <a:srgbClr val="163447"/>
                </a:solidFill>
                <a:latin typeface="DejaVu Sans"/>
                <a:ea typeface="DejaVu Sans"/>
                <a:cs typeface="DejaVu Sans"/>
              </a:rPr>
              <a:t>Validar diseño y alcance. Implementar estructuras. Integrar Swing y PostgreSQL. Verificar reglas, concurrencia y rendimiento.</a:t>
            </a:r>
          </a:p>
        </p:txBody>
      </p:sp>
      <p:sp>
        <p:nvSpPr>
          <p:cNvPr id="7" name="texto-5">
            <a:extLst xmlns:a="http://schemas.openxmlformats.org/drawingml/2006/main">
              <a:ext uri="{FF2B5EF4-FFF2-40B4-BE49-F238E27FC236}">
                <a16:creationId xmlns:a16="http://schemas.microsoft.com/office/drawing/2014/main" id="{9245C70A-F8D5-49DA-95C6-A56E7BBA0FDE}"/>
              </a:ext>
            </a:extLst>
          </p:cNvPr>
          <p:cNvSpPr>
            <a:spLocks xmlns:a="http://schemas.openxmlformats.org/drawingml/2006/main" noGrp="1"/>
          </p:cNvSpPr>
          <p:nvPr/>
        </p:nvSpPr>
        <p:spPr>
          <a:xfrm xmlns:a="http://schemas.openxmlformats.org/drawingml/2006/main">
            <a:off x="609600" y="60674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2636D"/>
                </a:solidFill>
                <a:latin typeface="DejaVu Sans"/>
                <a:ea typeface="DejaVu Sans"/>
                <a:cs typeface="DejaVu Sans"/>
              </a:defRPr>
            </a:defPPr>
            <a:lvl1pPr>
              <a:buNone/>
              <a:defRPr sz="1350" b="0">
                <a:solidFill>
                  <a:srgbClr val="52636D"/>
                </a:solidFill>
                <a:latin typeface="DejaVu Sans"/>
                <a:ea typeface="DejaVu Sans"/>
                <a:cs typeface="DejaVu Sans"/>
              </a:defRPr>
            </a:lvl1pPr>
            <a:lvl2pPr>
              <a:buNone/>
              <a:defRPr sz="1350" b="0">
                <a:solidFill>
                  <a:srgbClr val="52636D"/>
                </a:solidFill>
                <a:latin typeface="DejaVu Sans"/>
                <a:ea typeface="DejaVu Sans"/>
                <a:cs typeface="DejaVu Sans"/>
              </a:defRPr>
            </a:lvl2pPr>
            <a:lvl3pPr>
              <a:buNone/>
              <a:defRPr sz="1350" b="0">
                <a:solidFill>
                  <a:srgbClr val="52636D"/>
                </a:solidFill>
                <a:latin typeface="DejaVu Sans"/>
                <a:ea typeface="DejaVu Sans"/>
                <a:cs typeface="DejaVu Sans"/>
              </a:defRPr>
            </a:lvl3pPr>
            <a:lvl4pPr>
              <a:buNone/>
              <a:defRPr sz="1350" b="0">
                <a:solidFill>
                  <a:srgbClr val="52636D"/>
                </a:solidFill>
                <a:latin typeface="DejaVu Sans"/>
                <a:ea typeface="DejaVu Sans"/>
                <a:cs typeface="DejaVu Sans"/>
              </a:defRPr>
            </a:lvl4pPr>
            <a:lvl5pPr>
              <a:buNone/>
              <a:defRPr sz="1350" b="0">
                <a:solidFill>
                  <a:srgbClr val="52636D"/>
                </a:solidFill>
                <a:latin typeface="DejaVu Sans"/>
                <a:ea typeface="DejaVu Sans"/>
                <a:cs typeface="DejaVu Sans"/>
              </a:defRPr>
            </a:lvl5pPr>
            <a:lvl6pPr>
              <a:buNone/>
              <a:defRPr sz="1350" b="0">
                <a:solidFill>
                  <a:srgbClr val="52636D"/>
                </a:solidFill>
                <a:latin typeface="DejaVu Sans"/>
                <a:ea typeface="DejaVu Sans"/>
                <a:cs typeface="DejaVu Sans"/>
              </a:defRPr>
            </a:lvl6pPr>
            <a:lvl7pPr>
              <a:buNone/>
              <a:defRPr sz="1350" b="0">
                <a:solidFill>
                  <a:srgbClr val="52636D"/>
                </a:solidFill>
                <a:latin typeface="DejaVu Sans"/>
                <a:ea typeface="DejaVu Sans"/>
                <a:cs typeface="DejaVu Sans"/>
              </a:defRPr>
            </a:lvl7pPr>
            <a:lvl8pPr>
              <a:buNone/>
              <a:defRPr sz="1350" b="0">
                <a:solidFill>
                  <a:srgbClr val="52636D"/>
                </a:solidFill>
                <a:latin typeface="DejaVu Sans"/>
                <a:ea typeface="DejaVu Sans"/>
                <a:cs typeface="DejaVu Sans"/>
              </a:defRPr>
            </a:lvl8pPr>
            <a:lvl9pPr>
              <a:buNone/>
              <a:defRPr sz="1350" b="0">
                <a:solidFill>
                  <a:srgbClr val="52636D"/>
                </a:solidFill>
                <a:latin typeface="DejaVu Sans"/>
                <a:ea typeface="DejaVu Sans"/>
                <a:cs typeface="DejaVu Sans"/>
              </a:defRPr>
            </a:lvl9pPr>
          </a:lstStyle>
          <a:p xmlns:a="http://schemas.openxmlformats.org/drawingml/2006/main">
            <a:pPr>
              <a:buNone/>
              <a:defRPr sz="1350" b="0">
                <a:solidFill>
                  <a:srgbClr val="52636D"/>
                </a:solidFill>
                <a:latin typeface="DejaVu Sans"/>
                <a:ea typeface="DejaVu Sans"/>
                <a:cs typeface="DejaVu Sans"/>
              </a:defRPr>
            </a:pPr>
            <a:r>
              <a:rPr sz="1350" b="0">
                <a:solidFill>
                  <a:srgbClr val="52636D"/>
                </a:solidFill>
                <a:latin typeface="DejaVu Sans"/>
                <a:ea typeface="DejaVu Sans"/>
                <a:cs typeface="DejaVu Sans"/>
              </a:rPr>
              <a:t>Riesgos: doble reserva, índices desactualizados, ciclos y traslados omitidos. Uso de IA declarado en el informe. Revisión grupal pendiente.</a:t>
            </a:r>
          </a:p>
        </p:txBody>
      </p:sp>
    </p:spTree>
    <p:extLst>
      <p:ext uri="{BB962C8B-B14F-4D97-AF65-F5344CB8AC3E}">
        <p14:creationId xmlns:p14="http://schemas.microsoft.com/office/powerpoint/2010/main" val="1026039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2026-10-18T22:29:11.9680000Z</dcterms:created>
  <dcterms:modified xsi:type="dcterms:W3CDTF">2026-10-18T22:29:11.9680000Z</dcterms:modified>
</coreProperties>
</file>