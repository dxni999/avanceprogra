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94ab93dc0c4d5b" /><Relationship Type="http://schemas.openxmlformats.org/officeDocument/2006/relationships/extended-properties" Target="/docProps/app.xml" Id="R663920c04c8e4e01" /><Relationship Type="http://schemas.openxmlformats.org/officeDocument/2006/relationships/officeDocument" Target="/ppt/presentation.xml" Id="R1ef94e2e29f342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f97873872248a5"/>
  </p:sldMasterIdLst>
  <p:notesMasterIdLst>
    <p:notesMasterId xmlns:r="http://schemas.openxmlformats.org/officeDocument/2006/relationships" r:id="Rc906890459cd4c1b"/>
  </p:notesMasterIdLst>
  <p:sldIdLst>
    <p:sldId xmlns:r="http://schemas.openxmlformats.org/officeDocument/2006/relationships" id="256" r:id="R38e29fbc0cbf4866"/>
    <p:sldId xmlns:r="http://schemas.openxmlformats.org/officeDocument/2006/relationships" id="257" r:id="R737f38eb24f844d5"/>
    <p:sldId xmlns:r="http://schemas.openxmlformats.org/officeDocument/2006/relationships" id="258" r:id="Rdf1b1be7091a4ab0"/>
    <p:sldId xmlns:r="http://schemas.openxmlformats.org/officeDocument/2006/relationships" id="259" r:id="Ra9813e979bd84f23"/>
    <p:sldId xmlns:r="http://schemas.openxmlformats.org/officeDocument/2006/relationships" id="260" r:id="R13be76aa63e84134"/>
    <p:sldId xmlns:r="http://schemas.openxmlformats.org/officeDocument/2006/relationships" id="261" r:id="R7a50fddc341440d9"/>
    <p:sldId xmlns:r="http://schemas.openxmlformats.org/officeDocument/2006/relationships" id="262" r:id="R29873640be094b15"/>
    <p:sldId xmlns:r="http://schemas.openxmlformats.org/officeDocument/2006/relationships" id="263" r:id="Refe0e633653e4762"/>
    <p:sldId xmlns:r="http://schemas.openxmlformats.org/officeDocument/2006/relationships" id="264" r:id="R706fbefed9144b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7c70ca899f48ea" /><Relationship Type="http://schemas.openxmlformats.org/officeDocument/2006/relationships/slideMaster" Target="/ppt/slideMasters/slideMaster1.xml" Id="Ra1f97873872248a5" /><Relationship Type="http://schemas.openxmlformats.org/officeDocument/2006/relationships/notesMaster" Target="/ppt/notesMasters/notesMaster1.xml" Id="Rc906890459cd4c1b" /><Relationship Type="http://schemas.openxmlformats.org/officeDocument/2006/relationships/presProps" Target="/ppt/presProps.xml" Id="R6454e13c2eb34cb1" /><Relationship Type="http://schemas.openxmlformats.org/officeDocument/2006/relationships/tableStyles" Target="/ppt/tableStyles.xml" Id="Rf230cdf4029b4841" /><Relationship Type="http://schemas.openxmlformats.org/officeDocument/2006/relationships/slide" Target="/ppt/slides/slide1.xml" Id="R38e29fbc0cbf4866" /><Relationship Type="http://schemas.openxmlformats.org/officeDocument/2006/relationships/slide" Target="/ppt/slides/slide2.xml" Id="R737f38eb24f844d5" /><Relationship Type="http://schemas.openxmlformats.org/officeDocument/2006/relationships/slide" Target="/ppt/slides/slide3.xml" Id="Rdf1b1be7091a4ab0" /><Relationship Type="http://schemas.openxmlformats.org/officeDocument/2006/relationships/slide" Target="/ppt/slides/slide4.xml" Id="Ra9813e979bd84f23" /><Relationship Type="http://schemas.openxmlformats.org/officeDocument/2006/relationships/slide" Target="/ppt/slides/slide5.xml" Id="R13be76aa63e84134" /><Relationship Type="http://schemas.openxmlformats.org/officeDocument/2006/relationships/slide" Target="/ppt/slides/slide6.xml" Id="R7a50fddc341440d9" /><Relationship Type="http://schemas.openxmlformats.org/officeDocument/2006/relationships/slide" Target="/ppt/slides/slide7.xml" Id="R29873640be094b15" /><Relationship Type="http://schemas.openxmlformats.org/officeDocument/2006/relationships/slide" Target="/ppt/slides/slide8.xml" Id="Refe0e633653e4762" /><Relationship Type="http://schemas.openxmlformats.org/officeDocument/2006/relationships/slide" Target="/ppt/slides/slide9.xml" Id="R706fbefed9144b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55ac81e6544f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ee55f5d1d94aaa" /><Relationship Type="http://schemas.openxmlformats.org/officeDocument/2006/relationships/notesMaster" Target="/ppt/notesMasters/notesMaster1.xml" Id="R9c276471d33f4c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658886672d491a" /><Relationship Type="http://schemas.openxmlformats.org/officeDocument/2006/relationships/notesMaster" Target="/ppt/notesMasters/notesMaster1.xml" Id="R4fc4b490f5d246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00536322a547d4" /><Relationship Type="http://schemas.openxmlformats.org/officeDocument/2006/relationships/notesMaster" Target="/ppt/notesMasters/notesMaster1.xml" Id="R281e1c220e1940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233da919084ee4" /><Relationship Type="http://schemas.openxmlformats.org/officeDocument/2006/relationships/notesMaster" Target="/ppt/notesMasters/notesMaster1.xml" Id="R441ded6166554d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7cf6f2a2eb4e8c" /><Relationship Type="http://schemas.openxmlformats.org/officeDocument/2006/relationships/notesMaster" Target="/ppt/notesMasters/notesMaster1.xml" Id="Rdff3cd5ae78047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2c632776194518" /><Relationship Type="http://schemas.openxmlformats.org/officeDocument/2006/relationships/notesMaster" Target="/ppt/notesMasters/notesMaster1.xml" Id="R7d387c82fcf143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6b8bfdce484666" /><Relationship Type="http://schemas.openxmlformats.org/officeDocument/2006/relationships/notesMaster" Target="/ppt/notesMasters/notesMaster1.xml" Id="Re60f24d8fdda44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8bb0dd23b84502" /><Relationship Type="http://schemas.openxmlformats.org/officeDocument/2006/relationships/notesMaster" Target="/ppt/notesMasters/notesMaster1.xml" Id="R38a9a7d29f574d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3b0fd04d6245b9" /><Relationship Type="http://schemas.openxmlformats.org/officeDocument/2006/relationships/notesMaster" Target="/ppt/notesMasters/notesMaster1.xml" Id="Re200a9b9a0f44f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Daniel. Tiempo: 30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Presentamos el Progreso 1 del proyecto Dizeo. El problema es coordinar actividades y trabajadores entre obras. Esta entrega formula el problema, define cinco módulos y el UML, compara dos alternativas de estructuras de datos y selecciona una para la implementación de Progreso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Daniel. Tiempo: 90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El caso reúne varias obras que comparten trabajadores. El problema consiste en distribuir actividades considerando al mismo tiempo la especialidad, la jornada, las asignaciones previas y la urgencia. La información dispersa puede producir dobles asignaciones o dejar actividades sin responsable. Durdyev y Hosseini relacionan retrasos en construcción con problemas de coordinación, comunicación y planificación. Gómez Sánchez y colaboradores explican que varios proyectos deben distribuir recursos limitados. Hendrickson destaca que el calendario necesita actualizarse al cambiar las actividades. Ballard estudia la fiabilidad de la planificación y la coordinación entre especialistas. Estas fuentes sustentan el problema. El administrador consulta compromisos, el supervisor organiza el trabajo y los trabajadores ejecutan las actividades. Los clientes se ven afectados por las fechas de entrega. El informe desarrolla este contexto antes de proponer estructuras de datos.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>Ballard, H. G. (2000). The last planner system of production control [Tesis doctoral, University of Birmingham]. UBIRA ETheses. https://etheses.bham.ac.uk/id/eprint/4789/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Durdyev, S., &amp; Hosseini, M. R. (2020). Causes of delays on construction projects: A comprehensive list. International Journal of Managing Projects in Business, 13(1), 20–46. https://doi.org/10.1108/IJMPB-09-2018-0178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Gómez Sánchez, M., Lalla-Ruiz, E., Fernández Gil, A., Castro, C., &amp; Voß, S. (2023). Resource-constrained multi-project scheduling problem: A survey. European Journal of Operational Research, 309(3), 958–976. https://doi.org/10.1016/j.ejor.2022.09.033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Hendrickson, C. (2008). Project management for construction: Fundamental concepts for owners, engineers, architects and builders (versión 2.2, cap. 11). Carnegie Mellon University. https://www.cmu.edu/cee/projects/PMbook/11_Advanced_Scheduling_Techniques.html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Esteban. Tiempo: 60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El alcance es de cinco obras, veinte trabajadores, cien actividades y cinco usuarios. Los usuarios organizan o consultan la información; no representan a todos los trabajadores. Medimos actividades pendientes y terminadas, horas asignadas, cruces y avance. La especialidad, el estado y la prioridad son variables cualitativas. El horario final debe ser posterior al inicial y ambos deben estar dentro de la jornada. Un trabajador no puede tener asignaciones activas que se superpongan. Primero se atiende prioridad alta, después media y luego baja. Los empates se resuelven por fecha límite más próxima y código. La prioridad no permite ignorar las restricciones del trabajador.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Esteban. Tiempo: 60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Los módulos se relacionan alrededor de las actividades. Obras organiza los frentes de trabajo y sus tareas. Trabajadores permite buscar personal por código o especialidad y revisar la jornada. Actividades determina el orden de atención. Asignación relaciona una actividad con una persona y verifica sus horarios. Seguimiento registra el avance y permite identificar pendientes y vencimientos. Cada módulo contiene cuatro operaciones: además del registro de datos, hay búsqueda, filtrado, ordenamiento, priorización, asignación y cálculo. Daniel asume Obras y Seguimiento; Esteban, Trabajadores y Asignación; y Julián, Actividades y prioridades.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Julián. Tiempo: 80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El modelo utiliza cinco clases de dominio. Obra contiene sus actividades mediante composición: cada actividad pertenece a una sola obra. Actividad conserva especialidad, prioridad, fecha límite, estado y avance. Trabajador permite comprobar compatibilidad y disponibilidad. Asignacion relaciona una actividad con un trabajador en una fecha y horario, y registra al usuario responsable. Usuario representa a quien opera la información. Una actividad puede conservar varias asignaciones, pero como máximo una activa. Los trabajadores y usuarios pueden relacionarse con varias asignaciones. No se agrega herencia porque no existe una relación de especialización que la justifique. Las clases corresponden a los cinco módulos y el seguimiento usa el avance de Actividad y su promedio en Obra. El repositorio incluye el diagrama editable para revisar atributos, métodos y multiplicidades.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Julián. Tiempo: 70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 alternativa A conserva listas y recorre sus elementos para buscar por código o elegir la próxima actividad. El listado completo se obtiene ordenando una copia. La alternativa B utiliza HashMap para consultar entidades por código y PriorityQueue para las actividades pendientes y sin asignación activa. El comparador aplica prioridad, fecha límite y código. peek consulta la cabecera sin retirarla y poll extrae la próxima actividad. En las dos alternativas las asignaciones se recorren para comprobar cruces. La cola de prioridad no aplica únicamente el orden de llegada: usa el comparador. Sus iteradores no garantizan el orden, por lo que el listado completo necesita una copia y extracciones. Si cambia una prioridad, se retira el objeto antes de modificarlo y se vuelve a insertar.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>Oracle. (s. f.-a). HashMap (Java SE 21 &amp; JDK 21). https://docs.oracle.com/en/java/javase/21/docs/api/java.base/java/util/HashMap.html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Oracle. (s. f.-b). PriorityQueue (Java SE 21 &amp; JDK 21). https://docs.oracle.com/en/java/javase/21/docs/api/java.base/java/util/PriorityQueue.html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Julián. Tiempo: 30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 mejora de B se concentra en la búsqueda por código y en consultar o extraer la próxima pendiente. Listar todo el orden y validar horarios mantienen sus costos. HashMap tiene costo constante esperado con dispersión adecuada; se conserva O(w) como cota conservadora en peor caso. Cambiar una prioridad arbitraria cuesta O(q) porque retirar un objeto de PriorityQueue es lineal. La memoria total es lineal para ambas propuestas.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>Oracle. (s. f.-a). HashMap (Java SE 21 &amp; JDK 21). https://docs.oracle.com/en/java/javase/21/docs/api/java.base/java/util/HashMap.html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Oracle. (s. f.-b). PriorityQueue (Java SE 21 &amp; JDK 21). https://docs.oracle.com/en/java/javase/21/docs/api/java.base/java/util/PriorityQueue.html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Daniel. Tiempo: 60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Seleccionamos B porque las estructuras corresponden a las operaciones que más nos interesan: identificar entidades por código y atender la próxima actividad pendiente. Esto permite trabajar con HashMap y colas de prioridad estándar de Java. Con cien actividades ambas opciones son viables; no necesitamos aumentar el tamaño del caso para justificar la decisión. B usa memoria lineal, aunque los mapas y la cola tienen costos internos adicionales. La mantenibilidad depende de usar un solo comparador y controlar las actualizaciones de prioridad. La especialidad y el horario se validan antes de confirmar. Solo después se retira la actividad de la cola de atención. No se afirma que la prioridad calcule un calendario óptimo.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>Oracle. (s. f.-a). HashMap (Java SE 21 &amp; JDK 21). https://docs.oracle.com/en/java/javase/21/docs/api/java.base/java/util/HashMap.html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Oracle. (s. f.-b). PriorityQueue (Java SE 21 &amp; JDK 21). https://docs.oracle.com/en/java/javase/21/docs/api/java.base/java/util/PriorityQueue.html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Expositor: Esteban. Tiempo: 60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Daniel implementará Obras y Seguimiento. Esteban asumirá Trabajadores y Asignación. Julián trabajará Actividades, el comparador y la cola de prioridad, además del UML y la comparación técnica. La integración y la revisión serán compartidas. El repositorio inicial contiene el README y las carpetas del informe, presentación, UML editable y observaciones del docente. Para Progreso 2 se mitigarán los cruces revisando intervalos y jornada, los empates con un comparador único, la cola desactualizada retirando y reinsertando y los datos incorrectos con validaciones. Se conservarán las observaciones del aula virtual. ChatGPT apoyó el análisis, la redacción y el diseño preliminar; el uso está declarado en el informe y corresponde al equipo revisar, adaptar y comprender el contenido.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APA 7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deb056114449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7e797aee3e41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0679a28f5345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5927e111194a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4a765b1ac44c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9686a4e3c243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DB539B-31E4-47FA-B986-EA3F69D3C6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181629-21F7-4285-A8C3-621F2237087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558E8F1-E8A4-4CA1-B64A-B00D1F6E37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9C82C05-DA3F-4361-9AA8-132774CE2E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636CAC7-839D-49BD-AD1D-40DF9D56DA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259680E-9D3E-4CA1-A3CC-C78C9D7D7A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DA163DB-7DA2-4535-BBA5-A8C8D6904F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D185E31-0829-430C-95E1-D1FAB0E6A86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55D815-EE0D-4C16-A16B-C3A72E636E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90F5780-28AA-499E-8A6B-41ABB18349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133a0d04d24cda" /><Relationship Type="http://schemas.openxmlformats.org/officeDocument/2006/relationships/slideLayout" Target="/ppt/slideLayouts/slideLayout1.xml" Id="R19eadbf57edf4d05" /><Relationship Type="http://schemas.openxmlformats.org/officeDocument/2006/relationships/slideLayout" Target="/ppt/slideLayouts/slideLayout2.xml" Id="R1391450c03d44043" /><Relationship Type="http://schemas.openxmlformats.org/officeDocument/2006/relationships/slideLayout" Target="/ppt/slideLayouts/slideLayout3.xml" Id="Rff1b307eb20b4f77" /><Relationship Type="http://schemas.openxmlformats.org/officeDocument/2006/relationships/slideLayout" Target="/ppt/slideLayouts/slideLayout4.xml" Id="R12b0010cdd1e4ad9" /><Relationship Type="http://schemas.openxmlformats.org/officeDocument/2006/relationships/slideLayout" Target="/ppt/slideLayouts/slideLayout5.xml" Id="Rc03f405cd1964557" /><Relationship Type="http://schemas.openxmlformats.org/officeDocument/2006/relationships/slideLayout" Target="/ppt/slideLayouts/slideLayout6.xml" Id="R764fc7be9a9746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eadbf57edf4d05"/>
    <p:sldLayoutId xmlns:r="http://schemas.openxmlformats.org/officeDocument/2006/relationships" id="2147483650" r:id="R1391450c03d44043"/>
    <p:sldLayoutId xmlns:r="http://schemas.openxmlformats.org/officeDocument/2006/relationships" id="2147483651" r:id="Rff1b307eb20b4f77"/>
    <p:sldLayoutId xmlns:r="http://schemas.openxmlformats.org/officeDocument/2006/relationships" id="2147483652" r:id="R12b0010cdd1e4ad9"/>
    <p:sldLayoutId xmlns:r="http://schemas.openxmlformats.org/officeDocument/2006/relationships" id="2147483653" r:id="Rc03f405cd1964557"/>
    <p:sldLayoutId xmlns:r="http://schemas.openxmlformats.org/officeDocument/2006/relationships" id="2147483654" r:id="R764fc7be9a9746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386b371ff646b4" /><Relationship Type="http://schemas.openxmlformats.org/officeDocument/2006/relationships/notesSlide" Target="/ppt/notesSlides/notesSlide1.xml" Id="Rebf40bcefb8648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ee69c96dc9419a" /><Relationship Type="http://schemas.openxmlformats.org/officeDocument/2006/relationships/notesSlide" Target="/ppt/notesSlides/notesSlide2.xml" Id="R2804b9dcd7ab45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76b13260aa485a" /><Relationship Type="http://schemas.openxmlformats.org/officeDocument/2006/relationships/notesSlide" Target="/ppt/notesSlides/notesSlide3.xml" Id="R82c2a2b9a62342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0e6d0350d429c" /><Relationship Type="http://schemas.openxmlformats.org/officeDocument/2006/relationships/notesSlide" Target="/ppt/notesSlides/notesSlide4.xml" Id="Rd7ee91461d2a47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4607742e4648f7" /><Relationship Type="http://schemas.openxmlformats.org/officeDocument/2006/relationships/notesSlide" Target="/ppt/notesSlides/notesSlide5.xml" Id="R55e43f61181d4f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c688a2f4c8489a" /><Relationship Type="http://schemas.openxmlformats.org/officeDocument/2006/relationships/notesSlide" Target="/ppt/notesSlides/notesSlide6.xml" Id="R6c951c5667ac4c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64d8715a214694" /><Relationship Type="http://schemas.openxmlformats.org/officeDocument/2006/relationships/notesSlide" Target="/ppt/notesSlides/notesSlide7.xml" Id="R7f365799e0484a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cc76f5f3cb4c56" /><Relationship Type="http://schemas.openxmlformats.org/officeDocument/2006/relationships/notesSlide" Target="/ppt/notesSlides/notesSlide8.xml" Id="R7675eaaac90a45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f2afc6f0df4188" /><Relationship Type="http://schemas.openxmlformats.org/officeDocument/2006/relationships/notesSlide" Target="/ppt/notesSlides/notesSlide9.xml" Id="R43e3acacf38944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o-0">
            <a:extLst xmlns:a="http://schemas.openxmlformats.org/drawingml/2006/main">
              <a:ext uri="{FF2B5EF4-FFF2-40B4-BE49-F238E27FC236}">
                <a16:creationId xmlns:a16="http://schemas.microsoft.com/office/drawing/2014/main" id="{55F202E6-ACCA-4BFA-80AF-932C8AB1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57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Dizeo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4022CF5F-0A5D-4F96-B668-504DFE9A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668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Planificación y asignación</a:t>
            </a:r>
          </a:p>
          <a:p xmlns:a="http://schemas.openxmlformats.org/drawingml/2006/main">
            <a:pPr>
              <a:def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de trabajadores en obras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8EFD3096-4A5A-45DF-8EB1-EA285CF4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Programación III</a:t>
            </a:r>
          </a:p>
          <a:p xmlns:a="http://schemas.openxmlformats.org/drawingml/2006/main">
            <a:pPr>
              <a:def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Análisis, diseño y selección de la solución</a:t>
            </a:r>
          </a:p>
        </p:txBody>
      </p:sp>
      <p:sp>
        <p:nvSpPr>
          <p:cNvPr id="4" name="texto-3">
            <a:extLst xmlns:a="http://schemas.openxmlformats.org/drawingml/2006/main">
              <a:ext uri="{FF2B5EF4-FFF2-40B4-BE49-F238E27FC236}">
                <a16:creationId xmlns:a16="http://schemas.microsoft.com/office/drawing/2014/main" id="{7AD20117-E95E-4DC9-B92B-80055D74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Daniel Valarezo   Esteban Figueroa   Julián Jiménez</a:t>
            </a:r>
          </a:p>
        </p:txBody>
      </p:sp>
      <p:sp>
        <p:nvSpPr>
          <p:cNvPr id="5" name="texto-4">
            <a:extLst xmlns:a="http://schemas.openxmlformats.org/drawingml/2006/main">
              <a:ext uri="{FF2B5EF4-FFF2-40B4-BE49-F238E27FC236}">
                <a16:creationId xmlns:a16="http://schemas.microsoft.com/office/drawing/2014/main" id="{2BD55316-7565-48A7-9D7E-437EF647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Quito, Ecuador   18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6774977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o-0">
            <a:extLst xmlns:a="http://schemas.openxmlformats.org/drawingml/2006/main">
              <a:ext uri="{FF2B5EF4-FFF2-40B4-BE49-F238E27FC236}">
                <a16:creationId xmlns:a16="http://schemas.microsoft.com/office/drawing/2014/main" id="{0A07EBFF-720F-4B77-B45B-69EB1DF4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Problema y actores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74E125B6-C57E-43C6-A67C-E81B92FB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5818C21A-FC47-446F-80A5-CEA15F21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4" name="texto-3">
            <a:extLst xmlns:a="http://schemas.openxmlformats.org/drawingml/2006/main">
              <a:ext uri="{FF2B5EF4-FFF2-40B4-BE49-F238E27FC236}">
                <a16:creationId xmlns:a16="http://schemas.microsoft.com/office/drawing/2014/main" id="{0203E4F2-46EB-4BC3-A8EF-F1A96368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Necesidad</a:t>
            </a:r>
          </a:p>
        </p:txBody>
      </p:sp>
      <p:sp>
        <p:nvSpPr>
          <p:cNvPr id="5" name="texto-4">
            <a:extLst xmlns:a="http://schemas.openxmlformats.org/drawingml/2006/main">
              <a:ext uri="{FF2B5EF4-FFF2-40B4-BE49-F238E27FC236}">
                <a16:creationId xmlns:a16="http://schemas.microsoft.com/office/drawing/2014/main" id="{FEF44F2D-1B4E-4B37-B640-4EAE1E2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24000"/>
            <a:ext cx="8048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Decidir qué actividad atender primero y qué trabajador puede realizarla en un horario disponible.</a:t>
            </a:r>
          </a:p>
        </p:txBody>
      </p:sp>
      <p:sp>
        <p:nvSpPr>
          <p:cNvPr id="6" name="texto-5">
            <a:extLst xmlns:a="http://schemas.openxmlformats.org/drawingml/2006/main">
              <a:ext uri="{FF2B5EF4-FFF2-40B4-BE49-F238E27FC236}">
                <a16:creationId xmlns:a16="http://schemas.microsoft.com/office/drawing/2014/main" id="{DB8AFF2C-737C-4055-83F8-A0A9331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Actores</a:t>
            </a:r>
          </a:p>
        </p:txBody>
      </p:sp>
      <p:sp>
        <p:nvSpPr>
          <p:cNvPr id="7" name="texto-6">
            <a:extLst xmlns:a="http://schemas.openxmlformats.org/drawingml/2006/main">
              <a:ext uri="{FF2B5EF4-FFF2-40B4-BE49-F238E27FC236}">
                <a16:creationId xmlns:a16="http://schemas.microsoft.com/office/drawing/2014/main" id="{B0E4CEB4-AEC9-4B9F-8996-6730F585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2750"/>
            <a:ext cx="8048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Administrador: consulta obras.</a:t>
            </a:r>
          </a:p>
          <a:p xmlns:a="http://schemas.openxmlformats.org/drawingml/2006/main">
            <a: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Supervisor: prioriza y asigna.</a:t>
            </a:r>
          </a:p>
          <a:p xmlns:a="http://schemas.openxmlformats.org/drawingml/2006/main">
            <a: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Trabajadores: ejecutan y comunican avances.</a:t>
            </a:r>
          </a:p>
        </p:txBody>
      </p:sp>
      <p:sp>
        <p:nvSpPr>
          <p:cNvPr id="8" name="texto-7">
            <a:extLst xmlns:a="http://schemas.openxmlformats.org/drawingml/2006/main">
              <a:ext uri="{FF2B5EF4-FFF2-40B4-BE49-F238E27FC236}">
                <a16:creationId xmlns:a16="http://schemas.microsoft.com/office/drawing/2014/main" id="{323E4B62-2B9C-4E18-9F53-A7BA3DB3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Causas y consecuencias</a:t>
            </a:r>
          </a:p>
        </p:txBody>
      </p:sp>
      <p:sp>
        <p:nvSpPr>
          <p:cNvPr id="9" name="texto-8">
            <a:extLst xmlns:a="http://schemas.openxmlformats.org/drawingml/2006/main">
              <a:ext uri="{FF2B5EF4-FFF2-40B4-BE49-F238E27FC236}">
                <a16:creationId xmlns:a16="http://schemas.microsoft.com/office/drawing/2014/main" id="{09C2CA37-A378-45BC-956C-2E1A5D28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67250"/>
            <a:ext cx="8048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Información dispersa y prioridades poco claras pueden generar cruces de horario, esperas y actividades atrasadas.</a:t>
            </a:r>
          </a:p>
        </p:txBody>
      </p:sp>
    </p:spTree>
    <p:extLst>
      <p:ext uri="{BB962C8B-B14F-4D97-AF65-F5344CB8AC3E}">
        <p14:creationId xmlns:p14="http://schemas.microsoft.com/office/powerpoint/2010/main" val="10430890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o-0">
            <a:extLst xmlns:a="http://schemas.openxmlformats.org/drawingml/2006/main">
              <a:ext uri="{FF2B5EF4-FFF2-40B4-BE49-F238E27FC236}">
                <a16:creationId xmlns:a16="http://schemas.microsoft.com/office/drawing/2014/main" id="{BFC43297-8252-45CA-96CC-C381F86A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Alcance, variables y restricciones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C5492313-CF74-4787-B631-E66B6573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90A6FCF6-AECF-4CB7-A285-498E3537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4" name="texto-3">
            <a:extLst xmlns:a="http://schemas.openxmlformats.org/drawingml/2006/main">
              <a:ext uri="{FF2B5EF4-FFF2-40B4-BE49-F238E27FC236}">
                <a16:creationId xmlns:a16="http://schemas.microsoft.com/office/drawing/2014/main" id="{2ED1FC48-3777-4CDD-A5AA-D0F4AAAA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5 obras   ·   20 trabajadores   ·   100 actividades   ·   5 usuarios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80460-F5DE-41BE-B3FD-240C3671525E}"/>
              </a:ext>
            </a:extLst>
          </p:cNvPr>
          <p:cNvGraphicFramePr/>
          <p:nvPr/>
        </p:nvGraphicFramePr>
        <p:xfrm>
          <a:off xmlns:a="http://schemas.openxmlformats.org/drawingml/2006/main" x="609600" y="2143125"/>
          <a:ext xmlns:a="http://schemas.openxmlformats.org/drawingml/2006/main" cx="109728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401050"/>
              </a:tblGrid>
              <a:tr h="7302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Tipo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Variables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</a:tr>
              <a:tr h="7302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Cuantitativas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Pendientes y terminadas, horas asignadas, cruces y porcentaje de avance.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02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Cualitativas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Especialidad, prioridad y estado de la actividad.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</a:tbl>
          </a:graphicData>
        </a:graphic>
      </p:graphicFrame>
      <p:sp>
        <p:nvSpPr>
          <p:cNvPr id="6" name="texto-4">
            <a:extLst xmlns:a="http://schemas.openxmlformats.org/drawingml/2006/main">
              <a:ext uri="{FF2B5EF4-FFF2-40B4-BE49-F238E27FC236}">
                <a16:creationId xmlns:a16="http://schemas.microsoft.com/office/drawing/2014/main" id="{8067547D-93D3-4DED-B3E0-C929E4A1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Restricciones</a:t>
            </a:r>
          </a:p>
        </p:txBody>
      </p:sp>
      <p:sp>
        <p:nvSpPr>
          <p:cNvPr id="7" name="texto-5">
            <a:extLst xmlns:a="http://schemas.openxmlformats.org/drawingml/2006/main">
              <a:ext uri="{FF2B5EF4-FFF2-40B4-BE49-F238E27FC236}">
                <a16:creationId xmlns:a16="http://schemas.microsoft.com/office/drawing/2014/main" id="{D251EDAC-D427-4CAA-9316-A256991E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Especialidad compatible. Horarios dentro de la jornada y sin cruces. Prioridad alta, media y baja; desempate por fecha límite y código.</a:t>
            </a:r>
          </a:p>
        </p:txBody>
      </p:sp>
    </p:spTree>
    <p:extLst>
      <p:ext uri="{BB962C8B-B14F-4D97-AF65-F5344CB8AC3E}">
        <p14:creationId xmlns:p14="http://schemas.microsoft.com/office/powerpoint/2010/main" val="5224217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o-0">
            <a:extLst xmlns:a="http://schemas.openxmlformats.org/drawingml/2006/main">
              <a:ext uri="{FF2B5EF4-FFF2-40B4-BE49-F238E27FC236}">
                <a16:creationId xmlns:a16="http://schemas.microsoft.com/office/drawing/2014/main" id="{426A1F0E-BB45-48CD-ADEA-9788DCE5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Cinco módulos funcionales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14448B60-CB5C-4049-A5B8-A460EAD4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5983716D-D68C-4A37-A82A-92DD40B4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8721A-5777-4A36-8098-F3EDD972E9C8}"/>
              </a:ext>
            </a:extLst>
          </p:cNvPr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6286500"/>
                <a:gridCol w="2162175"/>
              </a:tblGrid>
              <a:tr h="74612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Módulo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Operaciones principales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Responsable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</a:tr>
              <a:tr h="74612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Obras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Buscar, filtrar por estado, ordenar entregas y consultar pendientes.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Daniel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Trabajadores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Buscar, filtrar por especialidad, consultar disponibilidad y calcular carga.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Esteban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74612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Actividades y prioridades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Clasificar, ordenar, consultar la próxima y actualizar prioridad.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Julián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Asignación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Consultar candidatos, detectar cruces, asignar y reprogramar.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Esteban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74612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Seguimiento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Actualizar avance, detectar vencidas, contar por estado y calcular avance.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Daniel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o-3">
            <a:extLst xmlns:a="http://schemas.openxmlformats.org/drawingml/2006/main">
              <a:ext uri="{FF2B5EF4-FFF2-40B4-BE49-F238E27FC236}">
                <a16:creationId xmlns:a16="http://schemas.microsoft.com/office/drawing/2014/main" id="{382B5FF9-F412-4710-B58F-2289C379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Cada módulo incluye propósito, actor, datos, cuatro operaciones, reglas y relación con los demás.</a:t>
            </a:r>
          </a:p>
        </p:txBody>
      </p:sp>
    </p:spTree>
    <p:extLst>
      <p:ext uri="{BB962C8B-B14F-4D97-AF65-F5344CB8AC3E}">
        <p14:creationId xmlns:p14="http://schemas.microsoft.com/office/powerpoint/2010/main" val="17243490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E95A9-6A24-4B27-893C-3878EAD7F12F}"/>
              </a:ext>
            </a:extLst>
          </p:cNvPr>
          <p:cNvCxnSpPr>
            <a:stCxn xmlns:a="http://schemas.openxmlformats.org/drawingml/2006/main" id="16" idx="0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9486900" y="452437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36D"/>
            </a:solidFill>
            <a:prstDash val="soli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AE945C-2916-4585-93CD-6123A08F100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800600" y="381000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36D"/>
            </a:solidFill>
            <a:prstDash val="soli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6222E0-5281-4067-A9AA-D3C6F704ACD1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486900" y="2762250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36D"/>
            </a:solidFill>
            <a:prstDash val="soli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B737BE-44B3-434F-9396-28E89FD1D37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800600" y="2047875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36D"/>
            </a:solidFill>
            <a:prstDash val="solid"/>
          </a:ln>
        </p:spPr>
      </p:cxnSp>
      <p:sp>
        <p:nvSpPr>
          <p:cNvPr id="29" name="texto-0">
            <a:extLst xmlns:a="http://schemas.openxmlformats.org/drawingml/2006/main">
              <a:ext uri="{FF2B5EF4-FFF2-40B4-BE49-F238E27FC236}">
                <a16:creationId xmlns:a16="http://schemas.microsoft.com/office/drawing/2014/main" id="{AC86B2A0-3591-432F-A31F-D2970513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UML preliminar de cinco clases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E1F8D564-FCF1-4422-9AD4-CFD6DACB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7B19D0FF-BE83-4887-8D97-806E907E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4" name="clase-Obra">
            <a:extLst xmlns:a="http://schemas.openxmlformats.org/drawingml/2006/main">
              <a:ext uri="{FF2B5EF4-FFF2-40B4-BE49-F238E27FC236}">
                <a16:creationId xmlns:a16="http://schemas.microsoft.com/office/drawing/2014/main" id="{C8FC7D24-7EB4-4D6A-A43D-B3FEEBDB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4191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5"/>
          </a:solidFill>
          <a:ln xmlns:a="http://schemas.openxmlformats.org/drawingml/2006/main" w="9525">
            <a:solidFill>
              <a:srgbClr val="52636D"/>
            </a:solidFill>
            <a:prstDash val="solid"/>
          </a:ln>
        </p:spPr>
      </p:sp>
      <p:sp>
        <p:nvSpPr>
          <p:cNvPr id="5" name="texto-4">
            <a:extLst xmlns:a="http://schemas.openxmlformats.org/drawingml/2006/main">
              <a:ext uri="{FF2B5EF4-FFF2-40B4-BE49-F238E27FC236}">
                <a16:creationId xmlns:a16="http://schemas.microsoft.com/office/drawing/2014/main" id="{CCCD5E93-3030-4E2F-B65D-5B299981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3924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Obra</a:t>
            </a:r>
          </a:p>
        </p:txBody>
      </p:sp>
      <p:sp>
        <p:nvSpPr>
          <p:cNvPr id="6" name="texto-5">
            <a:extLst xmlns:a="http://schemas.openxmlformats.org/drawingml/2006/main">
              <a:ext uri="{FF2B5EF4-FFF2-40B4-BE49-F238E27FC236}">
                <a16:creationId xmlns:a16="http://schemas.microsoft.com/office/drawing/2014/main" id="{52D1096C-3BE2-4537-BF55-C0A94DC7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924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codigo, fechaEntrega, estado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buscarActividad(codigo)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calcularAvance()</a:t>
            </a:r>
          </a:p>
        </p:txBody>
      </p:sp>
      <p:sp>
        <p:nvSpPr>
          <p:cNvPr id="7" name="clase-Actividad">
            <a:extLst xmlns:a="http://schemas.openxmlformats.org/drawingml/2006/main">
              <a:ext uri="{FF2B5EF4-FFF2-40B4-BE49-F238E27FC236}">
                <a16:creationId xmlns:a16="http://schemas.microsoft.com/office/drawing/2014/main" id="{48F759B7-C358-48B9-85D7-03B894C0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333500"/>
            <a:ext cx="4191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5"/>
          </a:solidFill>
          <a:ln xmlns:a="http://schemas.openxmlformats.org/drawingml/2006/main" w="9525">
            <a:solidFill>
              <a:srgbClr val="52636D"/>
            </a:solidFill>
            <a:prstDash val="solid"/>
          </a:ln>
        </p:spPr>
      </p:sp>
      <p:sp>
        <p:nvSpPr>
          <p:cNvPr id="8" name="texto-7">
            <a:extLst xmlns:a="http://schemas.openxmlformats.org/drawingml/2006/main">
              <a:ext uri="{FF2B5EF4-FFF2-40B4-BE49-F238E27FC236}">
                <a16:creationId xmlns:a16="http://schemas.microsoft.com/office/drawing/2014/main" id="{E0444B3F-C349-43B3-8DA1-46CD1878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3924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Actividad</a:t>
            </a:r>
          </a:p>
        </p:txBody>
      </p:sp>
      <p:sp>
        <p:nvSpPr>
          <p:cNvPr id="9" name="texto-8">
            <a:extLst xmlns:a="http://schemas.openxmlformats.org/drawingml/2006/main">
              <a:ext uri="{FF2B5EF4-FFF2-40B4-BE49-F238E27FC236}">
                <a16:creationId xmlns:a16="http://schemas.microsoft.com/office/drawing/2014/main" id="{459CA74C-C256-4ABA-90F2-F980B34C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3924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prioridad, fechaLimite, estado, avance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cambiarPrioridad(valor)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actualizarAvance(valor)</a:t>
            </a:r>
          </a:p>
        </p:txBody>
      </p:sp>
      <p:sp>
        <p:nvSpPr>
          <p:cNvPr id="10" name="clase-Trabajador">
            <a:extLst xmlns:a="http://schemas.openxmlformats.org/drawingml/2006/main">
              <a:ext uri="{FF2B5EF4-FFF2-40B4-BE49-F238E27FC236}">
                <a16:creationId xmlns:a16="http://schemas.microsoft.com/office/drawing/2014/main" id="{37D50329-439C-416A-9399-5604AA4C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191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5"/>
          </a:solidFill>
          <a:ln xmlns:a="http://schemas.openxmlformats.org/drawingml/2006/main" w="9525">
            <a:solidFill>
              <a:srgbClr val="52636D"/>
            </a:solidFill>
            <a:prstDash val="solid"/>
          </a:ln>
        </p:spPr>
      </p:sp>
      <p:sp>
        <p:nvSpPr>
          <p:cNvPr id="11" name="texto-10">
            <a:extLst xmlns:a="http://schemas.openxmlformats.org/drawingml/2006/main">
              <a:ext uri="{FF2B5EF4-FFF2-40B4-BE49-F238E27FC236}">
                <a16:creationId xmlns:a16="http://schemas.microsoft.com/office/drawing/2014/main" id="{7BC3F3C0-95CE-47D3-A72D-729F564B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71825"/>
            <a:ext cx="3924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Trabajador</a:t>
            </a:r>
          </a:p>
        </p:txBody>
      </p:sp>
      <p:sp>
        <p:nvSpPr>
          <p:cNvPr id="12" name="texto-11">
            <a:extLst xmlns:a="http://schemas.openxmlformats.org/drawingml/2006/main">
              <a:ext uri="{FF2B5EF4-FFF2-40B4-BE49-F238E27FC236}">
                <a16:creationId xmlns:a16="http://schemas.microsoft.com/office/drawing/2014/main" id="{0E1335C1-6FA5-487E-B936-36C1C16A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52825"/>
            <a:ext cx="3924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codigo, especialidad, jornada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esCompatible(actividad)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estaDisponible(fecha, inicio, fin)</a:t>
            </a:r>
          </a:p>
        </p:txBody>
      </p:sp>
      <p:sp>
        <p:nvSpPr>
          <p:cNvPr id="13" name="clase-Asignacion">
            <a:extLst xmlns:a="http://schemas.openxmlformats.org/drawingml/2006/main">
              <a:ext uri="{FF2B5EF4-FFF2-40B4-BE49-F238E27FC236}">
                <a16:creationId xmlns:a16="http://schemas.microsoft.com/office/drawing/2014/main" id="{743C099B-C82A-4DFA-A3F4-68854B63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95625"/>
            <a:ext cx="4191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5"/>
          </a:solidFill>
          <a:ln xmlns:a="http://schemas.openxmlformats.org/drawingml/2006/main" w="9525">
            <a:solidFill>
              <a:srgbClr val="52636D"/>
            </a:solidFill>
            <a:prstDash val="solid"/>
          </a:ln>
        </p:spPr>
      </p:sp>
      <p:sp>
        <p:nvSpPr>
          <p:cNvPr id="14" name="texto-13">
            <a:extLst xmlns:a="http://schemas.openxmlformats.org/drawingml/2006/main">
              <a:ext uri="{FF2B5EF4-FFF2-40B4-BE49-F238E27FC236}">
                <a16:creationId xmlns:a16="http://schemas.microsoft.com/office/drawing/2014/main" id="{D83DDE1A-5180-48A7-9D33-8F9A6FB0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71825"/>
            <a:ext cx="3924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Asignacion</a:t>
            </a:r>
          </a:p>
        </p:txBody>
      </p:sp>
      <p:sp>
        <p:nvSpPr>
          <p:cNvPr id="15" name="texto-14">
            <a:extLst xmlns:a="http://schemas.openxmlformats.org/drawingml/2006/main">
              <a:ext uri="{FF2B5EF4-FFF2-40B4-BE49-F238E27FC236}">
                <a16:creationId xmlns:a16="http://schemas.microsoft.com/office/drawing/2014/main" id="{6F1FAF13-8395-4373-8349-7070E542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52825"/>
            <a:ext cx="3924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fecha, inicio, fin, activa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validarHorario()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reprogramar(fecha, inicio, fin)</a:t>
            </a:r>
          </a:p>
        </p:txBody>
      </p:sp>
      <p:sp>
        <p:nvSpPr>
          <p:cNvPr id="16" name="clase-Usuario">
            <a:extLst xmlns:a="http://schemas.openxmlformats.org/drawingml/2006/main">
              <a:ext uri="{FF2B5EF4-FFF2-40B4-BE49-F238E27FC236}">
                <a16:creationId xmlns:a16="http://schemas.microsoft.com/office/drawing/2014/main" id="{378D8082-0123-48B2-AD88-7C879142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857750"/>
            <a:ext cx="4191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5"/>
          </a:solidFill>
          <a:ln xmlns:a="http://schemas.openxmlformats.org/drawingml/2006/main" w="9525">
            <a:solidFill>
              <a:srgbClr val="52636D"/>
            </a:solidFill>
            <a:prstDash val="solid"/>
          </a:ln>
        </p:spPr>
      </p:sp>
      <p:sp>
        <p:nvSpPr>
          <p:cNvPr id="17" name="texto-16">
            <a:extLst xmlns:a="http://schemas.openxmlformats.org/drawingml/2006/main">
              <a:ext uri="{FF2B5EF4-FFF2-40B4-BE49-F238E27FC236}">
                <a16:creationId xmlns:a16="http://schemas.microsoft.com/office/drawing/2014/main" id="{9F04FE0F-F8C7-4B90-BF3A-0A0D60C3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33950"/>
            <a:ext cx="3924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Usuario</a:t>
            </a:r>
          </a:p>
        </p:txBody>
      </p:sp>
      <p:sp>
        <p:nvSpPr>
          <p:cNvPr id="18" name="texto-17">
            <a:extLst xmlns:a="http://schemas.openxmlformats.org/drawingml/2006/main">
              <a:ext uri="{FF2B5EF4-FFF2-40B4-BE49-F238E27FC236}">
                <a16:creationId xmlns:a16="http://schemas.microsoft.com/office/drawing/2014/main" id="{27F7418E-A630-4D09-8748-0423012C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14950"/>
            <a:ext cx="3924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codigo, nombre, rol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registrarAsignacion(datos)</a:t>
            </a:r>
          </a:p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consultarAvance(obra)</a:t>
            </a:r>
          </a:p>
        </p:txBody>
      </p:sp>
      <p:sp>
        <p:nvSpPr>
          <p:cNvPr id="20" name="texto-19">
            <a:extLst xmlns:a="http://schemas.openxmlformats.org/drawingml/2006/main">
              <a:ext uri="{FF2B5EF4-FFF2-40B4-BE49-F238E27FC236}">
                <a16:creationId xmlns:a16="http://schemas.microsoft.com/office/drawing/2014/main" id="{16150F1C-45AB-4DDF-9013-BFAAC53F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668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1 / 0..*</a:t>
            </a:r>
          </a:p>
        </p:txBody>
      </p:sp>
      <p:sp>
        <p:nvSpPr>
          <p:cNvPr id="21" name="texto-20">
            <a:extLst xmlns:a="http://schemas.openxmlformats.org/drawingml/2006/main">
              <a:ext uri="{FF2B5EF4-FFF2-40B4-BE49-F238E27FC236}">
                <a16:creationId xmlns:a16="http://schemas.microsoft.com/office/drawing/2014/main" id="{C52F74BC-CD18-492C-A626-E7DE2C04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0478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composición</a:t>
            </a:r>
          </a:p>
        </p:txBody>
      </p:sp>
      <p:sp>
        <p:nvSpPr>
          <p:cNvPr id="23" name="texto-22">
            <a:extLst xmlns:a="http://schemas.openxmlformats.org/drawingml/2006/main">
              <a:ext uri="{FF2B5EF4-FFF2-40B4-BE49-F238E27FC236}">
                <a16:creationId xmlns:a16="http://schemas.microsoft.com/office/drawing/2014/main" id="{08194DC3-2D71-4A58-8B1E-96A233B5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800350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1 / 0..*</a:t>
            </a:r>
          </a:p>
        </p:txBody>
      </p:sp>
      <p:sp>
        <p:nvSpPr>
          <p:cNvPr id="25" name="texto-24">
            <a:extLst xmlns:a="http://schemas.openxmlformats.org/drawingml/2006/main">
              <a:ext uri="{FF2B5EF4-FFF2-40B4-BE49-F238E27FC236}">
                <a16:creationId xmlns:a16="http://schemas.microsoft.com/office/drawing/2014/main" id="{61B4F325-8F7A-4366-A2E8-1586FB42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766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1 / 0..*</a:t>
            </a:r>
          </a:p>
        </p:txBody>
      </p:sp>
      <p:sp>
        <p:nvSpPr>
          <p:cNvPr id="27" name="texto-26">
            <a:extLst xmlns:a="http://schemas.openxmlformats.org/drawingml/2006/main">
              <a:ext uri="{FF2B5EF4-FFF2-40B4-BE49-F238E27FC236}">
                <a16:creationId xmlns:a16="http://schemas.microsoft.com/office/drawing/2014/main" id="{F4FC6406-CC5F-42C8-BA59-13CA22DA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562475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1 / 0..*</a:t>
            </a:r>
          </a:p>
        </p:txBody>
      </p:sp>
      <p:sp>
        <p:nvSpPr>
          <p:cNvPr id="28" name="texto-27">
            <a:extLst xmlns:a="http://schemas.openxmlformats.org/drawingml/2006/main">
              <a:ext uri="{FF2B5EF4-FFF2-40B4-BE49-F238E27FC236}">
                <a16:creationId xmlns:a16="http://schemas.microsoft.com/office/drawing/2014/main" id="{F0F01834-A2EE-45F3-BB43-0D96845B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5810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Cada asignación relaciona una actividad,</a:t>
            </a:r>
          </a:p>
          <a:p xmlns:a="http://schemas.openxmlformats.org/drawingml/2006/main">
            <a: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un trabajador y un usuario responsable.</a:t>
            </a:r>
          </a:p>
          <a:p xmlns:a="http://schemas.openxmlformats.org/drawingml/2006/main">
            <a: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Una actividad tiene como máximo</a:t>
            </a:r>
          </a:p>
          <a:p xmlns:a="http://schemas.openxmlformats.org/drawingml/2006/main">
            <a:pPr>
              <a:def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una asignación activa.</a:t>
            </a:r>
          </a:p>
        </p:txBody>
      </p:sp>
    </p:spTree>
    <p:extLst>
      <p:ext uri="{BB962C8B-B14F-4D97-AF65-F5344CB8AC3E}">
        <p14:creationId xmlns:p14="http://schemas.microsoft.com/office/powerpoint/2010/main" val="5175359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o-0">
            <a:extLst xmlns:a="http://schemas.openxmlformats.org/drawingml/2006/main">
              <a:ext uri="{FF2B5EF4-FFF2-40B4-BE49-F238E27FC236}">
                <a16:creationId xmlns:a16="http://schemas.microsoft.com/office/drawing/2014/main" id="{1D64A0AC-269B-41FD-BD16-A02B3571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Dos alternativas de estructuras y algoritmos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FCCAD66B-250D-472A-95B7-51CBA071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BE2FDE48-9C00-465F-93BC-049BBD9F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1051F1-AF75-407C-9F45-B6BA70CF4BC0}"/>
              </a:ext>
            </a:extLst>
          </p:cNvPr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295775"/>
                <a:gridCol w="4295775"/>
              </a:tblGrid>
              <a:tr h="83820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Componente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   Listas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   Mapas y cola de prioridad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</a:tr>
              <a:tr h="83820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Entidades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ArrayList y búsqueda lineal.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HashMap por código.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Próxima pendiente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Recorrido para seleccionar y retirar la de mayor prioridad.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PriorityQueue: peek y poll con comparador.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83820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Listado ordenado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Copia y ordenamiento por prioridad, fecha y código.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Copia de la cola y extracción ordenada.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Horarios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Recorrido de asignaciones activas.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Recorrido de asignaciones activas.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</a:tbl>
          </a:graphicData>
        </a:graphic>
      </p:graphicFrame>
      <p:sp>
        <p:nvSpPr>
          <p:cNvPr id="5" name="texto-3">
            <a:extLst xmlns:a="http://schemas.openxmlformats.org/drawingml/2006/main">
              <a:ext uri="{FF2B5EF4-FFF2-40B4-BE49-F238E27FC236}">
                <a16:creationId xmlns:a16="http://schemas.microsoft.com/office/drawing/2014/main" id="{335BDB73-B0F0-4E3F-92E1-E8BE22D1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Prioridad: alta → media → baja. Empates: fecha límite y código.</a:t>
            </a:r>
          </a:p>
        </p:txBody>
      </p:sp>
    </p:spTree>
    <p:extLst>
      <p:ext uri="{BB962C8B-B14F-4D97-AF65-F5344CB8AC3E}">
        <p14:creationId xmlns:p14="http://schemas.microsoft.com/office/powerpoint/2010/main" val="20577487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o-0">
            <a:extLst xmlns:a="http://schemas.openxmlformats.org/drawingml/2006/main">
              <a:ext uri="{FF2B5EF4-FFF2-40B4-BE49-F238E27FC236}">
                <a16:creationId xmlns:a16="http://schemas.microsoft.com/office/drawing/2014/main" id="{22B24216-E9EF-4B3C-B663-9892336A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Comparación de complejidad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B91ED66E-F703-4266-986F-4E32CF71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6CDF0F2A-DB1B-4BE0-A762-A13A0370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C2F1A-A50E-4C26-B957-7FBACD5E3CA7}"/>
              </a:ext>
            </a:extLst>
          </p:cNvPr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1905000"/>
                <a:gridCol w="2190750"/>
                <a:gridCol w="2495550"/>
              </a:tblGrid>
              <a:tr h="65087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Operación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 tiempo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 tiempo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Auxiliar A / B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</a:tr>
              <a:tr h="65087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Buscar trabajador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O(w)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O(1) esperado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O(1) / O(1)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Consultar próxima pendiente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O(q)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O(1)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O(1) / O(1)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65087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Elegir y retirar próxima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O(q)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O(log q)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O(1) / O(1)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Listar en orden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O(q log q)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O(q log q)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O(q) / O(q)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650875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Comprobar cruces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O(a)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O(a)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O(1) / O(1)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o-3">
            <a:extLst xmlns:a="http://schemas.openxmlformats.org/drawingml/2006/main">
              <a:ext uri="{FF2B5EF4-FFF2-40B4-BE49-F238E27FC236}">
                <a16:creationId xmlns:a16="http://schemas.microsoft.com/office/drawing/2014/main" id="{D6792215-5C9F-46AA-A703-F1452F5D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q: pendientes. w: trabajadores. a: asignaciones. Memoria total lineal en ambas.</a:t>
            </a:r>
          </a:p>
        </p:txBody>
      </p:sp>
      <p:sp>
        <p:nvSpPr>
          <p:cNvPr id="6" name="texto-4">
            <a:extLst xmlns:a="http://schemas.openxmlformats.org/drawingml/2006/main">
              <a:ext uri="{FF2B5EF4-FFF2-40B4-BE49-F238E27FC236}">
                <a16:creationId xmlns:a16="http://schemas.microsoft.com/office/drawing/2014/main" id="{6930AEB5-0A19-4A2F-9608-803335F7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Actualizar una prioridad arbitraria conserva O(q) en ambas alternativas.</a:t>
            </a:r>
          </a:p>
        </p:txBody>
      </p:sp>
    </p:spTree>
    <p:extLst>
      <p:ext uri="{BB962C8B-B14F-4D97-AF65-F5344CB8AC3E}">
        <p14:creationId xmlns:p14="http://schemas.microsoft.com/office/powerpoint/2010/main" val="7995429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o-0">
            <a:extLst xmlns:a="http://schemas.openxmlformats.org/drawingml/2006/main">
              <a:ext uri="{FF2B5EF4-FFF2-40B4-BE49-F238E27FC236}">
                <a16:creationId xmlns:a16="http://schemas.microsoft.com/office/drawing/2014/main" id="{2362EB67-0730-4B86-B0D5-044327BF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Selección de la alternativa B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59933AEF-A1D8-44DA-ABA0-EAD8931C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222DFE86-BB9D-4480-978D-421B0D1B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AF21F-BD4C-43D6-AB3D-93EBD4E6A1CF}"/>
              </a:ext>
            </a:extLst>
          </p:cNvPr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20050"/>
              </a:tblGrid>
              <a:tr h="6667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Criterio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Fundamento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</a:tr>
              <a:tr h="6667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Adecuación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HashMap para código; PriorityQueue para próximas actividades.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Tiempo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Búsqueda esperada O(1) y extracción de próxima O(log q).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6667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Memoria y escala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Almacenamiento lineal; la cola agrega referencias a pendientes.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Mantenibilidad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Comparador único y operaciones de prioridad concentradas.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666750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Dificultad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Colecciones estándar de Java y validaciones del dominio.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o-3">
            <a:extLst xmlns:a="http://schemas.openxmlformats.org/drawingml/2006/main">
              <a:ext uri="{FF2B5EF4-FFF2-40B4-BE49-F238E27FC236}">
                <a16:creationId xmlns:a16="http://schemas.microsoft.com/office/drawing/2014/main" id="{6FC682DF-63FA-41D0-AEF2-8F90A451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Con 100 actividades, ambas opciones son viables. Se elige B por su correspondencia con las búsquedas y la priorización.</a:t>
            </a:r>
          </a:p>
        </p:txBody>
      </p:sp>
    </p:spTree>
    <p:extLst>
      <p:ext uri="{BB962C8B-B14F-4D97-AF65-F5344CB8AC3E}">
        <p14:creationId xmlns:p14="http://schemas.microsoft.com/office/powerpoint/2010/main" val="16675044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o-0">
            <a:extLst xmlns:a="http://schemas.openxmlformats.org/drawingml/2006/main">
              <a:ext uri="{FF2B5EF4-FFF2-40B4-BE49-F238E27FC236}">
                <a16:creationId xmlns:a16="http://schemas.microsoft.com/office/drawing/2014/main" id="{BC165832-2FC1-4848-A9DF-BD07E7F0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Plan preliminar de implementación</a:t>
            </a:r>
          </a:p>
        </p:txBody>
      </p:sp>
      <p:sp>
        <p:nvSpPr>
          <p:cNvPr id="2" name="texto-1">
            <a:extLst xmlns:a="http://schemas.openxmlformats.org/drawingml/2006/main">
              <a:ext uri="{FF2B5EF4-FFF2-40B4-BE49-F238E27FC236}">
                <a16:creationId xmlns:a16="http://schemas.microsoft.com/office/drawing/2014/main" id="{5C260595-7020-4C72-8E9F-F940E12E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Dizeo   Programación III   Progreso 1</a:t>
            </a:r>
          </a:p>
        </p:txBody>
      </p:sp>
      <p:sp>
        <p:nvSpPr>
          <p:cNvPr id="3" name="texto-2">
            <a:extLst xmlns:a="http://schemas.openxmlformats.org/drawingml/2006/main">
              <a:ext uri="{FF2B5EF4-FFF2-40B4-BE49-F238E27FC236}">
                <a16:creationId xmlns:a16="http://schemas.microsoft.com/office/drawing/2014/main" id="{E162CA75-0093-4E07-B755-5171CAA6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52636D"/>
                </a:solidFill>
                <a:latin typeface="DejaVu Sans"/>
                <a:ea typeface="DejaVu Sans"/>
                <a:cs typeface="DejaVu Sans"/>
              </a:rPr>
              <a:t>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133ED-757F-4AE3-8C4D-3C9B788E7967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7448550"/>
              </a:tblGrid>
              <a:tr h="642938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Integrante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Módulos y componentes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T w="9525">
                      <a:solidFill>
                        <a:srgbClr val="B9CCD1"/>
                      </a:solidFill>
                      <a:prstDash val="solid"/>
                    </a:lnT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163447"/>
                    </a:solidFill>
                  </a:tcPr>
                </a:tc>
              </a:tr>
              <a:tr h="642938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Daniel Valarezo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Obras y Seguimiento. Problema y documentación.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Esteban Figueroa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Trabajadores y Asignación. Disponibilidad y horarios.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EDF4F5"/>
                    </a:solidFill>
                  </a:tcPr>
                </a:tc>
              </a:tr>
              <a:tr h="642938"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Julián Jiménez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CCD1"/>
                      </a:solidFill>
                      <a:prstDash val="solid"/>
                    </a:lnL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85725" rIns="123825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Actividades y prioridades. Comparador, cola y UML.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CCD1"/>
                      </a:solidFill>
                      <a:prstDash val="solid"/>
                    </a:lnR>
                    <a:lnB w="9525">
                      <a:solidFill>
                        <a:srgbClr val="B9CC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o-3">
            <a:extLst xmlns:a="http://schemas.openxmlformats.org/drawingml/2006/main">
              <a:ext uri="{FF2B5EF4-FFF2-40B4-BE49-F238E27FC236}">
                <a16:creationId xmlns:a16="http://schemas.microsoft.com/office/drawing/2014/main" id="{A2BA0681-9E32-4AD3-A153-4B9AEFE8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Repositorio</a:t>
            </a:r>
          </a:p>
        </p:txBody>
      </p:sp>
      <p:sp>
        <p:nvSpPr>
          <p:cNvPr id="6" name="texto-4">
            <a:extLst xmlns:a="http://schemas.openxmlformats.org/drawingml/2006/main">
              <a:ext uri="{FF2B5EF4-FFF2-40B4-BE49-F238E27FC236}">
                <a16:creationId xmlns:a16="http://schemas.microsoft.com/office/drawing/2014/main" id="{8F6C6CA0-BDC9-4988-9135-B11C3B15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33875"/>
            <a:ext cx="8048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README.md y docs: informe, presentación, UML y observaciones docentes.</a:t>
            </a:r>
          </a:p>
        </p:txBody>
      </p:sp>
      <p:sp>
        <p:nvSpPr>
          <p:cNvPr id="7" name="texto-5">
            <a:extLst xmlns:a="http://schemas.openxmlformats.org/drawingml/2006/main">
              <a:ext uri="{FF2B5EF4-FFF2-40B4-BE49-F238E27FC236}">
                <a16:creationId xmlns:a16="http://schemas.microsoft.com/office/drawing/2014/main" id="{8A78EBD3-4A6A-4413-9BFD-DE68C9A2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D87"/>
                </a:solidFill>
                <a:latin typeface="DejaVu Sans"/>
                <a:ea typeface="DejaVu Sans"/>
                <a:cs typeface="DejaVu Sans"/>
              </a:rPr>
              <a:t>Riesgos y mitigación</a:t>
            </a:r>
          </a:p>
        </p:txBody>
      </p:sp>
      <p:sp>
        <p:nvSpPr>
          <p:cNvPr id="8" name="texto-6">
            <a:extLst xmlns:a="http://schemas.openxmlformats.org/drawingml/2006/main">
              <a:ext uri="{FF2B5EF4-FFF2-40B4-BE49-F238E27FC236}">
                <a16:creationId xmlns:a16="http://schemas.microsoft.com/office/drawing/2014/main" id="{72D5BFFC-5D93-4F00-A79E-67FC010B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238750"/>
            <a:ext cx="8048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Cruces: validar horarios. Empates: comparador único.</a:t>
            </a:r>
          </a:p>
          <a:p xmlns:a="http://schemas.openxmlformats.org/drawingml/2006/main">
            <a: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Cola desactualizada: retirar y reinsertar.</a:t>
            </a:r>
          </a:p>
          <a:p xmlns:a="http://schemas.openxmlformats.org/drawingml/2006/main">
            <a:pPr>
              <a:def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3447"/>
                </a:solidFill>
                <a:latin typeface="DejaVu Sans"/>
                <a:ea typeface="DejaVu Sans"/>
                <a:cs typeface="DejaVu Sans"/>
              </a:rPr>
              <a:t>Datos incorrectos: validar códigos y rangos.</a:t>
            </a:r>
          </a:p>
        </p:txBody>
      </p:sp>
    </p:spTree>
    <p:extLst>
      <p:ext uri="{BB962C8B-B14F-4D97-AF65-F5344CB8AC3E}">
        <p14:creationId xmlns:p14="http://schemas.microsoft.com/office/powerpoint/2010/main" val="6725987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2026-10-18T23:12:08.5560000Z</dcterms:created>
  <dcterms:modified xsi:type="dcterms:W3CDTF">2026-10-18T23:12:08.5560000Z</dcterms:modified>
</coreProperties>
</file>